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31"/>
  </p:notesMasterIdLst>
  <p:sldIdLst>
    <p:sldId id="401" r:id="rId3"/>
    <p:sldId id="257" r:id="rId4"/>
    <p:sldId id="607" r:id="rId5"/>
    <p:sldId id="725" r:id="rId6"/>
    <p:sldId id="726" r:id="rId7"/>
    <p:sldId id="727" r:id="rId8"/>
    <p:sldId id="735" r:id="rId9"/>
    <p:sldId id="761" r:id="rId10"/>
    <p:sldId id="728" r:id="rId11"/>
    <p:sldId id="732" r:id="rId12"/>
    <p:sldId id="734" r:id="rId13"/>
    <p:sldId id="369" r:id="rId14"/>
    <p:sldId id="763" r:id="rId15"/>
    <p:sldId id="762" r:id="rId16"/>
    <p:sldId id="764" r:id="rId17"/>
    <p:sldId id="752" r:id="rId18"/>
    <p:sldId id="765" r:id="rId19"/>
    <p:sldId id="753" r:id="rId20"/>
    <p:sldId id="766" r:id="rId21"/>
    <p:sldId id="768" r:id="rId22"/>
    <p:sldId id="767" r:id="rId23"/>
    <p:sldId id="739" r:id="rId24"/>
    <p:sldId id="769" r:id="rId25"/>
    <p:sldId id="770" r:id="rId26"/>
    <p:sldId id="332" r:id="rId27"/>
    <p:sldId id="738" r:id="rId28"/>
    <p:sldId id="705" r:id="rId29"/>
    <p:sldId id="370" r:id="rId30"/>
  </p:sldIdLst>
  <p:sldSz cx="10080625" cy="7559675"/>
  <p:notesSz cx="7559675" cy="106918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434"/>
    <a:srgbClr val="F9FEC8"/>
    <a:srgbClr val="80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3203" autoAdjust="0"/>
  </p:normalViewPr>
  <p:slideViewPr>
    <p:cSldViewPr>
      <p:cViewPr varScale="1">
        <p:scale>
          <a:sx n="94" d="100"/>
          <a:sy n="94" d="100"/>
        </p:scale>
        <p:origin x="2112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A68CDF57-8ACF-40DB-8D99-2DA58A722A0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1F78324-8423-4376-A241-95B69997CD4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AA2A24D-76DA-4750-B38F-257C9743F355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B8922DF-4802-4427-8764-E0BEB2B72571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E7588BD-A79F-4A17-A14A-E094ED829A9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4A8CA7-AFAB-49A5-96D7-FA5394174D0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C5CB920-0418-4AC0-94CC-B5496B4FFA7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4AF8E83E-5B99-40B3-BF8A-DC4677B4C3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1DE468-D5D4-421C-A325-5BADB7EBB869}" type="slidenum">
              <a:rPr lang="pt-BR" altLang="pt-BR" sz="1400" smtClean="0"/>
              <a:pPr>
                <a:spcBef>
                  <a:spcPct val="0"/>
                </a:spcBef>
              </a:pPr>
              <a:t>1</a:t>
            </a:fld>
            <a:endParaRPr lang="pt-BR" altLang="pt-BR" sz="1400" dirty="0"/>
          </a:p>
        </p:txBody>
      </p:sp>
      <p:sp>
        <p:nvSpPr>
          <p:cNvPr id="5123" name="Rectangle 1">
            <a:extLst>
              <a:ext uri="{FF2B5EF4-FFF2-40B4-BE49-F238E27FC236}">
                <a16:creationId xmlns:a16="http://schemas.microsoft.com/office/drawing/2014/main" id="{95F07787-B903-4F3E-87A9-16BCCFD1A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BDCD2E7-ABC4-420F-B792-EB602E093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C1601D47-D5D1-4E34-9EC6-5DA9C5D696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A7EA03-21E6-4481-AE0C-11060730AD1C}" type="slidenum">
              <a:rPr lang="pt-BR" altLang="pt-BR" sz="1400" smtClean="0"/>
              <a:pPr>
                <a:spcBef>
                  <a:spcPct val="0"/>
                </a:spcBef>
              </a:pPr>
              <a:t>2</a:t>
            </a:fld>
            <a:endParaRPr lang="pt-BR" altLang="pt-BR" sz="1400" dirty="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34F4D46A-09B6-4124-A683-85617D724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9354126-9958-48EC-9F32-188687D80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41567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6433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834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41D1F-8132-71FC-58EE-AC2961D5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F0042975-C042-8569-8854-7BC215BCED9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6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2900DBF-B450-8607-D20F-8D32FAB5A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91CB1B05-E923-E4C8-0B68-BB32585B4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846222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7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34481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5E6AF-8CBE-4CCA-AE56-893FE135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AA2BFD7A-2930-441F-5824-331B2ED7EB7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8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671A326B-2579-CA82-5264-9A1D3D609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47AE844-5196-9682-DA6C-68C16D64F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09257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9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86695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10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25817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11042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12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4694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3D7AD-69A8-4913-83F4-296B82A7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84567DBE-5447-CAE2-A395-0038EB627CE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13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30A2F907-855F-34EB-E68C-14927065AC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3ABE27C6-B35D-3413-0696-CA2B92F8D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9315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31F5F-DD5E-ADBB-FC09-20ACC64D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A54147E-9F62-4B4C-DEAF-DE18570AEBD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14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E7BEA38-3781-C9E3-6D61-E01F4BF713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C20B3388-F7E3-A225-F680-EA6AC1ECB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4231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CBCAE-6B71-AC4E-6D4B-4152D8C7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2F5B5D7-DD2F-D034-550D-7EF8F11FC83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15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6389594E-2272-6761-2DFC-534D9C72A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7C7411DB-2174-1120-AD1B-580EEFE8D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5239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0870B-BB80-F0E6-DBCB-810FE1D5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7DB5DD44-EDAB-C2C5-CED3-9844CD80B4F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16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161B665-162A-4211-8C85-08B4C638A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81E4CF0E-82C0-529A-39F6-58AA73976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46667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60F01-D4C3-11A8-216E-56299F31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B2BD3155-D2EF-12F5-34E7-D49BBA03A2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17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659B72D-A3F5-6417-25EB-C9482D3B2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DC91BFC-74C5-93E9-FD7B-CEC3E0D54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90464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E54EA-DE1A-AC0F-B5D4-46AFC8BD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3A47D6B-676B-10E8-E262-39E464DAFE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18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FE05A77C-CE0A-4B65-519D-E06245DD7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774700D2-037E-E7DB-9572-966495A44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6096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8D5E9-45BD-D0BF-1E57-C98B005A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CB57204-CFF9-1C78-1387-F0A194B987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19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021E81F-8652-BA5D-AC99-9C932D45A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656E841E-5E57-2A9D-23CA-D148781DF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77154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CEBE7-714E-DE3C-6A87-8FA36FEE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55F9EBF-2924-D4AE-4F8C-393D2C0648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20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5513B0A7-458C-1EEB-7382-B57EC4E914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4DA0CAE-8FD2-E49D-2718-7CF70097E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8431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1DAD6-F737-C223-CAC0-128F0A3F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1467013-99C2-1E22-7F2B-557D6B091C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21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5BC46DC-AEC6-ADF3-9C9D-9403D3E1F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969CAD92-2CFE-93AC-4AC1-82A8C3DBC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0134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22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4130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08E28-1C45-3944-A4DA-0FE716FF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0BF61D51-D627-6196-7544-406C5CB6E6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23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336A297-4AAC-5F4E-6D76-B50D91848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14ED581-683E-E262-E891-708E10D25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1836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681F1-20A8-6231-5C17-8077220F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A297C1D3-5108-9FCE-DA32-04750687946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24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9E45453-5910-5C44-32A6-B090E18B0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418E80D-9233-CF3C-7FF8-C98506EF7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82025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25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123751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26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46944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28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397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8953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8941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167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3238" y="3959225"/>
            <a:ext cx="4457700" cy="23018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3338" y="3959225"/>
            <a:ext cx="4459287" cy="23018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2196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5856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795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53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73551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7187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945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05675" y="2592388"/>
            <a:ext cx="2266950" cy="36687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3238" y="2592388"/>
            <a:ext cx="6650037" cy="36687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5089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FCE4B7-7E95-49E8-A202-1E46F551FE0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4DC428-5BE2-4FAF-B6BE-A06C559B4E5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90521-68F6-4A35-8C9C-810249BBCDB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7BAC38-56CC-49ED-A76C-2FE12DE6AA47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03163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CE96CD-3319-4F56-A9AA-999E7CFF7CD1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1B4CA7-E15B-4890-828C-F221881456E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33995-B0C5-476E-B5EB-954D5DE6F2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98197C-FBD1-4776-9936-A4E1F0393D6E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8939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70E9BC-9276-4778-A7EE-A9854304C23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98A20-B0D9-4A3E-BD6C-4E29A619A04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D31D1-27D6-4644-9B31-345E6C40016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ABCD07-35E5-4654-A449-EF1CCDAE9ED1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02982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63600" y="1655763"/>
            <a:ext cx="4278313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94313" y="1655763"/>
            <a:ext cx="42799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6EA1AB-4C52-441A-8B7D-A847BB298680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94BD2D-1405-44C7-9AD8-B320177AC04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B14FE-C284-4514-BD86-2C0452FBE3F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8A71ED-093F-4267-8910-A0D42AEBADC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07149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DC9856-6229-4D64-A41D-4ACA95E167E4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C032978-C1EC-4A9E-9B4F-6357CE8235F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7DD7D-3094-486A-8389-8632F2B2380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AD4D5DF-62C4-4D3A-BA46-0DC12F7CA1AF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54844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2DBEF4-5C54-4AED-B2C5-C05E7E03DD8E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9018D1B-74F1-4019-830D-667AB5FE6AD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61671-6EAE-4584-B5D4-45715BB0034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060908-3F33-4CE5-80CF-380ADC3E3A0D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0524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A18396-D3D0-463A-AE52-9A77672059E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EA3F-8C76-4074-9E97-951FD5B25AD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B83DC-4EEB-4E24-A342-F9B0F577204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D60FC-E341-4ECE-876E-B68553516C12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9305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1B8B46-D8F6-4E70-ADC6-6ED715E587F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FD56473-3568-4303-925B-351AE26769D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BCF70-C8E2-4F18-8D36-0BD02C543CC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6DDE6E-E047-49D1-A054-2BC3A7BFCC5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72126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7381A8-51C7-4BE1-802F-19058BEC242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F6642A3-96D4-4928-86BD-2D03854CE88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9E82B-FFF3-4CBD-93CC-3A0D3B0097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1CF308-AC30-46D8-8A85-2135EF30EAF9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7429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49534-819C-4AF4-A319-E870F09644C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0B526E-63E7-45B3-805C-7A369631EC8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1E5DA-F8AF-4E89-A87F-9447DD19290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093937C-A196-4335-999C-BBC6EAC1C52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02519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7750" y="360363"/>
            <a:ext cx="2176463" cy="5791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63600" y="360363"/>
            <a:ext cx="6381750" cy="5791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6AA906-049A-45A4-B8A9-5078015EABE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E81FEB-DF83-447F-BB76-D37DDCEEAE3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C237F-95AC-4248-8B6D-DC6C36AAC60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0D6D54-ED4A-4E1D-A6DD-FDB660DE4C53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80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516E97E5-1E60-433C-AC28-BE1985235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10090150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DB5DCF17-F06F-42C1-BE4D-AB81A1921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2592388"/>
            <a:ext cx="9069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C5BE6F7-EC45-4E53-AFFC-DDA47FB43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3959225"/>
            <a:ext cx="9069387" cy="230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A8490C46-B3BB-44B9-8CC1-A4E182E8343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81501C54-3D72-4B59-89A9-32838F591EC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548AC5C1-F14D-46BC-BC1D-30B4E04F03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5E9A4EF-8C25-43D7-BA45-C809140BB47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pic>
        <p:nvPicPr>
          <p:cNvPr id="2053" name="Picture 4">
            <a:extLst>
              <a:ext uri="{FF2B5EF4-FFF2-40B4-BE49-F238E27FC236}">
                <a16:creationId xmlns:a16="http://schemas.microsoft.com/office/drawing/2014/main" id="{DA1353E0-8468-4241-9D0D-FE048560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4" name="Rectangle 5">
            <a:extLst>
              <a:ext uri="{FF2B5EF4-FFF2-40B4-BE49-F238E27FC236}">
                <a16:creationId xmlns:a16="http://schemas.microsoft.com/office/drawing/2014/main" id="{84BEDF50-3693-4EC3-846D-03DB6ADE9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3600" y="360363"/>
            <a:ext cx="8710613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2055" name="Rectangle 6">
            <a:extLst>
              <a:ext uri="{FF2B5EF4-FFF2-40B4-BE49-F238E27FC236}">
                <a16:creationId xmlns:a16="http://schemas.microsoft.com/office/drawing/2014/main" id="{13B06460-3F54-41FA-8DA7-651865B35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0" y="1655763"/>
            <a:ext cx="8710613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openintro.org/book/o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c.edu/~liub/FBS/sentiment-analysi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4777C60-5F70-1D6B-050F-D0B090CFF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7" y="1475581"/>
            <a:ext cx="907097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5280" rIns="0" bIns="0" numCol="1" anchor="ctr" anchorCtr="0" compatLnSpc="1">
            <a:prstTxWarp prst="textNoShape">
              <a:avLst/>
            </a:prstTxWarp>
          </a:bodyPr>
          <a:lstStyle>
            <a:lvl1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r>
              <a:rPr lang="pt-BR" altLang="pt-BR" dirty="0"/>
              <a:t>Engenharia de Características (</a:t>
            </a:r>
            <a:r>
              <a:rPr lang="pt-BR" altLang="pt-BR" i="1" dirty="0"/>
              <a:t>Feature </a:t>
            </a:r>
            <a:r>
              <a:rPr lang="pt-BR" altLang="pt-BR" i="1" dirty="0" err="1"/>
              <a:t>Engineering</a:t>
            </a:r>
            <a:r>
              <a:rPr lang="pt-BR" altLang="pt-BR" dirty="0"/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971E8B7-3239-DED3-742A-5E3B560E9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959225"/>
            <a:ext cx="9070975" cy="230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pt-BR" altLang="pt-BR" b="1" u="sng" dirty="0"/>
              <a:t>Aula 09</a:t>
            </a:r>
            <a:r>
              <a:rPr lang="pt-BR" altLang="pt-BR" b="1" dirty="0"/>
              <a:t>: Introdução ao Processamento de Linguagem Natural (PLN) </a:t>
            </a:r>
          </a:p>
          <a:p>
            <a:pPr eaLnBrk="1"/>
            <a:r>
              <a:rPr lang="pt-BR" altLang="pt-BR" dirty="0"/>
              <a:t>Prof. Eduardo Corrêa Gonçalves</a:t>
            </a:r>
          </a:p>
          <a:p>
            <a:pPr eaLnBrk="1"/>
            <a:r>
              <a:rPr lang="pt-BR" altLang="pt-BR" dirty="0"/>
              <a:t>30/03/2026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22BF7216-9960-4544-9168-7A14138BA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1203325"/>
          </a:xfrm>
        </p:spPr>
        <p:txBody>
          <a:bodyPr tIns="28224"/>
          <a:lstStyle/>
          <a:p>
            <a:pPr eaLnBrk="1"/>
            <a:r>
              <a:rPr lang="pt-BR" altLang="pt-BR" dirty="0"/>
              <a:t>Sumário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F36EB396-A523-4315-ADE3-FEC3D824A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043533"/>
            <a:ext cx="8712200" cy="6264696"/>
          </a:xfrm>
        </p:spPr>
        <p:txBody>
          <a:bodyPr/>
          <a:lstStyle/>
          <a:p>
            <a:pPr eaLnBrk="1"/>
            <a:r>
              <a:rPr lang="pt-BR" altLang="pt-BR" sz="2000" b="1" dirty="0"/>
              <a:t>Introdução</a:t>
            </a:r>
            <a:br>
              <a:rPr lang="pt-BR" altLang="pt-BR" sz="1800" b="1" dirty="0"/>
            </a:br>
            <a:r>
              <a:rPr lang="pt-BR" altLang="pt-BR" sz="1800" b="1" dirty="0"/>
              <a:t> </a:t>
            </a:r>
          </a:p>
          <a:p>
            <a:pPr eaLnBrk="1"/>
            <a:r>
              <a:rPr lang="pt-BR" altLang="pt-BR" sz="2000" b="1" dirty="0"/>
              <a:t>Engenharia de Características (</a:t>
            </a:r>
            <a:r>
              <a:rPr lang="pt-BR" altLang="pt-BR" sz="2000" b="1" i="1" dirty="0"/>
              <a:t>Feature </a:t>
            </a:r>
            <a:r>
              <a:rPr lang="pt-BR" altLang="pt-BR" sz="2000" b="1" i="1" dirty="0" err="1"/>
              <a:t>Engineering</a:t>
            </a:r>
            <a:r>
              <a:rPr lang="pt-BR" altLang="pt-BR" sz="2000" b="1" dirty="0"/>
              <a:t>)</a:t>
            </a:r>
          </a:p>
          <a:p>
            <a:pPr eaLnBrk="1"/>
            <a:r>
              <a:rPr lang="pt-BR" altLang="pt-BR" sz="1800" dirty="0"/>
              <a:t>	O que é Engenharia de Características ?</a:t>
            </a:r>
          </a:p>
          <a:p>
            <a:pPr eaLnBrk="1"/>
            <a:r>
              <a:rPr lang="pt-BR" altLang="pt-BR" sz="1800" dirty="0"/>
              <a:t>	Exemplo 1: Eng. de características para análise de sentimentos</a:t>
            </a:r>
          </a:p>
          <a:p>
            <a:pPr eaLnBrk="1"/>
            <a:r>
              <a:rPr lang="pt-BR" altLang="pt-BR" sz="1800" dirty="0"/>
              <a:t>	Exemplo 2: Eng. de características para classificação de spam</a:t>
            </a:r>
          </a:p>
          <a:p>
            <a:pPr eaLnBrk="1"/>
            <a:r>
              <a:rPr lang="pt-BR" altLang="pt-BR" sz="1800" dirty="0"/>
              <a:t>	Implementação do Exemplo 1 em Python</a:t>
            </a:r>
          </a:p>
          <a:p>
            <a:pPr eaLnBrk="1"/>
            <a:r>
              <a:rPr lang="pt-BR" altLang="pt-BR" sz="1800" dirty="0"/>
              <a:t>	Exemplos em </a:t>
            </a:r>
            <a:r>
              <a:rPr lang="pt-BR" altLang="pt-BR" sz="1800" dirty="0" err="1"/>
              <a:t>papers</a:t>
            </a:r>
            <a:r>
              <a:rPr lang="pt-BR" altLang="pt-BR" sz="1800" dirty="0"/>
              <a:t> científicos	</a:t>
            </a:r>
          </a:p>
          <a:p>
            <a:pPr eaLnBrk="1"/>
            <a:r>
              <a:rPr lang="pt-BR" altLang="pt-BR" sz="1800" dirty="0"/>
              <a:t>	Vantagens e Desvantagens</a:t>
            </a:r>
          </a:p>
          <a:p>
            <a:pPr eaLnBrk="1"/>
            <a:endParaRPr lang="pt-BR" altLang="pt-BR" sz="18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(1/4)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9001248" cy="122413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u="sng" dirty="0"/>
              <a:t>Recordando o NB</a:t>
            </a:r>
            <a:r>
              <a:rPr lang="pt-BR" b="1" dirty="0"/>
              <a:t>: Características Principais 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As aulas 03 e 04 abordaram o algoritmo </a:t>
            </a:r>
            <a:r>
              <a:rPr lang="pt-BR" sz="2000" b="1" dirty="0">
                <a:solidFill>
                  <a:srgbClr val="C00000"/>
                </a:solidFill>
              </a:rPr>
              <a:t>Naïve Bayes </a:t>
            </a:r>
            <a:r>
              <a:rPr lang="pt-BR" sz="2000" b="1" dirty="0" err="1">
                <a:solidFill>
                  <a:srgbClr val="C00000"/>
                </a:solidFill>
              </a:rPr>
              <a:t>Multinomial</a:t>
            </a:r>
            <a:r>
              <a:rPr lang="pt-BR" sz="2000" b="1" dirty="0">
                <a:solidFill>
                  <a:srgbClr val="C00000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(</a:t>
            </a:r>
            <a:r>
              <a:rPr lang="pt-BR" sz="2000" b="1" dirty="0">
                <a:solidFill>
                  <a:srgbClr val="C00000"/>
                </a:solidFill>
              </a:rPr>
              <a:t>NB</a:t>
            </a:r>
            <a:r>
              <a:rPr lang="pt-BR" sz="2000" dirty="0">
                <a:solidFill>
                  <a:schemeClr val="tx1"/>
                </a:solidFill>
              </a:rPr>
              <a:t>). Suas principais características são:</a:t>
            </a:r>
            <a:endParaRPr lang="pt-BR" sz="20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6272F3E-2D8D-CC31-EDC9-2F1405D6A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926" y="2555701"/>
            <a:ext cx="4384773" cy="4139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Serve para </a:t>
            </a:r>
            <a:r>
              <a:rPr lang="pt-BR" sz="1800" b="1" dirty="0">
                <a:solidFill>
                  <a:schemeClr val="tx1"/>
                </a:solidFill>
              </a:rPr>
              <a:t>classificação de texto</a:t>
            </a:r>
            <a:r>
              <a:rPr lang="pt-BR" sz="1800" dirty="0"/>
              <a:t>. </a:t>
            </a:r>
            <a:br>
              <a:rPr lang="pt-BR" sz="1800" dirty="0"/>
            </a:br>
            <a:endParaRPr lang="pt-BR" sz="18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b="1" u="sng" dirty="0"/>
              <a:t>Não</a:t>
            </a:r>
            <a:r>
              <a:rPr lang="pt-BR" sz="1800" b="1" dirty="0"/>
              <a:t> é limitado </a:t>
            </a:r>
            <a:r>
              <a:rPr lang="pt-BR" sz="1800" dirty="0"/>
              <a:t>a problemas binários (com </a:t>
            </a:r>
            <a:r>
              <a:rPr lang="pt-BR" sz="1800" b="1" dirty="0"/>
              <a:t>2 classes</a:t>
            </a:r>
            <a:r>
              <a:rPr lang="pt-BR" sz="1800" dirty="0"/>
              <a:t>).</a:t>
            </a:r>
            <a:br>
              <a:rPr lang="pt-BR" sz="1800" dirty="0"/>
            </a:br>
            <a:endParaRPr lang="pt-BR" sz="18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Atua na </a:t>
            </a:r>
            <a:r>
              <a:rPr lang="pt-BR" sz="1800" b="1" dirty="0"/>
              <a:t>dimensão léxica</a:t>
            </a:r>
            <a:r>
              <a:rPr lang="pt-BR" sz="1800" dirty="0"/>
              <a:t>*</a:t>
            </a:r>
            <a:r>
              <a:rPr lang="pt-BR" sz="1800" b="1" dirty="0"/>
              <a:t> </a:t>
            </a:r>
            <a:r>
              <a:rPr lang="pt-BR" sz="1800" dirty="0"/>
              <a:t>(morfológica)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1800" i="1" dirty="0"/>
              <a:t>Ignora sintaxe e semântica</a:t>
            </a:r>
            <a:r>
              <a:rPr lang="pt-BR" sz="1800" dirty="0"/>
              <a:t>.</a:t>
            </a:r>
            <a:br>
              <a:rPr lang="pt-BR" sz="1800" dirty="0"/>
            </a:br>
            <a:endParaRPr lang="pt-BR" sz="18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Tempos de </a:t>
            </a:r>
            <a:r>
              <a:rPr lang="pt-BR" sz="1800" b="1" dirty="0"/>
              <a:t>treinamento </a:t>
            </a:r>
            <a:r>
              <a:rPr lang="pt-BR" sz="1800" dirty="0"/>
              <a:t>e</a:t>
            </a:r>
            <a:r>
              <a:rPr lang="pt-BR" sz="1800" b="1" dirty="0"/>
              <a:t> classificação</a:t>
            </a:r>
            <a:r>
              <a:rPr lang="pt-BR" sz="1800" dirty="0"/>
              <a:t> (muito) </a:t>
            </a:r>
            <a:r>
              <a:rPr lang="pt-BR" sz="1800" b="1" dirty="0"/>
              <a:t>rápidos</a:t>
            </a:r>
            <a:r>
              <a:rPr lang="pt-BR" sz="1800" dirty="0"/>
              <a:t>.</a:t>
            </a:r>
            <a:br>
              <a:rPr lang="pt-BR" sz="1800" dirty="0"/>
            </a:b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marL="914400" lvl="2" indent="0" eaLnBrk="1">
              <a:defRPr/>
            </a:pPr>
            <a:br>
              <a:rPr lang="pt-BR" sz="2000" dirty="0"/>
            </a:br>
            <a:endParaRPr lang="pt-BR" sz="20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738F40F-DD19-50F7-26F3-26DA66601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654" y="2555700"/>
            <a:ext cx="4191194" cy="370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b="1" dirty="0"/>
              <a:t>Paradigma Estatístico</a:t>
            </a:r>
            <a:r>
              <a:rPr lang="pt-BR" sz="1800" dirty="0"/>
              <a:t>.</a:t>
            </a:r>
            <a:br>
              <a:rPr lang="pt-BR" sz="1800" dirty="0"/>
            </a:br>
            <a:endParaRPr lang="pt-BR" sz="18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Abordagem </a:t>
            </a:r>
            <a:r>
              <a:rPr lang="pt-BR" sz="1800" b="1" dirty="0"/>
              <a:t>Bayesiana</a:t>
            </a:r>
            <a:r>
              <a:rPr lang="pt-BR" sz="1800" dirty="0"/>
              <a:t>.</a:t>
            </a:r>
            <a:br>
              <a:rPr lang="pt-BR" sz="1800" dirty="0"/>
            </a:br>
            <a:endParaRPr lang="pt-BR" sz="18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b="1" dirty="0"/>
              <a:t>Desempenho aceitável </a:t>
            </a:r>
            <a:r>
              <a:rPr lang="pt-BR" sz="1800" dirty="0"/>
              <a:t>(bom, ok...)</a:t>
            </a:r>
            <a:r>
              <a:rPr lang="pt-BR" sz="1800" b="1" dirty="0"/>
              <a:t> </a:t>
            </a:r>
            <a:r>
              <a:rPr lang="pt-BR" sz="1800" dirty="0"/>
              <a:t> para várias aplicações.</a:t>
            </a:r>
            <a:br>
              <a:rPr lang="pt-BR" sz="1800" dirty="0"/>
            </a:br>
            <a:endParaRPr lang="pt-BR" sz="18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Utiliza </a:t>
            </a:r>
            <a:r>
              <a:rPr lang="pt-BR" sz="1800" b="1" dirty="0"/>
              <a:t>Bag </a:t>
            </a:r>
            <a:r>
              <a:rPr lang="pt-BR" sz="1800" b="1" dirty="0" err="1"/>
              <a:t>of</a:t>
            </a:r>
            <a:r>
              <a:rPr lang="pt-BR" sz="1800" b="1" dirty="0"/>
              <a:t> Words </a:t>
            </a:r>
            <a:r>
              <a:rPr lang="pt-BR" sz="1800" dirty="0"/>
              <a:t>(</a:t>
            </a:r>
            <a:r>
              <a:rPr lang="pt-BR" sz="1800" b="1" dirty="0" err="1"/>
              <a:t>BoW</a:t>
            </a:r>
            <a:r>
              <a:rPr lang="pt-BR" sz="1800" dirty="0"/>
              <a:t>) como </a:t>
            </a:r>
            <a:r>
              <a:rPr lang="pt-BR" sz="1800" i="1" dirty="0"/>
              <a:t>features</a:t>
            </a:r>
            <a:r>
              <a:rPr lang="pt-BR" sz="1800" dirty="0"/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i="1" dirty="0"/>
              <a:t>Também pode utilizar uma Bag de n-Gramas.</a:t>
            </a:r>
            <a:endParaRPr lang="pt-BR" sz="1800" dirty="0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866E089-E29F-25E0-9C6F-272ACBD318B7}"/>
              </a:ext>
            </a:extLst>
          </p:cNvPr>
          <p:cNvCxnSpPr/>
          <p:nvPr/>
        </p:nvCxnSpPr>
        <p:spPr bwMode="auto">
          <a:xfrm>
            <a:off x="5400352" y="2411684"/>
            <a:ext cx="0" cy="3960441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E993BE5-233C-43B2-AF1F-92EC18FF7723}"/>
              </a:ext>
            </a:extLst>
          </p:cNvPr>
          <p:cNvSpPr txBox="1"/>
          <p:nvPr/>
        </p:nvSpPr>
        <p:spPr>
          <a:xfrm>
            <a:off x="867050" y="6953090"/>
            <a:ext cx="89977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* </a:t>
            </a:r>
            <a:r>
              <a:rPr lang="pt-BR" sz="1200" dirty="0"/>
              <a:t>Na linguística, morfologia e léxico são sistemas diferentes que possuem interseções e interdependência. Detalhes em: </a:t>
            </a:r>
            <a:r>
              <a:rPr lang="pt-BR" sz="1200" dirty="0">
                <a:solidFill>
                  <a:srgbClr val="FF0000"/>
                </a:solidFill>
              </a:rPr>
              <a:t>https://doi.org/10.9771/2176-4794ell.v2i48.14539. </a:t>
            </a:r>
            <a:r>
              <a:rPr lang="pt-BR" sz="1200" dirty="0"/>
              <a:t>... </a:t>
            </a:r>
            <a:r>
              <a:rPr lang="pt-BR" sz="1200" i="1" dirty="0"/>
              <a:t>reveja as dimensões da linguagem humana apresentadas na aula 01.</a:t>
            </a:r>
            <a:endParaRPr lang="pt-B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536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(2/4)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9001248" cy="122413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Conversão texto </a:t>
            </a:r>
            <a:r>
              <a:rPr lang="pt-BR" b="1" dirty="0">
                <a:sym typeface="Symbol" panose="05050102010706020507" pitchFamily="18" charset="2"/>
              </a:rPr>
              <a:t> dado estruturado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O NB, assim como </a:t>
            </a:r>
            <a:r>
              <a:rPr lang="pt-BR" sz="2000" b="1" dirty="0">
                <a:solidFill>
                  <a:schemeClr val="tx1"/>
                </a:solidFill>
              </a:rPr>
              <a:t>todo algoritmo de PLN</a:t>
            </a:r>
            <a:r>
              <a:rPr lang="pt-BR" sz="2000" dirty="0">
                <a:solidFill>
                  <a:schemeClr val="tx1"/>
                </a:solidFill>
              </a:rPr>
              <a:t>,</a:t>
            </a:r>
            <a:r>
              <a:rPr lang="pt-BR" sz="2000" dirty="0">
                <a:solidFill>
                  <a:srgbClr val="C00000"/>
                </a:solidFill>
              </a:rPr>
              <a:t> </a:t>
            </a:r>
            <a:r>
              <a:rPr lang="pt-BR" sz="2000" b="1" dirty="0">
                <a:solidFill>
                  <a:srgbClr val="C00000"/>
                </a:solidFill>
              </a:rPr>
              <a:t>exige</a:t>
            </a:r>
            <a:r>
              <a:rPr lang="pt-BR" sz="2000" dirty="0"/>
              <a:t> que o </a:t>
            </a:r>
            <a:r>
              <a:rPr lang="pt-BR" sz="2000" dirty="0">
                <a:solidFill>
                  <a:srgbClr val="C00000"/>
                </a:solidFill>
              </a:rPr>
              <a:t>texto</a:t>
            </a:r>
            <a:r>
              <a:rPr lang="pt-BR" sz="2000" dirty="0"/>
              <a:t> (dado não estruturado) seja </a:t>
            </a:r>
            <a:r>
              <a:rPr lang="pt-BR" sz="2000" b="1" dirty="0">
                <a:solidFill>
                  <a:srgbClr val="C00000"/>
                </a:solidFill>
              </a:rPr>
              <a:t>convertido</a:t>
            </a:r>
            <a:r>
              <a:rPr lang="pt-BR" sz="2000" dirty="0">
                <a:solidFill>
                  <a:srgbClr val="C00000"/>
                </a:solidFill>
              </a:rPr>
              <a:t> para um vetor numérico </a:t>
            </a:r>
            <a:r>
              <a:rPr lang="pt-BR" sz="2000" dirty="0"/>
              <a:t>(dado estruturado).</a:t>
            </a:r>
            <a:br>
              <a:rPr lang="pt-BR" sz="2000" dirty="0"/>
            </a:br>
            <a:endParaRPr lang="pt-BR" sz="20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1AD167F-4F1F-C97E-45F5-BD7E34E08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239743"/>
              </p:ext>
            </p:extLst>
          </p:nvPr>
        </p:nvGraphicFramePr>
        <p:xfrm>
          <a:off x="2492932" y="2802982"/>
          <a:ext cx="5320978" cy="161649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94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29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</a:rPr>
                        <a:t>comentário</a:t>
                      </a:r>
                      <a:endParaRPr lang="pt-BR" sz="1600" b="1" dirty="0">
                        <a:solidFill>
                          <a:srgbClr val="0070C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</a:rPr>
                        <a:t>sentimento</a:t>
                      </a:r>
                      <a:endParaRPr lang="pt-BR" sz="1600" b="1" dirty="0">
                        <a:solidFill>
                          <a:srgbClr val="0070C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just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plain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boring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entirely predictable and lacks energy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09356D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no surprises and very few laughs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very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powerful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00B050"/>
                          </a:solidFill>
                          <a:effectLst/>
                        </a:rPr>
                        <a:t>+</a:t>
                      </a:r>
                      <a:endParaRPr lang="pt-BR" sz="1600" dirty="0">
                        <a:solidFill>
                          <a:srgbClr val="00B05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the most fun film of the summer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00B050"/>
                          </a:solidFill>
                          <a:effectLst/>
                        </a:rPr>
                        <a:t>+</a:t>
                      </a:r>
                      <a:endParaRPr lang="pt-BR" sz="1600" dirty="0">
                        <a:solidFill>
                          <a:srgbClr val="00B05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41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(3/4)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9001248" cy="122413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Conversão texto </a:t>
            </a:r>
            <a:r>
              <a:rPr lang="pt-BR" b="1" dirty="0">
                <a:sym typeface="Symbol" panose="05050102010706020507" pitchFamily="18" charset="2"/>
              </a:rPr>
              <a:t> dado estruturado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No caso do NB, ele requer que cada </a:t>
            </a:r>
            <a:r>
              <a:rPr lang="pt-BR" sz="2000" b="1" dirty="0">
                <a:solidFill>
                  <a:srgbClr val="0070C0"/>
                </a:solidFill>
              </a:rPr>
              <a:t>documento</a:t>
            </a:r>
            <a:r>
              <a:rPr lang="pt-BR" sz="2000" dirty="0"/>
              <a:t> (texto) do corpus (</a:t>
            </a:r>
            <a:r>
              <a:rPr lang="pt-BR" sz="2000" dirty="0" err="1"/>
              <a:t>dataset</a:t>
            </a:r>
            <a:r>
              <a:rPr lang="pt-BR" sz="2000" dirty="0"/>
              <a:t>) seja </a:t>
            </a:r>
            <a:r>
              <a:rPr lang="pt-BR" sz="2000" b="1" dirty="0">
                <a:solidFill>
                  <a:srgbClr val="0070C0"/>
                </a:solidFill>
              </a:rPr>
              <a:t>transformado em uma </a:t>
            </a:r>
            <a:r>
              <a:rPr lang="pt-BR" sz="2000" b="1" dirty="0" err="1">
                <a:solidFill>
                  <a:srgbClr val="0070C0"/>
                </a:solidFill>
              </a:rPr>
              <a:t>BoW</a:t>
            </a:r>
            <a:r>
              <a:rPr lang="pt-BR" sz="2000" dirty="0"/>
              <a:t>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Assim o conjunto de textos se transforma em uma matruz numérica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9EA024F-9987-A210-78C6-2862026C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5364014"/>
            <a:ext cx="9433048" cy="1967499"/>
          </a:xfrm>
          <a:prstGeom prst="rect">
            <a:avLst/>
          </a:prstGeo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0CA1560-DA19-C16F-0BDA-024FE68F2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7925"/>
              </p:ext>
            </p:extLst>
          </p:nvPr>
        </p:nvGraphicFramePr>
        <p:xfrm>
          <a:off x="2492932" y="2802982"/>
          <a:ext cx="5320978" cy="161649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94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29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</a:rPr>
                        <a:t>comentário</a:t>
                      </a:r>
                      <a:endParaRPr lang="pt-BR" sz="1600" b="1" dirty="0">
                        <a:solidFill>
                          <a:srgbClr val="0070C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</a:rPr>
                        <a:t>sentimento</a:t>
                      </a:r>
                      <a:endParaRPr lang="pt-BR" sz="1600" b="1" dirty="0">
                        <a:solidFill>
                          <a:srgbClr val="0070C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just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plain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boring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entirely predictable and lacks energy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09356D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no surprises and very few laughs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-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very</a:t>
                      </a:r>
                      <a:r>
                        <a:rPr lang="pt-BR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t-BR" sz="1600" b="0" i="1" u="none" strike="noStrike" kern="1200" baseline="0" dirty="0" err="1">
                          <a:solidFill>
                            <a:schemeClr val="dk1"/>
                          </a:solidFill>
                        </a:rPr>
                        <a:t>powerful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00B050"/>
                          </a:solidFill>
                          <a:effectLst/>
                        </a:rPr>
                        <a:t>+</a:t>
                      </a:r>
                      <a:endParaRPr lang="pt-BR" sz="1600" dirty="0">
                        <a:solidFill>
                          <a:srgbClr val="00B05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21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0" i="1" u="none" strike="noStrike" kern="1200" baseline="0" dirty="0">
                          <a:solidFill>
                            <a:schemeClr val="dk1"/>
                          </a:solidFill>
                        </a:rPr>
                        <a:t>the most fun film of the summer</a:t>
                      </a:r>
                      <a:endParaRPr lang="pt-BR" sz="1600" i="1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pt-BR" sz="1600" dirty="0">
                          <a:solidFill>
                            <a:srgbClr val="00B050"/>
                          </a:solidFill>
                          <a:effectLst/>
                        </a:rPr>
                        <a:t>+</a:t>
                      </a:r>
                      <a:endParaRPr lang="pt-BR" sz="1600" dirty="0">
                        <a:solidFill>
                          <a:srgbClr val="00B050"/>
                        </a:solidFill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44446" marR="444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786F71A0-AC5D-6E78-C568-25EFAB981E9D}"/>
              </a:ext>
            </a:extLst>
          </p:cNvPr>
          <p:cNvSpPr/>
          <p:nvPr/>
        </p:nvSpPr>
        <p:spPr bwMode="auto">
          <a:xfrm rot="5400000">
            <a:off x="3698847" y="4742628"/>
            <a:ext cx="450681" cy="360040"/>
          </a:xfrm>
          <a:prstGeom prst="rightArrow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DFD4C77-5B4C-9E3C-1218-106CC105DB05}"/>
              </a:ext>
            </a:extLst>
          </p:cNvPr>
          <p:cNvSpPr/>
          <p:nvPr/>
        </p:nvSpPr>
        <p:spPr bwMode="auto">
          <a:xfrm>
            <a:off x="1871960" y="2976405"/>
            <a:ext cx="4104456" cy="1650363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6529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A37B-A5DF-8D89-3525-3E74ED45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F54B75BB-9EE1-8528-0EBC-7A58B4549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(4/4)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277AB692-2DA7-7747-524D-05441DD24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561662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Aula de hoje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Hoje avançaremos no tema geração de </a:t>
            </a:r>
            <a:r>
              <a:rPr lang="pt-BR" sz="2000" i="1" dirty="0">
                <a:solidFill>
                  <a:schemeClr val="tx1"/>
                </a:solidFill>
              </a:rPr>
              <a:t>features</a:t>
            </a:r>
            <a:r>
              <a:rPr lang="pt-BR" sz="2000" dirty="0">
                <a:solidFill>
                  <a:schemeClr val="tx1"/>
                </a:solidFill>
              </a:rPr>
              <a:t>, abordando o método conhecido como</a:t>
            </a:r>
            <a:r>
              <a:rPr lang="pt-BR" sz="2000" b="1" dirty="0">
                <a:solidFill>
                  <a:srgbClr val="C00000"/>
                </a:solidFill>
              </a:rPr>
              <a:t> engenharia de características</a:t>
            </a:r>
            <a:r>
              <a:rPr lang="pt-BR" sz="2000" b="1" dirty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(</a:t>
            </a:r>
            <a:r>
              <a:rPr lang="pt-BR" sz="2000" i="1" dirty="0">
                <a:solidFill>
                  <a:schemeClr val="tx1"/>
                </a:solidFill>
              </a:rPr>
              <a:t>feature </a:t>
            </a:r>
            <a:r>
              <a:rPr lang="pt-BR" sz="2000" i="1" dirty="0" err="1">
                <a:solidFill>
                  <a:schemeClr val="tx1"/>
                </a:solidFill>
              </a:rPr>
              <a:t>engineering</a:t>
            </a:r>
            <a:r>
              <a:rPr lang="pt-BR" sz="2000" i="1" dirty="0">
                <a:solidFill>
                  <a:schemeClr val="tx1"/>
                </a:solidFill>
              </a:rPr>
              <a:t>)</a:t>
            </a:r>
            <a:br>
              <a:rPr lang="pt-BR" sz="2000" i="1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É uma </a:t>
            </a:r>
            <a:r>
              <a:rPr lang="pt-BR" sz="2000" dirty="0">
                <a:solidFill>
                  <a:srgbClr val="C00000"/>
                </a:solidFill>
              </a:rPr>
              <a:t>outra forma de gerar </a:t>
            </a:r>
            <a:r>
              <a:rPr lang="pt-BR" sz="2000" i="1" dirty="0">
                <a:solidFill>
                  <a:srgbClr val="C00000"/>
                </a:solidFill>
              </a:rPr>
              <a:t>features</a:t>
            </a:r>
            <a:r>
              <a:rPr lang="pt-BR" sz="2000" dirty="0">
                <a:solidFill>
                  <a:schemeClr val="tx1"/>
                </a:solidFill>
              </a:rPr>
              <a:t>, diferente da </a:t>
            </a:r>
            <a:r>
              <a:rPr lang="pt-BR" sz="2000" dirty="0" err="1">
                <a:solidFill>
                  <a:schemeClr val="tx1"/>
                </a:solidFill>
              </a:rPr>
              <a:t>BoW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Tem tudo a ver com Estatística !!!</a:t>
            </a: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As </a:t>
            </a:r>
            <a:r>
              <a:rPr lang="pt-BR" sz="2000" i="1" dirty="0">
                <a:solidFill>
                  <a:schemeClr val="tx1"/>
                </a:solidFill>
              </a:rPr>
              <a:t>features </a:t>
            </a:r>
            <a:r>
              <a:rPr lang="pt-BR" sz="2000" dirty="0">
                <a:solidFill>
                  <a:schemeClr val="tx1"/>
                </a:solidFill>
              </a:rPr>
              <a:t>geradas podem ser usadas pela maioria dos métodos estatísticos e algoritmos de machine learning.</a:t>
            </a: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pPr lvl="4" eaLnBrk="1">
              <a:buFont typeface="Arial" panose="020B0604020202020204" pitchFamily="34" charset="0"/>
              <a:buChar char="•"/>
              <a:defRPr/>
            </a:pPr>
            <a:r>
              <a:rPr lang="pt-BR" sz="2000" i="1" dirty="0">
                <a:solidFill>
                  <a:schemeClr val="tx1"/>
                </a:solidFill>
              </a:rPr>
              <a:t>O </a:t>
            </a:r>
            <a:r>
              <a:rPr lang="pt-BR" sz="2000" i="1" u="sng" dirty="0">
                <a:solidFill>
                  <a:schemeClr val="tx1"/>
                </a:solidFill>
              </a:rPr>
              <a:t>NB é uma exceção</a:t>
            </a:r>
            <a:r>
              <a:rPr lang="pt-BR" sz="2000" i="1" dirty="0">
                <a:solidFill>
                  <a:schemeClr val="tx1"/>
                </a:solidFill>
              </a:rPr>
              <a:t>, um dos poucos que </a:t>
            </a:r>
            <a:r>
              <a:rPr lang="pt-BR" sz="2000" i="1" u="sng" dirty="0">
                <a:solidFill>
                  <a:schemeClr val="tx1"/>
                </a:solidFill>
              </a:rPr>
              <a:t>só aceita </a:t>
            </a:r>
            <a:r>
              <a:rPr lang="pt-BR" sz="2000" i="1" u="sng" dirty="0" err="1">
                <a:solidFill>
                  <a:schemeClr val="tx1"/>
                </a:solidFill>
              </a:rPr>
              <a:t>BoW</a:t>
            </a:r>
            <a:br>
              <a:rPr lang="pt-BR" sz="2000" i="1" u="sng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306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Engenharia de Características (1/2)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1584177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O que é Engenharia de Características </a:t>
            </a:r>
            <a:r>
              <a:rPr lang="pt-BR" dirty="0"/>
              <a:t>(</a:t>
            </a:r>
            <a:r>
              <a:rPr lang="pt-BR" b="1" i="1" dirty="0"/>
              <a:t>Feature </a:t>
            </a:r>
            <a:r>
              <a:rPr lang="pt-BR" b="1" i="1" dirty="0" err="1"/>
              <a:t>Engineering</a:t>
            </a:r>
            <a:r>
              <a:rPr lang="pt-BR" dirty="0"/>
              <a:t>) </a:t>
            </a:r>
            <a:r>
              <a:rPr lang="pt-BR" b="1" dirty="0"/>
              <a:t>?</a:t>
            </a:r>
            <a:r>
              <a:rPr lang="pt-BR" sz="1600" dirty="0"/>
              <a:t> </a:t>
            </a:r>
            <a:r>
              <a:rPr lang="pt-BR" sz="2000" dirty="0"/>
              <a:t>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É um processo em que cada documento do corpus é </a:t>
            </a:r>
            <a:r>
              <a:rPr lang="pt-BR" sz="2000" b="1" dirty="0">
                <a:solidFill>
                  <a:srgbClr val="C00000"/>
                </a:solidFill>
              </a:rPr>
              <a:t>transformado em um conjunto variáveis</a:t>
            </a:r>
            <a:r>
              <a:rPr lang="pt-BR" sz="2000" dirty="0"/>
              <a:t> (</a:t>
            </a:r>
            <a:r>
              <a:rPr lang="pt-BR" sz="2000" i="1" dirty="0"/>
              <a:t>features</a:t>
            </a:r>
            <a:r>
              <a:rPr lang="pt-BR" sz="2000" dirty="0"/>
              <a:t>) </a:t>
            </a:r>
            <a:r>
              <a:rPr lang="pt-BR" sz="2000" b="1" dirty="0">
                <a:solidFill>
                  <a:srgbClr val="C00000"/>
                </a:solidFill>
              </a:rPr>
              <a:t>previamente definidas </a:t>
            </a:r>
            <a:r>
              <a:rPr lang="pt-BR" sz="2000" dirty="0"/>
              <a:t>pelos especialistas responsáveis pela criação de um dado classificador.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pic>
        <p:nvPicPr>
          <p:cNvPr id="2050" name="Picture 2" descr="Digital Workspace Monitoring – the Journey | eG Innovations">
            <a:extLst>
              <a:ext uri="{FF2B5EF4-FFF2-40B4-BE49-F238E27FC236}">
                <a16:creationId xmlns:a16="http://schemas.microsoft.com/office/drawing/2014/main" id="{ED63CD90-83BC-9B2D-9415-50F0C5D86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536" y="376437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8168A58-4C87-A70C-1A13-044D8008F0AA}"/>
              </a:ext>
            </a:extLst>
          </p:cNvPr>
          <p:cNvSpPr txBox="1"/>
          <p:nvPr/>
        </p:nvSpPr>
        <p:spPr>
          <a:xfrm>
            <a:off x="863600" y="2776949"/>
            <a:ext cx="54008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São as variáveis que fazem sentido para aquele problema específico.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Normalmente, variáveis interpretáveis.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Elas são </a:t>
            </a:r>
            <a:r>
              <a:rPr lang="pt-BR" sz="2000" dirty="0">
                <a:solidFill>
                  <a:srgbClr val="C00000"/>
                </a:solidFill>
              </a:rPr>
              <a:t>propostas </a:t>
            </a:r>
            <a:r>
              <a:rPr lang="pt-BR" sz="2000" dirty="0"/>
              <a:t>por </a:t>
            </a:r>
            <a:r>
              <a:rPr lang="pt-BR" sz="2000" dirty="0">
                <a:solidFill>
                  <a:srgbClr val="C00000"/>
                </a:solidFill>
              </a:rPr>
              <a:t>especialista(s)</a:t>
            </a:r>
            <a:r>
              <a:rPr lang="pt-BR" sz="2000" b="1" dirty="0"/>
              <a:t> </a:t>
            </a:r>
            <a:r>
              <a:rPr lang="pt-BR" sz="2000" dirty="0"/>
              <a:t>no problema que estiver sendo resolvido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Análise de sentimentos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Detecção de discurso de ódio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Detecção de fake </a:t>
            </a:r>
            <a:r>
              <a:rPr lang="pt-BR" sz="2000" dirty="0" err="1"/>
              <a:t>news</a:t>
            </a: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etc.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170331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9366-1B53-FD25-3976-AE7CB541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2DF16BC-E9B3-535F-98DC-CE14A91F8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Engenharia de Características (2/2)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5267AE87-6A96-D22B-1A76-FCE44DDE3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2304257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Mas </a:t>
            </a:r>
            <a:r>
              <a:rPr lang="pt-BR" sz="2000" b="1" u="sng" dirty="0"/>
              <a:t>como</a:t>
            </a:r>
            <a:r>
              <a:rPr lang="pt-BR" sz="2000" b="1" dirty="0"/>
              <a:t> o especialista </a:t>
            </a:r>
            <a:r>
              <a:rPr lang="pt-BR" sz="2000" b="1" u="sng" dirty="0"/>
              <a:t>identifica</a:t>
            </a:r>
            <a:r>
              <a:rPr lang="pt-BR" sz="2000" b="1" dirty="0"/>
              <a:t> o conjunto ideal de variáveis ?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Através de um </a:t>
            </a:r>
            <a:r>
              <a:rPr lang="pt-BR" sz="2000" dirty="0">
                <a:solidFill>
                  <a:srgbClr val="C00000"/>
                </a:solidFill>
              </a:rPr>
              <a:t>estudo estatístico </a:t>
            </a:r>
            <a:r>
              <a:rPr lang="pt-BR" sz="2000" dirty="0"/>
              <a:t>cuidadoso.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Baseado em sua </a:t>
            </a:r>
            <a:r>
              <a:rPr lang="pt-BR" sz="2000" dirty="0">
                <a:solidFill>
                  <a:srgbClr val="C00000"/>
                </a:solidFill>
              </a:rPr>
              <a:t>experiência/conhecimento </a:t>
            </a:r>
            <a:r>
              <a:rPr lang="pt-BR" sz="2000" dirty="0"/>
              <a:t>do problema.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Consultando a </a:t>
            </a:r>
            <a:r>
              <a:rPr lang="pt-BR" sz="2000" dirty="0">
                <a:solidFill>
                  <a:srgbClr val="C00000"/>
                </a:solidFill>
              </a:rPr>
              <a:t>literatura</a:t>
            </a:r>
            <a:r>
              <a:rPr lang="pt-BR" sz="2000" dirty="0"/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pic>
        <p:nvPicPr>
          <p:cNvPr id="1026" name="Picture 2" descr="Domain Expertise">
            <a:extLst>
              <a:ext uri="{FF2B5EF4-FFF2-40B4-BE49-F238E27FC236}">
                <a16:creationId xmlns:a16="http://schemas.microsoft.com/office/drawing/2014/main" id="{1C61E89E-AE5B-E63E-6656-CD4D83239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952" y="3371923"/>
            <a:ext cx="6804247" cy="382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507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929240" cy="611187"/>
          </a:xfrm>
        </p:spPr>
        <p:txBody>
          <a:bodyPr tIns="28224"/>
          <a:lstStyle/>
          <a:p>
            <a:pPr eaLnBrk="1"/>
            <a:r>
              <a:rPr lang="pt-BR" altLang="pt-BR" u="sng" dirty="0"/>
              <a:t>Exemplo 1</a:t>
            </a:r>
            <a:r>
              <a:rPr lang="pt-BR" altLang="pt-BR" dirty="0"/>
              <a:t>: Classificador de Sentimentos (1/3)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622778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Exemplo – </a:t>
            </a:r>
            <a:r>
              <a:rPr lang="pt-BR" sz="2000" b="1" dirty="0"/>
              <a:t>Classificador de Sentimentos de </a:t>
            </a:r>
            <a:r>
              <a:rPr lang="pt-BR" sz="2000" b="1" i="1" dirty="0"/>
              <a:t>Reviews </a:t>
            </a:r>
            <a:r>
              <a:rPr lang="pt-BR" sz="2000" b="1" dirty="0"/>
              <a:t>de Filmes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Análise de sentimentos é um problema que tem sido estudado há muitos anos. </a:t>
            </a:r>
            <a:endParaRPr lang="pt-BR" sz="18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Ao longo do tempo, os especialistas identificaram diversas variáveis relevantes para caracterizar uma opinião como negativa ou positiva.</a:t>
            </a:r>
            <a:br>
              <a:rPr lang="pt-BR" sz="1800" dirty="0"/>
            </a:br>
            <a:endParaRPr lang="pt-BR" sz="18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Um exemplo do livro de </a:t>
            </a:r>
            <a:r>
              <a:rPr lang="pt-BR" sz="1600" dirty="0"/>
              <a:t>JURAFSKY e MARTIN (2026) </a:t>
            </a:r>
            <a:r>
              <a:rPr lang="pt-BR" sz="2000" dirty="0"/>
              <a:t> mostra como representar cada documento através de </a:t>
            </a:r>
            <a:r>
              <a:rPr lang="pt-BR" sz="2000" b="1" dirty="0"/>
              <a:t>6 </a:t>
            </a:r>
            <a:r>
              <a:rPr lang="pt-BR" sz="2000" b="1" i="1" dirty="0"/>
              <a:t>features</a:t>
            </a:r>
            <a:r>
              <a:rPr lang="pt-BR" sz="2000" dirty="0"/>
              <a:t>:</a:t>
            </a:r>
            <a:endParaRPr lang="pt-BR" sz="1800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total de palavras positivas no texto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total de palavras negativas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3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1 se a palavra “</a:t>
            </a:r>
            <a:r>
              <a:rPr lang="pt-BR" sz="2000" i="1" dirty="0">
                <a:solidFill>
                  <a:srgbClr val="C00000"/>
                </a:solidFill>
                <a:sym typeface="Symbol" panose="05050102010706020507" pitchFamily="18" charset="2"/>
              </a:rPr>
              <a:t>no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” está no texto ou 0 caso contrário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4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total de pronomes (1ª e 2ª pessoa)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5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1 se “!” está no texto ou 0 caso contrário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6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= </a:t>
            </a:r>
            <a:r>
              <a:rPr lang="pt-BR" sz="2000" i="1" dirty="0">
                <a:solidFill>
                  <a:srgbClr val="C00000"/>
                </a:solidFill>
                <a:sym typeface="Symbol" panose="05050102010706020507" pitchFamily="18" charset="2"/>
              </a:rPr>
              <a:t>log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(total de palavras do texto)</a:t>
            </a:r>
            <a:b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460954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DBDC765-0ACC-F033-3C72-9DA330A40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6"/>
            <a:ext cx="8929240" cy="895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Exemplo – </a:t>
            </a:r>
            <a:r>
              <a:rPr lang="pt-BR" sz="2000" b="1" u="sng" dirty="0"/>
              <a:t>Extraindo as features de um texto </a:t>
            </a:r>
            <a:r>
              <a:rPr lang="pt-BR" sz="1600" dirty="0"/>
              <a:t>(JURAFSKY e MARTIN, 2026) </a:t>
            </a:r>
            <a:endParaRPr lang="pt-BR" sz="1600" b="1" u="sng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Dado o texto abaixo, veja como são extraídas as 6 </a:t>
            </a:r>
            <a:r>
              <a:rPr lang="pt-BR" sz="2000" i="1" dirty="0"/>
              <a:t>features</a:t>
            </a:r>
            <a:r>
              <a:rPr lang="pt-BR" sz="2000" dirty="0"/>
              <a:t> propostas: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DAD0B5-CE95-36B8-25BA-C754A913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27" y="1956692"/>
            <a:ext cx="8091386" cy="2788043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9E7458E-88A3-E14A-D607-98CAFBAC4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544" y="5923363"/>
            <a:ext cx="2664296" cy="465689"/>
          </a:xfrm>
          <a:prstGeom prst="rect">
            <a:avLst/>
          </a:prstGeom>
          <a:noFill/>
          <a:ln w="9525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eaLnBrk="1">
              <a:defRPr/>
            </a:pPr>
            <a:r>
              <a:rPr lang="pt-BR" sz="2000" b="1" dirty="0">
                <a:solidFill>
                  <a:srgbClr val="C00000"/>
                </a:solidFill>
              </a:rPr>
              <a:t>x</a:t>
            </a:r>
            <a:r>
              <a:rPr lang="pt-BR" sz="2000" dirty="0">
                <a:solidFill>
                  <a:srgbClr val="C00000"/>
                </a:solidFill>
              </a:rPr>
              <a:t> = [3, 2, 1, 3, 0, 4.19]</a:t>
            </a:r>
            <a:endParaRPr lang="pt-BR" sz="1800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0BDCFE-FE08-CC11-DE8E-82BDE2B6A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065" y="5080724"/>
            <a:ext cx="6198471" cy="208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total de palavras positivas no texto</a:t>
            </a:r>
          </a:p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total de palavras negativas</a:t>
            </a:r>
          </a:p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1 se a palavra “no” está no texto ou 0 caso contrário</a:t>
            </a:r>
          </a:p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total de pronomes (1ª e 2ª pessoa)</a:t>
            </a:r>
          </a:p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5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1 se “!” está no texto ou 0 caso contrário</a:t>
            </a:r>
          </a:p>
          <a:p>
            <a:pPr eaLnBrk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6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pt-BR" sz="1800" i="1" dirty="0">
                <a:solidFill>
                  <a:schemeClr val="tx1"/>
                </a:solidFill>
                <a:sym typeface="Symbol" panose="05050102010706020507" pitchFamily="18" charset="2"/>
              </a:rPr>
              <a:t>log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(total de palavras do texto)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dirty="0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F3ECCA99-76FA-81E2-B76B-633EDB772A81}"/>
              </a:ext>
            </a:extLst>
          </p:cNvPr>
          <p:cNvSpPr/>
          <p:nvPr/>
        </p:nvSpPr>
        <p:spPr bwMode="auto">
          <a:xfrm rot="19875182">
            <a:off x="7741758" y="4902001"/>
            <a:ext cx="432048" cy="864096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3B08F4-FC53-EA16-18C7-D4F4C0A90AA6}"/>
              </a:ext>
            </a:extLst>
          </p:cNvPr>
          <p:cNvSpPr txBox="1"/>
          <p:nvPr/>
        </p:nvSpPr>
        <p:spPr>
          <a:xfrm>
            <a:off x="7062070" y="6588148"/>
            <a:ext cx="26642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i="1" dirty="0">
                <a:solidFill>
                  <a:srgbClr val="002060"/>
                </a:solidFill>
              </a:rPr>
              <a:t>Como sempre, o texto bruto foi estruturado, i.e., virou um vetor numérico!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25F1D2-97E9-DDF9-C136-B855C1337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929240" cy="611187"/>
          </a:xfrm>
        </p:spPr>
        <p:txBody>
          <a:bodyPr tIns="28224"/>
          <a:lstStyle/>
          <a:p>
            <a:pPr eaLnBrk="1"/>
            <a:r>
              <a:rPr lang="pt-BR" altLang="pt-BR" u="sng" dirty="0"/>
              <a:t>Exemplo 1</a:t>
            </a:r>
            <a:r>
              <a:rPr lang="pt-BR" altLang="pt-BR" dirty="0"/>
              <a:t>: Classificador de Sentimentos (2/4)</a:t>
            </a:r>
          </a:p>
        </p:txBody>
      </p:sp>
    </p:spTree>
    <p:extLst>
      <p:ext uri="{BB962C8B-B14F-4D97-AF65-F5344CB8AC3E}">
        <p14:creationId xmlns:p14="http://schemas.microsoft.com/office/powerpoint/2010/main" val="18318986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622778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Meta-variáveis</a:t>
            </a: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  <a:t>Na literatura, as </a:t>
            </a:r>
            <a:r>
              <a:rPr lang="pt-BR" sz="2000" i="1" dirty="0">
                <a:solidFill>
                  <a:schemeClr val="tx1"/>
                </a:solidFill>
                <a:sym typeface="Symbol" panose="05050102010706020507" pitchFamily="18" charset="2"/>
              </a:rPr>
              <a:t>features</a:t>
            </a:r>
            <a: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  <a:t> geradas através da engenharia de características são comumente chamadas de </a:t>
            </a:r>
            <a:r>
              <a:rPr lang="pt-BR" sz="2000" b="1" dirty="0">
                <a:solidFill>
                  <a:srgbClr val="C00000"/>
                </a:solidFill>
                <a:sym typeface="Symbol" panose="05050102010706020507" pitchFamily="18" charset="2"/>
              </a:rPr>
              <a:t>meta-variáveis</a:t>
            </a:r>
            <a: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  <a:t>Em inglês 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meta-</a:t>
            </a:r>
            <a:r>
              <a:rPr lang="pt-BR" sz="2000" i="1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level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 features 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ou 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meta-features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i="1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handcrafted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 features 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também é muito usado, para caracterizar que se trata de um processo “artesanal”.</a:t>
            </a:r>
            <a:br>
              <a:rPr lang="pt-BR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424B378-2D0A-3EDD-6990-69B576110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42" y="3364399"/>
            <a:ext cx="8091386" cy="27880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791CAB-9794-7BC3-27FD-97817F3B4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010" y="6775047"/>
            <a:ext cx="2664296" cy="465689"/>
          </a:xfrm>
          <a:prstGeom prst="rect">
            <a:avLst/>
          </a:prstGeom>
          <a:noFill/>
          <a:ln w="9525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eaLnBrk="1">
              <a:defRPr/>
            </a:pPr>
            <a:r>
              <a:rPr lang="pt-BR" sz="2000" b="1" dirty="0">
                <a:solidFill>
                  <a:srgbClr val="C00000"/>
                </a:solidFill>
              </a:rPr>
              <a:t>x</a:t>
            </a:r>
            <a:r>
              <a:rPr lang="pt-BR" sz="2000" dirty="0">
                <a:solidFill>
                  <a:srgbClr val="C00000"/>
                </a:solidFill>
              </a:rPr>
              <a:t> = [3, 2, 1, 3, 0, 4.19]</a:t>
            </a:r>
            <a:endParaRPr lang="pt-BR" sz="1800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D7E492B7-972F-D64F-BE12-08643D5D29F3}"/>
              </a:ext>
            </a:extLst>
          </p:cNvPr>
          <p:cNvSpPr/>
          <p:nvPr/>
        </p:nvSpPr>
        <p:spPr bwMode="auto">
          <a:xfrm rot="19875182">
            <a:off x="7189108" y="5975868"/>
            <a:ext cx="432048" cy="662012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F40F1A-328F-DD85-EA7D-20670CE90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929240" cy="611187"/>
          </a:xfrm>
        </p:spPr>
        <p:txBody>
          <a:bodyPr tIns="28224"/>
          <a:lstStyle/>
          <a:p>
            <a:pPr eaLnBrk="1"/>
            <a:r>
              <a:rPr lang="pt-BR" altLang="pt-BR" u="sng" dirty="0"/>
              <a:t>Exemplo 1</a:t>
            </a:r>
            <a:r>
              <a:rPr lang="pt-BR" altLang="pt-BR" dirty="0"/>
              <a:t>: Classificador de Sentimentos (3/3)</a:t>
            </a:r>
          </a:p>
        </p:txBody>
      </p:sp>
    </p:spTree>
    <p:extLst>
      <p:ext uri="{BB962C8B-B14F-4D97-AF65-F5344CB8AC3E}">
        <p14:creationId xmlns:p14="http://schemas.microsoft.com/office/powerpoint/2010/main" val="9943082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89435"/>
            <a:ext cx="9001248" cy="1150242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u="sng" dirty="0">
                <a:solidFill>
                  <a:schemeClr val="tx1"/>
                </a:solidFill>
              </a:rPr>
              <a:t>Exemplo 2</a:t>
            </a:r>
            <a:r>
              <a:rPr lang="pt-BR" b="1" dirty="0">
                <a:solidFill>
                  <a:schemeClr val="tx1"/>
                </a:solidFill>
              </a:rPr>
              <a:t> – Classificador de Spam 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5A22C2-9B6C-9237-358E-BF43B1FFC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01248" cy="611187"/>
          </a:xfrm>
        </p:spPr>
        <p:txBody>
          <a:bodyPr tIns="28224"/>
          <a:lstStyle/>
          <a:p>
            <a:pPr eaLnBrk="1"/>
            <a:r>
              <a:rPr lang="pt-BR" altLang="pt-BR" u="sng" dirty="0"/>
              <a:t>Exemplo 2</a:t>
            </a:r>
            <a:r>
              <a:rPr lang="pt-BR" altLang="pt-BR" dirty="0"/>
              <a:t>: Classificador de Spam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7ED5C66-7E4D-15C0-8142-5BCD1D556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52" y="1764556"/>
            <a:ext cx="6214107" cy="2475933"/>
          </a:xfrm>
          <a:prstGeom prst="rect">
            <a:avLst/>
          </a:prstGeom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F0D9A25-E14C-DB9F-C4F1-1D16F72B2F90}"/>
              </a:ext>
            </a:extLst>
          </p:cNvPr>
          <p:cNvSpPr txBox="1">
            <a:spLocks/>
          </p:cNvSpPr>
          <p:nvPr/>
        </p:nvSpPr>
        <p:spPr>
          <a:xfrm>
            <a:off x="863600" y="4508252"/>
            <a:ext cx="8712200" cy="1846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1800" b="1" dirty="0" err="1">
                <a:solidFill>
                  <a:srgbClr val="C00000"/>
                </a:solidFill>
              </a:rPr>
              <a:t>num_char</a:t>
            </a:r>
            <a:r>
              <a:rPr lang="pt-BR" sz="1800" dirty="0">
                <a:solidFill>
                  <a:srgbClr val="C00000"/>
                </a:solidFill>
              </a:rPr>
              <a:t> (inteiro): número de caracteres no e-mail.</a:t>
            </a:r>
          </a:p>
          <a:p>
            <a:pPr lvl="1"/>
            <a:r>
              <a:rPr lang="pt-BR" sz="1800" b="1" dirty="0" err="1">
                <a:solidFill>
                  <a:srgbClr val="C00000"/>
                </a:solidFill>
              </a:rPr>
              <a:t>line_breaks</a:t>
            </a:r>
            <a:r>
              <a:rPr lang="pt-BR" sz="1800" dirty="0">
                <a:solidFill>
                  <a:srgbClr val="C00000"/>
                </a:solidFill>
              </a:rPr>
              <a:t> (inteiro): número de quebra de linhas no e-mail. </a:t>
            </a:r>
          </a:p>
          <a:p>
            <a:pPr lvl="1"/>
            <a:r>
              <a:rPr lang="pt-BR" sz="1800" b="1" dirty="0" err="1">
                <a:solidFill>
                  <a:srgbClr val="C00000"/>
                </a:solidFill>
              </a:rPr>
              <a:t>format</a:t>
            </a:r>
            <a:r>
              <a:rPr lang="pt-BR" sz="1800" b="1" dirty="0">
                <a:solidFill>
                  <a:srgbClr val="C00000"/>
                </a:solidFill>
              </a:rPr>
              <a:t> </a:t>
            </a:r>
            <a:r>
              <a:rPr lang="pt-BR" sz="1800" dirty="0">
                <a:solidFill>
                  <a:srgbClr val="C00000"/>
                </a:solidFill>
              </a:rPr>
              <a:t>(categórico): indica se o e-mail contém comandos de formatação HTML.</a:t>
            </a:r>
          </a:p>
          <a:p>
            <a:pPr lvl="1"/>
            <a:r>
              <a:rPr lang="pt-BR" sz="1800" b="1" dirty="0" err="1">
                <a:solidFill>
                  <a:srgbClr val="C00000"/>
                </a:solidFill>
              </a:rPr>
              <a:t>number</a:t>
            </a:r>
            <a:r>
              <a:rPr lang="pt-BR" sz="1800" b="1" dirty="0">
                <a:solidFill>
                  <a:srgbClr val="C00000"/>
                </a:solidFill>
              </a:rPr>
              <a:t> </a:t>
            </a:r>
            <a:r>
              <a:rPr lang="pt-BR" sz="1800" dirty="0">
                <a:solidFill>
                  <a:srgbClr val="C00000"/>
                </a:solidFill>
              </a:rPr>
              <a:t>(ordinal): indica se o e-mail não contém nenhum número, se contém um número pequeno ou um número grande.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47979D-028B-942E-9ABC-F607FA68505C}"/>
              </a:ext>
            </a:extLst>
          </p:cNvPr>
          <p:cNvSpPr txBox="1"/>
          <p:nvPr/>
        </p:nvSpPr>
        <p:spPr>
          <a:xfrm>
            <a:off x="863600" y="6992350"/>
            <a:ext cx="9001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/>
              <a:t>Fonte: </a:t>
            </a:r>
            <a:r>
              <a:rPr lang="pt-BR" sz="14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https://www.openintro.org/book/os/</a:t>
            </a:r>
            <a:r>
              <a:rPr lang="pt-BR" sz="1400" dirty="0"/>
              <a:t>. É apenas um exemplo conceitual, na prática muitas outras variáveis são utilizadas.</a:t>
            </a:r>
            <a:endParaRPr lang="pt-B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7644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9E5C-17BB-BCE9-C88E-D03E25A5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BB5CD82-F73B-5822-3952-D09775A4E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(1/7)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A4A0BCCC-D7C7-958D-B215-4F0C3D516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52527"/>
            <a:ext cx="9001248" cy="18352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Exemplo: </a:t>
            </a:r>
            <a:r>
              <a:rPr lang="pt-BR" sz="1800" b="1" dirty="0">
                <a:solidFill>
                  <a:schemeClr val="tx1"/>
                </a:solidFill>
                <a:sym typeface="Symbol" panose="05050102010706020507" pitchFamily="18" charset="2"/>
              </a:rPr>
              <a:t>Base de dados (BD)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: “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sentiment140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”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chemeClr val="tx1"/>
                </a:solidFill>
                <a:sym typeface="Symbol" panose="05050102010706020507" pitchFamily="18" charset="2"/>
              </a:rPr>
              <a:t>Meta-variáveis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total de palavras positivas no texto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total de palavras negativas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3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1 se a palavra “</a:t>
            </a:r>
            <a:r>
              <a:rPr lang="pt-BR" sz="1800" i="1" dirty="0">
                <a:solidFill>
                  <a:srgbClr val="C00000"/>
                </a:solidFill>
                <a:sym typeface="Symbol" panose="05050102010706020507" pitchFamily="18" charset="2"/>
              </a:rPr>
              <a:t>no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” está no texto ou 0 caso contrário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4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total de pronomes (1ª e 2ª pessoa)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5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1 se “!” está no texto ou 0 caso contrário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6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</a:t>
            </a:r>
            <a:r>
              <a:rPr lang="pt-BR" sz="1800" i="1" dirty="0">
                <a:solidFill>
                  <a:srgbClr val="C00000"/>
                </a:solidFill>
                <a:sym typeface="Symbol" panose="05050102010706020507" pitchFamily="18" charset="2"/>
              </a:rPr>
              <a:t>log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(total de palavras do texto)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Supondo que já existe </a:t>
            </a:r>
            <a:b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um </a:t>
            </a:r>
            <a:r>
              <a:rPr lang="pt-BR" sz="1800" dirty="0" err="1">
                <a:solidFill>
                  <a:schemeClr val="tx1"/>
                </a:solidFill>
                <a:sym typeface="Symbol" panose="05050102010706020507" pitchFamily="18" charset="2"/>
              </a:rPr>
              <a:t>DataFrame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 “</a:t>
            </a:r>
            <a:r>
              <a:rPr lang="pt-BR" sz="1800" dirty="0" err="1">
                <a:solidFill>
                  <a:schemeClr val="tx1"/>
                </a:solidFill>
                <a:sym typeface="Symbol" panose="05050102010706020507" pitchFamily="18" charset="2"/>
              </a:rPr>
              <a:t>X_raw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” </a:t>
            </a:r>
            <a:b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com os tokens de </a:t>
            </a:r>
            <a:b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cada documento, </a:t>
            </a:r>
            <a:b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como gerar as 6</a:t>
            </a:r>
            <a:b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meta-variáveis acima? </a:t>
            </a:r>
            <a:endParaRPr lang="pt-BR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1200150" lvl="2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01AAAD-C3B2-BC04-8357-4CCF1D2F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915" y="4402750"/>
            <a:ext cx="5854886" cy="3156925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2D3F9AF-2212-9BB6-03C8-566DAA7E7482}"/>
              </a:ext>
            </a:extLst>
          </p:cNvPr>
          <p:cNvCxnSpPr/>
          <p:nvPr/>
        </p:nvCxnSpPr>
        <p:spPr bwMode="auto">
          <a:xfrm>
            <a:off x="3816176" y="5508029"/>
            <a:ext cx="576064" cy="14401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720173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57B5-EFE8-B7BA-8659-5DB31E3C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87E18166-6572-4198-DAC9-73FE3F929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(2/7)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EF3649F0-1D07-124A-DE32-9287EDC65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52526"/>
            <a:ext cx="9001248" cy="32502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Exemplo: </a:t>
            </a:r>
            <a:r>
              <a:rPr lang="pt-BR" sz="1800" b="1" dirty="0">
                <a:solidFill>
                  <a:schemeClr val="tx1"/>
                </a:solidFill>
                <a:sym typeface="Symbol" panose="05050102010706020507" pitchFamily="18" charset="2"/>
              </a:rPr>
              <a:t>Base de dados (BD)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: “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sentiment140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”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chemeClr val="tx1"/>
                </a:solidFill>
                <a:sym typeface="Symbol" panose="05050102010706020507" pitchFamily="18" charset="2"/>
              </a:rPr>
              <a:t>Meta-variáveis</a:t>
            </a:r>
            <a:r>
              <a:rPr lang="pt-BR" sz="1800" dirty="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x</a:t>
            </a:r>
            <a:r>
              <a:rPr lang="pt-BR" sz="1800" b="1" baseline="-25000" dirty="0">
                <a:solidFill>
                  <a:srgbClr val="002060"/>
                </a:solidFill>
                <a:sym typeface="Symbol" panose="05050102010706020507" pitchFamily="18" charset="2"/>
              </a:rPr>
              <a:t>1</a:t>
            </a: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 = total de palavras positivas no texto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x</a:t>
            </a:r>
            <a:r>
              <a:rPr lang="pt-BR" sz="1800" b="1" baseline="-25000" dirty="0">
                <a:solidFill>
                  <a:srgbClr val="002060"/>
                </a:solidFill>
                <a:sym typeface="Symbol" panose="05050102010706020507" pitchFamily="18" charset="2"/>
              </a:rPr>
              <a:t>2</a:t>
            </a: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 = total de palavras negativas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3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1 se a palavra “</a:t>
            </a:r>
            <a:r>
              <a:rPr lang="pt-BR" sz="1800" i="1" dirty="0">
                <a:solidFill>
                  <a:srgbClr val="C00000"/>
                </a:solidFill>
                <a:sym typeface="Symbol" panose="05050102010706020507" pitchFamily="18" charset="2"/>
              </a:rPr>
              <a:t>no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” está no texto ou 0 caso contrário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x</a:t>
            </a:r>
            <a:r>
              <a:rPr lang="pt-BR" sz="1800" b="1" baseline="-25000" dirty="0">
                <a:solidFill>
                  <a:srgbClr val="002060"/>
                </a:solidFill>
                <a:sym typeface="Symbol" panose="05050102010706020507" pitchFamily="18" charset="2"/>
              </a:rPr>
              <a:t>4</a:t>
            </a:r>
            <a:r>
              <a:rPr lang="pt-BR" sz="1800" b="1" dirty="0">
                <a:solidFill>
                  <a:srgbClr val="002060"/>
                </a:solidFill>
                <a:sym typeface="Symbol" panose="05050102010706020507" pitchFamily="18" charset="2"/>
              </a:rPr>
              <a:t> = total de pronomes (1ª e 2ª pessoa)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5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1 se “!” está no texto ou 0 caso contrário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1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6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 = </a:t>
            </a:r>
            <a:r>
              <a:rPr lang="pt-BR" sz="1800" i="1" dirty="0">
                <a:solidFill>
                  <a:srgbClr val="C00000"/>
                </a:solidFill>
                <a:sym typeface="Symbol" panose="05050102010706020507" pitchFamily="18" charset="2"/>
              </a:rPr>
              <a:t>log</a:t>
            </a:r>
            <a:r>
              <a:rPr lang="pt-BR" sz="1800" dirty="0">
                <a:solidFill>
                  <a:srgbClr val="C00000"/>
                </a:solidFill>
                <a:sym typeface="Symbol" panose="05050102010706020507" pitchFamily="18" charset="2"/>
              </a:rPr>
              <a:t>(total de palavras do texto)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ym typeface="Symbol" panose="05050102010706020507" pitchFamily="18" charset="2"/>
              </a:rPr>
              <a:t>Para criar as variáveis 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, 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e x</a:t>
            </a:r>
            <a:r>
              <a:rPr lang="pt-BR" sz="20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4</a:t>
            </a:r>
            <a:r>
              <a:rPr lang="pt-BR" sz="2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pt-BR" sz="2000" dirty="0">
                <a:sym typeface="Symbol" panose="05050102010706020507" pitchFamily="18" charset="2"/>
              </a:rPr>
              <a:t>precisamos passar para o programa uma lista contendo palavras positivas, uma lista com palavras negativas e uma lista com pronomes respectivamente. </a:t>
            </a:r>
            <a:br>
              <a:rPr lang="pt-BR" sz="2000" dirty="0">
                <a:sym typeface="Symbol" panose="05050102010706020507" pitchFamily="18" charset="2"/>
              </a:rPr>
            </a:br>
            <a:endParaRPr lang="pt-BR" sz="2000" dirty="0">
              <a:sym typeface="Symbol" panose="05050102010706020507" pitchFamily="18" charset="2"/>
            </a:endParaRP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ym typeface="Symbol" panose="05050102010706020507" pitchFamily="18" charset="2"/>
              </a:rPr>
              <a:t>É fácil encontrar na Internet... Vou usar os léxicos de</a:t>
            </a:r>
            <a:r>
              <a:rPr lang="pt-BR" sz="1800" dirty="0"/>
              <a:t>  Hu &amp; Liu (2004)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pt-BR" sz="1800" dirty="0"/>
              <a:t> </a:t>
            </a:r>
            <a:r>
              <a:rPr lang="pt-BR" sz="18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http://www.cs.uic.edu/~liub/FBS/sentiment-analysis.html</a:t>
            </a:r>
            <a:endParaRPr lang="pt-BR" sz="1800" dirty="0">
              <a:solidFill>
                <a:srgbClr val="FF0000"/>
              </a:solidFill>
            </a:endParaRPr>
          </a:p>
          <a:p>
            <a:pPr marL="1200150" lvl="2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90498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43F0-8463-DB7E-A546-3174D1FB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C812A8F-2B4E-EA16-567F-A26FFBD68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(3/7)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C83783D-735E-C32F-0234-91307FC2F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52526"/>
            <a:ext cx="9001248" cy="467071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b="1" dirty="0">
                <a:solidFill>
                  <a:schemeClr val="tx1"/>
                </a:solidFill>
                <a:sym typeface="Symbol" panose="05050102010706020507" pitchFamily="18" charset="2"/>
              </a:rPr>
              <a:t>Léxicos Utilizados</a:t>
            </a:r>
            <a:endParaRPr lang="pt-BR" sz="2000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marL="1200150" lvl="2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F317F8-3907-86A5-C636-9E0596E6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576168"/>
            <a:ext cx="3027219" cy="39889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BA78CB-EC5D-2ABB-7BC2-DFD31457872B}"/>
              </a:ext>
            </a:extLst>
          </p:cNvPr>
          <p:cNvSpPr txBox="1"/>
          <p:nvPr/>
        </p:nvSpPr>
        <p:spPr>
          <a:xfrm>
            <a:off x="838199" y="5569553"/>
            <a:ext cx="2497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Trecho do léxico de palavras </a:t>
            </a:r>
            <a:r>
              <a:rPr lang="pt-BR" b="1" dirty="0"/>
              <a:t>positivas</a:t>
            </a:r>
            <a:r>
              <a:rPr lang="pt-BR" dirty="0"/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34F4EA4-DF27-36B2-E530-E91ACC756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61" y="1546501"/>
            <a:ext cx="2642983" cy="40022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06076A3-069D-B34F-3EE3-C741B8D41841}"/>
              </a:ext>
            </a:extLst>
          </p:cNvPr>
          <p:cNvSpPr txBox="1"/>
          <p:nvPr/>
        </p:nvSpPr>
        <p:spPr>
          <a:xfrm>
            <a:off x="4020494" y="5568465"/>
            <a:ext cx="2497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Trecho do léxico de palavras </a:t>
            </a:r>
            <a:r>
              <a:rPr lang="pt-BR" b="1" dirty="0"/>
              <a:t>negativas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636E87-49BF-C7D5-5F34-2CD3ED572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16" y="5891630"/>
            <a:ext cx="3562848" cy="1548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0230623-FA31-0BE7-BF85-9B7A8672B5F4}"/>
              </a:ext>
            </a:extLst>
          </p:cNvPr>
          <p:cNvSpPr txBox="1"/>
          <p:nvPr/>
        </p:nvSpPr>
        <p:spPr>
          <a:xfrm>
            <a:off x="7486422" y="5217578"/>
            <a:ext cx="2497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Lista com </a:t>
            </a:r>
            <a:r>
              <a:rPr lang="pt-BR" b="1" dirty="0"/>
              <a:t>pronomes</a:t>
            </a:r>
            <a:r>
              <a:rPr lang="pt-BR" dirty="0"/>
              <a:t> na 1ª e 2ª pessoas</a:t>
            </a:r>
          </a:p>
        </p:txBody>
      </p:sp>
    </p:spTree>
    <p:extLst>
      <p:ext uri="{BB962C8B-B14F-4D97-AF65-F5344CB8AC3E}">
        <p14:creationId xmlns:p14="http://schemas.microsoft.com/office/powerpoint/2010/main" val="20259695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0E37-76A7-7B09-18A7-78A66918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77463A6-7DD7-E771-FD82-5B346522D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(4/7)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F794691-84C2-69A1-23E0-4D1626DF3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52527"/>
            <a:ext cx="9001248" cy="18352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Código</a:t>
            </a:r>
            <a:r>
              <a:rPr lang="pt-BR" b="1" dirty="0"/>
              <a:t> (Parte 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O trecho de código a seguir: </a:t>
            </a:r>
          </a:p>
          <a:p>
            <a:pPr marL="1200150" lvl="2" indent="-342900">
              <a:buFont typeface="Arial" panose="020B0604020202020204" pitchFamily="34" charset="0"/>
              <a:buChar char="•"/>
            </a:pPr>
            <a:r>
              <a:rPr lang="pt-BR" sz="2000" dirty="0"/>
              <a:t>importa os léxicos de palavras positivas (</a:t>
            </a:r>
            <a:r>
              <a:rPr lang="pt-BR" sz="2000" dirty="0">
                <a:solidFill>
                  <a:srgbClr val="0070C0"/>
                </a:solidFill>
              </a:rPr>
              <a:t>pos.txt</a:t>
            </a:r>
            <a:r>
              <a:rPr lang="pt-BR" sz="2000" dirty="0"/>
              <a:t>) e negativas </a:t>
            </a:r>
            <a:r>
              <a:rPr lang="pt-BR" sz="2000" dirty="0">
                <a:solidFill>
                  <a:srgbClr val="0070C0"/>
                </a:solidFill>
              </a:rPr>
              <a:t>(neg.txt</a:t>
            </a:r>
            <a:r>
              <a:rPr lang="pt-BR" sz="2000" dirty="0"/>
              <a:t>) para uma lista.</a:t>
            </a:r>
          </a:p>
          <a:p>
            <a:pPr marL="1200150" lvl="2" indent="-342900">
              <a:buFont typeface="Arial" panose="020B0604020202020204" pitchFamily="34" charset="0"/>
              <a:buChar char="•"/>
            </a:pPr>
            <a:r>
              <a:rPr lang="pt-BR" sz="2000" dirty="0"/>
              <a:t>E define a lista de pronomes na 1ª pessoa e 2ª pessoa</a:t>
            </a:r>
          </a:p>
          <a:p>
            <a:pPr marL="857250" lvl="2" indent="0"/>
            <a:endParaRPr lang="pt-BR" sz="2000" dirty="0"/>
          </a:p>
          <a:p>
            <a:pPr marL="1200150" lvl="2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193EF0-DD3F-D788-D430-2467D65CAC33}"/>
              </a:ext>
            </a:extLst>
          </p:cNvPr>
          <p:cNvSpPr txBox="1"/>
          <p:nvPr/>
        </p:nvSpPr>
        <p:spPr>
          <a:xfrm>
            <a:off x="719832" y="3347789"/>
            <a:ext cx="8857232" cy="3803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lê o dicionário de palavras positivas e o converte p/ 1 lista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"https://raw.githubusercontent.com/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edubd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bd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refs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heads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main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/pos.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txt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,header=</a:t>
            </a:r>
            <a:r>
              <a:rPr lang="pt-BR" dirty="0" err="1">
                <a:solidFill>
                  <a:srgbClr val="0000FF"/>
                </a:solidFill>
                <a:latin typeface="Courier New" panose="02070309020205020404" pitchFamily="49" charset="0"/>
              </a:rPr>
              <a:t>None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'palavra’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575"/>
              </a:lnSpc>
              <a:buNone/>
            </a:pP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'palavra'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to_list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575"/>
              </a:lnSpc>
              <a:buNone/>
            </a:pP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lê o dicionário de palavras negativas e o converte p/ 1 lista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neg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"https://raw.githubusercontent.com/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edubd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bd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refs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heads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main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/neg.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txt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,header=</a:t>
            </a:r>
            <a:r>
              <a:rPr lang="pt-BR" dirty="0" err="1">
                <a:solidFill>
                  <a:srgbClr val="0000FF"/>
                </a:solidFill>
                <a:latin typeface="Courier New" panose="02070309020205020404" pitchFamily="49" charset="0"/>
              </a:rPr>
              <a:t>None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[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'palavra’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575"/>
              </a:lnSpc>
              <a:buNone/>
            </a:pPr>
            <a:b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neg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neg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'palavra'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</a:rPr>
              <a:t>to_list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575"/>
              </a:lnSpc>
              <a:buNone/>
            </a:pP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define o dicionário de palavras na 1a e 2a pessoas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pronomes = [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'i'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'me'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my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'mine'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myself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we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us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our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ours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ourselves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you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your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yours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yourself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 err="1">
                <a:solidFill>
                  <a:srgbClr val="A31515"/>
                </a:solidFill>
                <a:latin typeface="Courier New" panose="02070309020205020404" pitchFamily="49" charset="0"/>
              </a:rPr>
              <a:t>yourselves</a:t>
            </a:r>
            <a:r>
              <a:rPr lang="pt-BR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27112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0176-65D5-A342-8876-B9B26217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B5C8A623-C488-34EB-16CE-EBE66D545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(5/7)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6D300E7A-C1C1-6E5A-BF0E-EB66DAEBB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52527"/>
            <a:ext cx="9001248" cy="212325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Código</a:t>
            </a:r>
            <a:r>
              <a:rPr lang="pt-BR" b="1" dirty="0"/>
              <a:t> (Parte 2)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Agora cria-se uma função para cada </a:t>
            </a:r>
            <a:r>
              <a:rPr lang="pt-BR" sz="2000" i="1" dirty="0"/>
              <a:t>feature</a:t>
            </a:r>
            <a:r>
              <a:rPr lang="pt-BR" sz="2000" dirty="0"/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000" dirty="0"/>
              <a:t>Novas colunas </a:t>
            </a:r>
            <a:r>
              <a:rPr lang="pt-BR" sz="2000" dirty="0">
                <a:solidFill>
                  <a:srgbClr val="C00000"/>
                </a:solidFill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</a:rPr>
              <a:t>1</a:t>
            </a:r>
            <a:r>
              <a:rPr lang="pt-BR" sz="2000" dirty="0"/>
              <a:t> a </a:t>
            </a:r>
            <a:r>
              <a:rPr lang="pt-BR" sz="2000" dirty="0">
                <a:solidFill>
                  <a:srgbClr val="C00000"/>
                </a:solidFill>
              </a:rPr>
              <a:t>x</a:t>
            </a:r>
            <a:r>
              <a:rPr lang="pt-BR" sz="2000" baseline="-25000" dirty="0">
                <a:solidFill>
                  <a:srgbClr val="C00000"/>
                </a:solidFill>
              </a:rPr>
              <a:t>6</a:t>
            </a:r>
            <a:r>
              <a:rPr lang="pt-BR" sz="2000" dirty="0"/>
              <a:t> serão criadas no </a:t>
            </a:r>
            <a:r>
              <a:rPr lang="pt-BR" sz="2000" dirty="0" err="1"/>
              <a:t>DataFrame</a:t>
            </a:r>
            <a:r>
              <a:rPr lang="pt-BR" sz="2000" dirty="0"/>
              <a:t> aplicando sua respectiva função sobre a coluna com os tokens.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000" dirty="0"/>
              <a:t>Os próximos slides exibem o código</a:t>
            </a:r>
          </a:p>
          <a:p>
            <a:pPr marL="857250" lvl="2" indent="0"/>
            <a:endParaRPr lang="pt-BR" sz="2000" dirty="0"/>
          </a:p>
          <a:p>
            <a:pPr marL="1200150" lvl="2" indent="-3429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66203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FE3C-0D46-F43D-A863-C0DB0DB83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8FB7175-677C-2086-FC3D-C7374630A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(6/7)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BB3B5B-AF44-E70C-8C79-8786534B78D1}"/>
              </a:ext>
            </a:extLst>
          </p:cNvPr>
          <p:cNvSpPr txBox="1"/>
          <p:nvPr/>
        </p:nvSpPr>
        <p:spPr>
          <a:xfrm>
            <a:off x="791840" y="1619597"/>
            <a:ext cx="9001000" cy="5847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Define as funções para gerar as features numéricas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math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f_gera_x1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sv-SE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sv-SE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quantidade de palavras positivas</a:t>
            </a:r>
            <a:endParaRPr lang="sv-SE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sv-SE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pos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tokens])</a:t>
            </a:r>
          </a:p>
          <a:p>
            <a:pPr>
              <a:lnSpc>
                <a:spcPts val="1575"/>
              </a:lnSpc>
              <a:buNone/>
            </a:pPr>
            <a:b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f_gera_x2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sv-SE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sv-SE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quantidade de palavras negativas</a:t>
            </a:r>
            <a:endParaRPr lang="sv-SE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sv-SE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neg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sv-SE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sv-SE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tokens])</a:t>
            </a:r>
          </a:p>
          <a:p>
            <a:pPr>
              <a:lnSpc>
                <a:spcPts val="1575"/>
              </a:lnSpc>
              <a:buNone/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f_gera_x3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palavra "no" ou "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" está no texto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 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tokens: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f_gera_x4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quantidade de pronomes na 1a ou 2a pessoa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pronomes])</a:t>
            </a:r>
          </a:p>
          <a:p>
            <a:pPr>
              <a:lnSpc>
                <a:spcPts val="1575"/>
              </a:lnSpc>
              <a:buNone/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f_gera_x5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palavra "!" está no texto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'!'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f_gera_x6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tokens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log do total de palavras do texto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math.log(</a:t>
            </a:r>
            <a:r>
              <a:rPr lang="pt-BR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([token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token.isalnum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()]))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0A5E14-CE35-2A2E-E3BC-9B22447CF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9001248" cy="39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Código</a:t>
            </a:r>
            <a:r>
              <a:rPr lang="pt-BR" b="1" dirty="0"/>
              <a:t> (Parte 2)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84668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0BA6B-4E70-1E33-87B1-1D7FDF76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7690586-05A6-3334-F560-6208044CF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sz="2800" dirty="0"/>
              <a:t>Engenharia de Características no Python (7/7)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00E06B-356D-DC74-9B6A-338238452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9001248" cy="39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b="1" u="sng" dirty="0"/>
              <a:t>Código</a:t>
            </a:r>
            <a:r>
              <a:rPr lang="pt-BR" b="1" dirty="0"/>
              <a:t> (Parte 2)</a:t>
            </a:r>
            <a:endParaRPr lang="pt-BR" sz="2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332FEC2-D5AC-5B36-6BED-5AEDFA9B3912}"/>
              </a:ext>
            </a:extLst>
          </p:cNvPr>
          <p:cNvSpPr txBox="1"/>
          <p:nvPr/>
        </p:nvSpPr>
        <p:spPr>
          <a:xfrm>
            <a:off x="609014" y="1732147"/>
            <a:ext cx="5611092" cy="1751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(4) aplica as funções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X_raw.copy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'x1'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(f_gera_x1)</a:t>
            </a: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'x2'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(f_gera_x2)</a:t>
            </a: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'x3'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(f_gera_x3)</a:t>
            </a: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'x4'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(f_gera_x4)</a:t>
            </a:r>
          </a:p>
          <a:p>
            <a:pPr>
              <a:lnSpc>
                <a:spcPts val="1575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'x5'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(f_gera_x5)</a:t>
            </a: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'x6'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X[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(f_gera_x6)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3C39BCA5-D71B-835E-ED87-38FC353F4B0C}"/>
              </a:ext>
            </a:extLst>
          </p:cNvPr>
          <p:cNvSpPr>
            <a:spLocks noChangeArrowheads="1"/>
          </p:cNvSpPr>
          <p:nvPr/>
        </p:nvSpPr>
        <p:spPr bwMode="auto">
          <a:xfrm rot="3621097">
            <a:off x="4641150" y="3845947"/>
            <a:ext cx="790218" cy="449263"/>
          </a:xfrm>
          <a:prstGeom prst="rightArrow">
            <a:avLst>
              <a:gd name="adj1" fmla="val 50000"/>
              <a:gd name="adj2" fmla="val 68754"/>
            </a:avLst>
          </a:prstGeom>
          <a:solidFill>
            <a:srgbClr val="ADADEB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F457E4-26FF-850F-E6D7-08DAF7165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890" y="4598631"/>
            <a:ext cx="7401958" cy="245779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7AB07D2-4F6B-AC1C-5B42-A2A5EF4F695B}"/>
              </a:ext>
            </a:extLst>
          </p:cNvPr>
          <p:cNvSpPr txBox="1"/>
          <p:nvPr/>
        </p:nvSpPr>
        <p:spPr>
          <a:xfrm>
            <a:off x="5426932" y="3816418"/>
            <a:ext cx="3933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Resultado final (X </a:t>
            </a:r>
            <a:r>
              <a:rPr lang="pt-BR" dirty="0" err="1"/>
              <a:t>pré</a:t>
            </a:r>
            <a:r>
              <a:rPr lang="pt-BR" dirty="0"/>
              <a:t>-processado)</a:t>
            </a:r>
          </a:p>
        </p:txBody>
      </p:sp>
    </p:spTree>
    <p:extLst>
      <p:ext uri="{BB962C8B-B14F-4D97-AF65-F5344CB8AC3E}">
        <p14:creationId xmlns:p14="http://schemas.microsoft.com/office/powerpoint/2010/main" val="3399707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6DB15-034E-30C5-B608-250A3842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5841F74-C88B-B0F8-46B3-D3CCF4C66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Exemplos em artigos científicos (1/5)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388EFE-5485-1D1B-8560-F405F768B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9001248" cy="2339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b="1" u="sng" dirty="0"/>
              <a:t>Exemplo 1</a:t>
            </a:r>
            <a:r>
              <a:rPr lang="pt-BR" sz="2000" b="1" dirty="0"/>
              <a:t>: Análise de Sentimentos </a:t>
            </a:r>
            <a:r>
              <a:rPr lang="pt-BR" sz="2000" dirty="0"/>
              <a:t>(Carvalho e Plastino, 2021)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Realizou a avaliação empírica de um conjunto de </a:t>
            </a:r>
            <a:r>
              <a:rPr lang="pt-BR" sz="1800" b="1" dirty="0"/>
              <a:t>120 meta-variáveis</a:t>
            </a:r>
            <a:r>
              <a:rPr lang="pt-BR" sz="1800" dirty="0"/>
              <a:t> propostas  na literatura para análise de sentimentos</a:t>
            </a:r>
            <a:br>
              <a:rPr lang="pt-BR" sz="1800" dirty="0"/>
            </a:br>
            <a:endParaRPr lang="pt-BR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Cenário de teste: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800" dirty="0"/>
              <a:t>22 </a:t>
            </a:r>
            <a:r>
              <a:rPr lang="pt-BR" sz="1800" dirty="0" err="1"/>
              <a:t>datasets</a:t>
            </a:r>
            <a:r>
              <a:rPr lang="pt-BR" sz="1800" dirty="0"/>
              <a:t> de análise de sentimentos.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800" dirty="0"/>
              <a:t>Algoritmos: SVM, Random Forest e Regressão Logística 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0992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9A2C-6F5A-19CD-D94D-61216FDF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BB8746B-DBBB-E3F4-7EE5-B93AC6807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9073256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Exemplos em artigos científicos (2/5)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EF502A-65CC-E77B-66A3-AFC5FB1D9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2592536" cy="39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b="1" u="sng" dirty="0"/>
              <a:t>Exemplo 1</a:t>
            </a:r>
            <a:r>
              <a:rPr lang="pt-BR" sz="2000" b="1" dirty="0"/>
              <a:t>: Análise de Sentimentos </a:t>
            </a:r>
            <a:r>
              <a:rPr lang="pt-BR" sz="2000" dirty="0"/>
              <a:t>(Carvalho e Plastino, 2021)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DA5EEE7-2094-4732-8832-067A0150E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176" y="954124"/>
            <a:ext cx="6120680" cy="650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35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5A22C2-9B6C-9237-358E-BF43B1FFC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Exemplos em artigos científicos (3/5)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36BF5AB-8277-CA80-5E5F-C2B1A90A5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9001248" cy="341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b="1" u="sng" dirty="0"/>
              <a:t>Exemplo 2</a:t>
            </a:r>
            <a:r>
              <a:rPr lang="pt-BR" sz="2000" b="1" dirty="0"/>
              <a:t>: Classificação de Persuasão </a:t>
            </a:r>
            <a:r>
              <a:rPr lang="pt-BR" sz="2000" dirty="0"/>
              <a:t>(de Azevedo e Gonçalves, 2026)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Realizou a avaliação empírica de um conjunto de </a:t>
            </a:r>
            <a:r>
              <a:rPr lang="pt-BR" sz="1800" b="1" dirty="0"/>
              <a:t>46 meta-variáveis</a:t>
            </a:r>
            <a:r>
              <a:rPr lang="pt-BR" sz="1800" dirty="0"/>
              <a:t> em um problema de classificação de persuasão em textos de memes.</a:t>
            </a:r>
            <a:br>
              <a:rPr lang="pt-BR" sz="1800" dirty="0"/>
            </a:br>
            <a:endParaRPr lang="pt-BR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Cenário de teste: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800" dirty="0"/>
              <a:t>1 </a:t>
            </a:r>
            <a:r>
              <a:rPr lang="pt-BR" sz="1800" dirty="0" err="1"/>
              <a:t>dataset</a:t>
            </a:r>
            <a:r>
              <a:rPr lang="pt-BR" sz="1800" dirty="0"/>
              <a:t> com textos de </a:t>
            </a:r>
            <a:br>
              <a:rPr lang="pt-BR" sz="1800" dirty="0"/>
            </a:br>
            <a:r>
              <a:rPr lang="pt-BR" sz="1800" dirty="0"/>
              <a:t>memes (</a:t>
            </a:r>
            <a:r>
              <a:rPr lang="pt-BR" sz="1800" dirty="0" err="1"/>
              <a:t>Dimitrov</a:t>
            </a:r>
            <a:r>
              <a:rPr lang="pt-BR" sz="1800" dirty="0"/>
              <a:t> et al. 2024). </a:t>
            </a:r>
            <a:br>
              <a:rPr lang="pt-BR" sz="1800" dirty="0"/>
            </a:br>
            <a:endParaRPr lang="pt-BR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800" dirty="0"/>
              <a:t>Algoritmos: Random Forest e </a:t>
            </a:r>
            <a:br>
              <a:rPr lang="pt-BR" sz="1800" dirty="0"/>
            </a:br>
            <a:r>
              <a:rPr lang="pt-BR" sz="1800" dirty="0"/>
              <a:t>Regressão Logística </a:t>
            </a:r>
            <a:r>
              <a:rPr lang="pt-BR" sz="2000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F1AEB4-00B3-F2D8-DA7F-3894E59C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400" y="3244850"/>
            <a:ext cx="39147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317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1784-28C1-C86F-DF5E-C793AE4A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BB28D05-0FD2-F1B0-E033-5E9E50F46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Exemplos em artigos científicos (4/5)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41BD63-84E0-D20C-29E9-207EC6849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4392736" cy="1691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b="1" u="sng" dirty="0"/>
              <a:t>Exemplo 2</a:t>
            </a:r>
            <a:r>
              <a:rPr lang="pt-BR" sz="2000" b="1" dirty="0"/>
              <a:t>: Classificação de Persuasão </a:t>
            </a:r>
            <a:r>
              <a:rPr lang="pt-BR" sz="2000" dirty="0"/>
              <a:t>(de Azevedo e Gonçalves, 2026)</a:t>
            </a:r>
            <a:br>
              <a:rPr lang="pt-BR" sz="2000" dirty="0"/>
            </a:br>
            <a:endParaRPr lang="pt-BR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Dentre as meta-variáveis avaliadas, o grupo que mais se destacou foi o das meta-variáveis relacionadas à </a:t>
            </a:r>
            <a:r>
              <a:rPr lang="pt-BR" sz="1800" b="1" dirty="0"/>
              <a:t>Retórica Aristotélica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2000" dirty="0"/>
              <a:t>Apelo para emoção (</a:t>
            </a:r>
            <a:r>
              <a:rPr lang="pt-BR" sz="2000" i="1" dirty="0" err="1">
                <a:solidFill>
                  <a:srgbClr val="C00000"/>
                </a:solidFill>
              </a:rPr>
              <a:t>pathos</a:t>
            </a:r>
            <a:r>
              <a:rPr lang="pt-BR" sz="2000" dirty="0"/>
              <a:t>); </a:t>
            </a:r>
            <a:br>
              <a:rPr lang="pt-BR" sz="2000" dirty="0"/>
            </a:br>
            <a:endParaRPr lang="pt-BR" sz="20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pt-BR" sz="2000" dirty="0"/>
              <a:t>Apelo para ética (</a:t>
            </a:r>
            <a:r>
              <a:rPr lang="pt-BR" sz="2000" i="1" dirty="0" err="1">
                <a:solidFill>
                  <a:srgbClr val="C00000"/>
                </a:solidFill>
              </a:rPr>
              <a:t>ethos</a:t>
            </a:r>
            <a:r>
              <a:rPr lang="pt-BR" sz="2000" dirty="0"/>
              <a:t>); </a:t>
            </a:r>
            <a:br>
              <a:rPr lang="pt-BR" sz="2000" dirty="0"/>
            </a:br>
            <a:endParaRPr lang="pt-BR" sz="20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pt-BR" sz="2000" dirty="0"/>
              <a:t>Apelo para lógica (</a:t>
            </a:r>
            <a:r>
              <a:rPr lang="pt-BR" sz="2000" i="1" dirty="0">
                <a:solidFill>
                  <a:srgbClr val="C00000"/>
                </a:solidFill>
              </a:rPr>
              <a:t>logos</a:t>
            </a:r>
            <a:r>
              <a:rPr lang="pt-BR" sz="2000" dirty="0"/>
              <a:t>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DC4993-F9D4-DD5F-18C0-71A6696B1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376" y="1124636"/>
            <a:ext cx="4057650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022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C347-6B06-46A8-185F-BEEA211E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841A53A-3E0E-4F13-F98D-F7E29DFEE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Exemplos em artigos científicos (5/5)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498EA3-DABC-0356-7946-51CAEEA56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7"/>
            <a:ext cx="9001248" cy="1043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b="1" u="sng" dirty="0"/>
              <a:t>Exemplo 2</a:t>
            </a:r>
            <a:r>
              <a:rPr lang="pt-BR" sz="2000" b="1" dirty="0"/>
              <a:t>: Classificação de Persuasão </a:t>
            </a:r>
            <a:r>
              <a:rPr lang="pt-BR" sz="2000" dirty="0"/>
              <a:t>(de Azevedo e Gonçalves, 2026)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800" dirty="0"/>
              <a:t>Um exemplo de extração de meta-variáveis a partir de um texto da base</a:t>
            </a: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F8C270-CE37-AB63-5CE5-8D8006A8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64" y="2051645"/>
            <a:ext cx="4464496" cy="501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632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2C3AA8C-0DBF-43AA-B351-8407EA41E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Prós e Contras (1/2)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40E58E-34C4-A659-B6A2-39FA083AE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5"/>
            <a:ext cx="9001248" cy="622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Engenharia de Características – Pontos positivos</a:t>
            </a:r>
          </a:p>
          <a:p>
            <a:pPr marL="800100" lvl="1" indent="-342900" eaLnBrk="1">
              <a:buFont typeface="Wingdings" panose="05000000000000000000" pitchFamily="2" charset="2"/>
              <a:buChar char="J"/>
              <a:defRPr/>
            </a:pPr>
            <a:r>
              <a:rPr lang="pt-BR" sz="2000" b="1" dirty="0"/>
              <a:t>Relação com a estatística</a:t>
            </a:r>
            <a:r>
              <a:rPr lang="pt-BR" sz="2000" dirty="0"/>
              <a:t> – as variáveis são definidas de uma forma bastante </a:t>
            </a:r>
            <a:r>
              <a:rPr lang="pt-BR" sz="2000" dirty="0">
                <a:solidFill>
                  <a:srgbClr val="C00000"/>
                </a:solidFill>
              </a:rPr>
              <a:t>relacionada</a:t>
            </a:r>
            <a:r>
              <a:rPr lang="pt-BR" sz="2000" dirty="0"/>
              <a:t> com o que é </a:t>
            </a:r>
            <a:r>
              <a:rPr lang="pt-BR" sz="2000" dirty="0">
                <a:solidFill>
                  <a:srgbClr val="C00000"/>
                </a:solidFill>
              </a:rPr>
              <a:t>tradicionalmente feito na estatística</a:t>
            </a:r>
            <a:r>
              <a:rPr lang="pt-BR" sz="2000" dirty="0"/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Através de estudo sobre os dados ou da experiência/conhecimento de especialistas.</a:t>
            </a:r>
            <a:br>
              <a:rPr lang="pt-BR" sz="1600" dirty="0"/>
            </a:br>
            <a:endParaRPr lang="pt-BR" sz="1600" dirty="0"/>
          </a:p>
          <a:p>
            <a:pPr marL="800100" lvl="1" indent="-342900" eaLnBrk="1">
              <a:buFont typeface="Wingdings" panose="05000000000000000000" pitchFamily="2" charset="2"/>
              <a:buChar char="J"/>
              <a:defRPr/>
            </a:pPr>
            <a:r>
              <a:rPr lang="pt-BR" sz="2000" b="1" dirty="0" err="1"/>
              <a:t>Interpretabilidade</a:t>
            </a:r>
            <a:r>
              <a:rPr lang="pt-BR" sz="2000" b="1" dirty="0"/>
              <a:t> </a:t>
            </a:r>
            <a:r>
              <a:rPr lang="pt-BR" sz="2000" dirty="0"/>
              <a:t>– As meta variáveis costumam ser interpretáveis.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Ótimas quando desejamos descobrir </a:t>
            </a:r>
            <a:r>
              <a:rPr lang="pt-BR" sz="1800" dirty="0">
                <a:solidFill>
                  <a:srgbClr val="C00000"/>
                </a:solidFill>
              </a:rPr>
              <a:t>a ligação entre evidências e resultados</a:t>
            </a:r>
            <a:r>
              <a:rPr lang="pt-BR" sz="1800" dirty="0"/>
              <a:t> utilizando métodos como Regressão Logística, por exemplo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(</a:t>
            </a:r>
            <a:r>
              <a:rPr lang="pt-BR" sz="1600" i="1" dirty="0"/>
              <a:t>podemos realizar a análise das variáveis que estão positivamente e negativamente associadas a uma classe</a:t>
            </a:r>
            <a:r>
              <a:rPr lang="pt-BR" sz="1800" dirty="0"/>
              <a:t>).</a:t>
            </a:r>
            <a:endParaRPr lang="pt-BR" sz="16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1600" dirty="0"/>
          </a:p>
          <a:p>
            <a:pPr marL="800100" lvl="1" indent="-342900" eaLnBrk="1">
              <a:buFont typeface="Wingdings" panose="05000000000000000000" pitchFamily="2" charset="2"/>
              <a:buChar char="J"/>
              <a:defRPr/>
            </a:pPr>
            <a:r>
              <a:rPr lang="pt-BR" sz="2000" b="1" dirty="0"/>
              <a:t>Vai além da dimensão morfológica </a:t>
            </a:r>
            <a:r>
              <a:rPr lang="pt-BR" sz="2000" dirty="0"/>
              <a:t>– Consegue capturar algumas informações sintáticas e semânticas (embora de forma limitada).</a:t>
            </a:r>
            <a:br>
              <a:rPr lang="pt-BR" sz="1600" dirty="0"/>
            </a:br>
            <a:r>
              <a:rPr lang="pt-BR" sz="1600" dirty="0"/>
              <a:t> </a:t>
            </a:r>
          </a:p>
          <a:p>
            <a:pPr marL="800100" lvl="1" indent="-342900" eaLnBrk="1">
              <a:buFont typeface="Wingdings" panose="05000000000000000000" pitchFamily="2" charset="2"/>
              <a:buChar char="J"/>
              <a:defRPr/>
            </a:pPr>
            <a:r>
              <a:rPr lang="pt-BR" sz="2000" b="1" dirty="0"/>
              <a:t>Flexibilidade </a:t>
            </a:r>
            <a:r>
              <a:rPr lang="pt-BR" sz="2000" dirty="0"/>
              <a:t>– Serve para a esmagadora maioria dos algoritmos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Os textos viram </a:t>
            </a:r>
            <a:r>
              <a:rPr lang="pt-BR" sz="1800" dirty="0">
                <a:solidFill>
                  <a:srgbClr val="C00000"/>
                </a:solidFill>
              </a:rPr>
              <a:t>vetores numéricos </a:t>
            </a:r>
            <a:r>
              <a:rPr lang="pt-BR" sz="1800" dirty="0"/>
              <a:t>que podem ser utilizados por algoritmos como </a:t>
            </a:r>
            <a:r>
              <a:rPr lang="pt-BR" sz="1800" dirty="0" err="1"/>
              <a:t>Perceptron</a:t>
            </a:r>
            <a:r>
              <a:rPr lang="pt-BR" sz="1800" dirty="0"/>
              <a:t>, Regressão Logística, k-Médias, Floresta Aleatória, Regressão Linear etc. (o NB é um dos poucos que não suporta...).</a:t>
            </a:r>
          </a:p>
          <a:p>
            <a:pPr marL="800100" lvl="1" indent="-342900" eaLnBrk="1">
              <a:buFont typeface="Wingdings" panose="05000000000000000000" pitchFamily="2" charset="2"/>
              <a:buChar char="J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502235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89435"/>
            <a:ext cx="9001248" cy="604678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Engenharia de Características – Pontos negativos</a:t>
            </a:r>
          </a:p>
          <a:p>
            <a:pPr marL="800100" lvl="1" indent="-342900" eaLnBrk="1">
              <a:buFont typeface="Wingdings" panose="05000000000000000000" pitchFamily="2" charset="2"/>
              <a:buChar char="L"/>
              <a:defRPr/>
            </a:pPr>
            <a:r>
              <a:rPr lang="pt-BR" sz="2000" b="1" dirty="0"/>
              <a:t>Não é o método mais eficaz</a:t>
            </a:r>
            <a:r>
              <a:rPr lang="pt-BR" sz="2400" dirty="0"/>
              <a:t> – </a:t>
            </a:r>
            <a:r>
              <a:rPr lang="pt-BR" dirty="0"/>
              <a:t>Os métodos neurais modernos geram automaticamente </a:t>
            </a:r>
            <a:r>
              <a:rPr lang="pt-BR" i="1" dirty="0"/>
              <a:t>features </a:t>
            </a:r>
            <a:r>
              <a:rPr lang="pt-BR" dirty="0"/>
              <a:t>que costumam produzir modelos com melhor desempenho.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</a:rPr>
              <a:t>Essas features são chamadas de </a:t>
            </a:r>
            <a:r>
              <a:rPr lang="pt-BR" sz="1800" dirty="0">
                <a:solidFill>
                  <a:srgbClr val="C00000"/>
                </a:solidFill>
              </a:rPr>
              <a:t>embeddings</a:t>
            </a:r>
            <a:r>
              <a:rPr lang="pt-BR" sz="1800" dirty="0">
                <a:solidFill>
                  <a:schemeClr val="tx1"/>
                </a:solidFill>
              </a:rPr>
              <a:t> e serão apresentadas em aulas futuras.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dirty="0"/>
          </a:p>
          <a:p>
            <a:pPr marL="800100" lvl="1" indent="-342900" eaLnBrk="1">
              <a:buFont typeface="Wingdings" panose="05000000000000000000" pitchFamily="2" charset="2"/>
              <a:buChar char="L"/>
              <a:defRPr/>
            </a:pPr>
            <a:r>
              <a:rPr lang="pt-BR" sz="2000" b="1" dirty="0"/>
              <a:t>Processo trabalhoso</a:t>
            </a:r>
            <a:r>
              <a:rPr lang="pt-BR" sz="2000" dirty="0"/>
              <a:t> –</a:t>
            </a:r>
            <a:r>
              <a:rPr lang="pt-BR" sz="2800" dirty="0"/>
              <a:t> </a:t>
            </a:r>
            <a:r>
              <a:rPr lang="pt-BR" dirty="0"/>
              <a:t>O processo de extração de meta-variáveis é artesanal</a:t>
            </a:r>
            <a:endParaRPr lang="pt-BR" sz="1800" dirty="0"/>
          </a:p>
          <a:p>
            <a:pPr marL="1200150" lvl="2" indent="-342900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Por isso, costuma exigir um esforço razoável de programação. </a:t>
            </a:r>
          </a:p>
          <a:p>
            <a:pPr marL="1200150" lvl="2" indent="-342900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Além disso, cada problema tem o seu conjunto de meta-variáveis adequado. Por exemplo, as variáveis para análise de sentimentos não são as mesmas usadas para classificação de spam.</a:t>
            </a:r>
            <a:br>
              <a:rPr lang="pt-BR" sz="1800" dirty="0"/>
            </a:br>
            <a:endParaRPr lang="pt-BR" dirty="0"/>
          </a:p>
          <a:p>
            <a:pPr marL="800100" lvl="1" indent="-342900" eaLnBrk="1">
              <a:buFont typeface="Wingdings" panose="05000000000000000000" pitchFamily="2" charset="2"/>
              <a:buChar char="L"/>
              <a:defRPr/>
            </a:pPr>
            <a:r>
              <a:rPr lang="pt-BR" sz="2000" b="1" dirty="0"/>
              <a:t>Tratamento semântico muito básico</a:t>
            </a:r>
            <a:r>
              <a:rPr lang="pt-BR" sz="2000" dirty="0"/>
              <a:t> –</a:t>
            </a:r>
            <a:r>
              <a:rPr lang="pt-BR" dirty="0"/>
              <a:t> captura aspectos semânticos (ex.: total de palavras negativas e positivas), mas de forma limitada. </a:t>
            </a:r>
          </a:p>
          <a:p>
            <a:pPr marL="1200150" lvl="2" indent="-342900"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Por exemplo, </a:t>
            </a:r>
            <a:r>
              <a:rPr lang="pt-BR" sz="1800" dirty="0">
                <a:solidFill>
                  <a:srgbClr val="C00000"/>
                </a:solidFill>
              </a:rPr>
              <a:t>não captura o contexto</a:t>
            </a:r>
            <a:r>
              <a:rPr lang="pt-BR" sz="1800" dirty="0"/>
              <a:t>, um aspecto muito relevante.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5A22C2-9B6C-9237-358E-BF43B1FFC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Prós e Contras (2/2)</a:t>
            </a:r>
          </a:p>
        </p:txBody>
      </p:sp>
    </p:spTree>
    <p:extLst>
      <p:ext uri="{BB962C8B-B14F-4D97-AF65-F5344CB8AC3E}">
        <p14:creationId xmlns:p14="http://schemas.microsoft.com/office/powerpoint/2010/main" val="39239976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C4AAC56-8796-AF9F-8FA0-CBDA11F24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A Nossa Tabela de Técnicas !!!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7E3FAB-CBF4-46FB-56D1-B4DFB5A3A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6"/>
            <a:ext cx="9073256" cy="39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Tabela: propriedades das técnicas apresentadas em nosso curso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27684D1-64CF-484D-7F82-313AC1E78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52221"/>
              </p:ext>
            </p:extLst>
          </p:nvPr>
        </p:nvGraphicFramePr>
        <p:xfrm>
          <a:off x="626015" y="1801549"/>
          <a:ext cx="9166825" cy="2961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0130">
                  <a:extLst>
                    <a:ext uri="{9D8B030D-6E8A-4147-A177-3AD203B41FA5}">
                      <a16:colId xmlns:a16="http://schemas.microsoft.com/office/drawing/2014/main" val="3823026223"/>
                    </a:ext>
                  </a:extLst>
                </a:gridCol>
                <a:gridCol w="4120391">
                  <a:extLst>
                    <a:ext uri="{9D8B030D-6E8A-4147-A177-3AD203B41FA5}">
                      <a16:colId xmlns:a16="http://schemas.microsoft.com/office/drawing/2014/main" val="48263045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04342721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1354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Técnica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Principais Aplicações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Dimensão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Paradigma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8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-Gramas de Caracteres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400" i="1" dirty="0"/>
                        <a:t>features</a:t>
                      </a:r>
                      <a:r>
                        <a:rPr lang="pt-BR" sz="1400" i="0" dirty="0"/>
                        <a:t> para modelos de </a:t>
                      </a:r>
                      <a:r>
                        <a:rPr lang="pt-BR" sz="1400" dirty="0" err="1"/>
                        <a:t>identif</a:t>
                      </a:r>
                      <a:r>
                        <a:rPr lang="pt-BR" sz="1400" dirty="0"/>
                        <a:t>. de plágio, detecção de idioma, atribuição de autor etc.; comparação de strings.</a:t>
                      </a:r>
                      <a:endParaRPr lang="pt-BR" sz="140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Simbólico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6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Bag 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 Words (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BoW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i="0" dirty="0"/>
                        <a:t>produzir </a:t>
                      </a:r>
                      <a:r>
                        <a:rPr lang="pt-BR" sz="1400" i="1" dirty="0"/>
                        <a:t>features</a:t>
                      </a:r>
                      <a:r>
                        <a:rPr lang="pt-BR" sz="1400" dirty="0"/>
                        <a:t> p/ </a:t>
                      </a:r>
                      <a:r>
                        <a:rPr lang="pt-BR" sz="1400" dirty="0" err="1"/>
                        <a:t>Naive</a:t>
                      </a:r>
                      <a:r>
                        <a:rPr lang="pt-BR" sz="1400" dirty="0"/>
                        <a:t> Bayes e algoritmos de classificação, </a:t>
                      </a:r>
                      <a:r>
                        <a:rPr lang="pt-BR" sz="1400" i="1" dirty="0" err="1"/>
                        <a:t>clustering</a:t>
                      </a:r>
                      <a:r>
                        <a:rPr lang="pt-BR" sz="1400" dirty="0"/>
                        <a:t>, regressão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Simbólico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92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Naïve Bayes 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Multinomial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dirty="0"/>
                        <a:t>análise de sentimentos, classificação de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Estatístico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896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Perceptron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dirty="0"/>
                        <a:t>classificação binária de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Fonética a</a:t>
                      </a:r>
                      <a:br>
                        <a:rPr lang="pt-BR" sz="1400" dirty="0"/>
                      </a:br>
                      <a:r>
                        <a:rPr lang="pt-BR" sz="1400" dirty="0"/>
                        <a:t>Semântica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Estatístico,  Neural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29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Engenharia de características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400" i="0" dirty="0"/>
                        <a:t>produzir </a:t>
                      </a:r>
                      <a:r>
                        <a:rPr lang="pt-BR" sz="1400" i="1" dirty="0"/>
                        <a:t>features</a:t>
                      </a:r>
                      <a:r>
                        <a:rPr lang="pt-BR" sz="1400" dirty="0"/>
                        <a:t> para algoritmos de classificação, </a:t>
                      </a:r>
                      <a:r>
                        <a:rPr lang="pt-BR" sz="1400" i="1" dirty="0" err="1"/>
                        <a:t>clustering</a:t>
                      </a:r>
                      <a:r>
                        <a:rPr lang="pt-BR" sz="1400" dirty="0"/>
                        <a:t>, regressão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Fonética a</a:t>
                      </a:r>
                      <a:br>
                        <a:rPr lang="pt-BR" sz="1400" dirty="0"/>
                      </a:br>
                      <a:r>
                        <a:rPr lang="pt-BR" sz="1400" dirty="0"/>
                        <a:t>Semântica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Simbólico</a:t>
                      </a:r>
                      <a:r>
                        <a:rPr lang="pt-BR" sz="1400"/>
                        <a:t>, Estatístico</a:t>
                      </a:r>
                      <a:endParaRPr lang="pt-B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276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753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Referências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15541"/>
            <a:ext cx="8857232" cy="554461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DE AZEVEDO, A. B. S.; GONÇALVES, E. C. Explorando meta-variáveis para a classificação de persuasão em textos de memes políticos. </a:t>
            </a:r>
            <a:r>
              <a:rPr lang="en-US" sz="1800" b="1" dirty="0" err="1"/>
              <a:t>Revista</a:t>
            </a:r>
            <a:r>
              <a:rPr lang="en-US" sz="1800" b="1" dirty="0"/>
              <a:t> </a:t>
            </a:r>
            <a:r>
              <a:rPr lang="en-US" sz="1800" b="1" dirty="0" err="1"/>
              <a:t>Eletrônica</a:t>
            </a:r>
            <a:r>
              <a:rPr lang="en-US" sz="1800" b="1" dirty="0"/>
              <a:t> de </a:t>
            </a:r>
            <a:r>
              <a:rPr lang="en-US" sz="1800" b="1" dirty="0" err="1"/>
              <a:t>Iniciação</a:t>
            </a:r>
            <a:r>
              <a:rPr lang="en-US" sz="1800" b="1" dirty="0"/>
              <a:t> </a:t>
            </a:r>
            <a:r>
              <a:rPr lang="en-US" sz="1800" b="1" dirty="0" err="1"/>
              <a:t>Científica</a:t>
            </a:r>
            <a:r>
              <a:rPr lang="en-US" sz="1800" b="1" dirty="0"/>
              <a:t> </a:t>
            </a:r>
            <a:r>
              <a:rPr lang="en-US" sz="1800" b="1" dirty="0" err="1"/>
              <a:t>em</a:t>
            </a:r>
            <a:r>
              <a:rPr lang="en-US" sz="1800" b="1" dirty="0"/>
              <a:t> </a:t>
            </a:r>
            <a:r>
              <a:rPr lang="en-US" sz="1800" b="1" dirty="0" err="1"/>
              <a:t>Computação</a:t>
            </a:r>
            <a:r>
              <a:rPr lang="en-US" sz="1800" dirty="0"/>
              <a:t>, v. 24, n. 1, p. 1–9, 2026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CARVALHO, J.; PLASTINO, A. </a:t>
            </a:r>
            <a:r>
              <a:rPr lang="en-US" sz="1800" dirty="0"/>
              <a:t>On the evaluation and combination of state-of-the-art features in Twitter sentiment analysis</a:t>
            </a:r>
            <a:r>
              <a:rPr lang="pt-BR" sz="1800" dirty="0"/>
              <a:t>. </a:t>
            </a:r>
            <a:r>
              <a:rPr lang="en-US" sz="1800" b="1" dirty="0"/>
              <a:t>Artificial Intelligence Review</a:t>
            </a:r>
            <a:r>
              <a:rPr lang="en-US" sz="1800" dirty="0"/>
              <a:t>, v. 54, p. 1887–1936, 2021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en-US" sz="1800" dirty="0"/>
              <a:t>DIMITROV, D. et al. SemEval-2024 task 4: Multilingual detection of persuasion techniques. </a:t>
            </a:r>
            <a:r>
              <a:rPr lang="en-US" sz="1800" i="1" dirty="0"/>
              <a:t>In</a:t>
            </a:r>
            <a:r>
              <a:rPr lang="en-US" sz="1800" dirty="0"/>
              <a:t>: Proc. of the 18</a:t>
            </a:r>
            <a:r>
              <a:rPr lang="en-US" sz="1800" baseline="30000" dirty="0"/>
              <a:t>th</a:t>
            </a:r>
            <a:r>
              <a:rPr lang="en-US" sz="1800" dirty="0"/>
              <a:t> International Workshop on Semantic Evaluation (SemEval-2024), 2024, Mexico City. </a:t>
            </a:r>
            <a:r>
              <a:rPr lang="en-US" sz="1800" b="1" dirty="0"/>
              <a:t>Anais</a:t>
            </a:r>
            <a:r>
              <a:rPr lang="en-US" sz="1800" dirty="0"/>
              <a:t> […] [</a:t>
            </a:r>
            <a:r>
              <a:rPr lang="en-US" sz="1800" i="1" dirty="0" err="1"/>
              <a:t>s.l</a:t>
            </a:r>
            <a:r>
              <a:rPr lang="en-US" sz="1800" dirty="0" err="1"/>
              <a:t>.</a:t>
            </a:r>
            <a:r>
              <a:rPr lang="en-US" sz="1800" dirty="0"/>
              <a:t>]: ACL, 2024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en-US" sz="1800" dirty="0"/>
              <a:t>JURAFSKY, D.; MARTIN, J. H. Logistic Regression. </a:t>
            </a:r>
            <a:r>
              <a:rPr lang="en-US" sz="1800" i="1" dirty="0"/>
              <a:t>In</a:t>
            </a:r>
            <a:r>
              <a:rPr lang="en-US" sz="1800" dirty="0"/>
              <a:t>: JURAFSKY, D.; MARTIN, J. H. </a:t>
            </a:r>
            <a:r>
              <a:rPr lang="en-US" sz="1800" b="1" dirty="0"/>
              <a:t>Speech and Language Processing</a:t>
            </a:r>
            <a:r>
              <a:rPr lang="en-US" sz="1800" dirty="0"/>
              <a:t>. </a:t>
            </a:r>
            <a:r>
              <a:rPr lang="pt-BR" sz="1800" dirty="0"/>
              <a:t>3. ed. </a:t>
            </a:r>
            <a:r>
              <a:rPr lang="pt-BR" sz="1800" i="1" dirty="0"/>
              <a:t>draft</a:t>
            </a:r>
            <a:r>
              <a:rPr lang="pt-BR" sz="1800" dirty="0"/>
              <a:t> [</a:t>
            </a:r>
            <a:r>
              <a:rPr lang="pt-BR" sz="1800" i="1" dirty="0" err="1"/>
              <a:t>s.l</a:t>
            </a:r>
            <a:r>
              <a:rPr lang="pt-BR" sz="1800" i="1" dirty="0"/>
              <a:t>.</a:t>
            </a:r>
            <a:r>
              <a:rPr lang="pt-BR" sz="1800" dirty="0"/>
              <a:t>] : [</a:t>
            </a:r>
            <a:r>
              <a:rPr lang="pt-BR" sz="1800" i="1" dirty="0"/>
              <a:t>s.n.</a:t>
            </a:r>
            <a:r>
              <a:rPr lang="pt-BR" sz="1800" dirty="0"/>
              <a:t>], 2026. </a:t>
            </a:r>
            <a:r>
              <a:rPr lang="en-US" sz="1800" dirty="0"/>
              <a:t>cap 4, p. 6-8. </a:t>
            </a:r>
            <a:r>
              <a:rPr lang="pt-BR" sz="1800" dirty="0"/>
              <a:t>Disponível em: </a:t>
            </a:r>
            <a:r>
              <a:rPr lang="pt-BR" sz="18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https://web.stanford.edu/~</a:t>
            </a:r>
            <a:r>
              <a:rPr lang="pt-BR" sz="1800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jurafsky</a:t>
            </a:r>
            <a:r>
              <a:rPr lang="pt-BR" sz="18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/slp3/</a:t>
            </a:r>
            <a:r>
              <a:rPr lang="pt-BR" sz="1800" dirty="0"/>
              <a:t>. Acesso em: 10 mar. 2026.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br>
              <a:rPr lang="en-US" sz="1800" dirty="0">
                <a:solidFill>
                  <a:srgbClr val="FF0000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rgbClr val="FF0000"/>
              </a:solidFill>
            </a:endParaRPr>
          </a:p>
          <a:p>
            <a:pPr marL="0" indent="0" eaLnBrk="1">
              <a:defRPr/>
            </a:pP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81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11011</TotalTime>
  <Words>2877</Words>
  <Application>Microsoft Office PowerPoint</Application>
  <PresentationFormat>Personalizar</PresentationFormat>
  <Paragraphs>314</Paragraphs>
  <Slides>28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Arial</vt:lpstr>
      <vt:lpstr>Courier New</vt:lpstr>
      <vt:lpstr>Symbol</vt:lpstr>
      <vt:lpstr>Times New Roman</vt:lpstr>
      <vt:lpstr>Univers</vt:lpstr>
      <vt:lpstr>Wingdings</vt:lpstr>
      <vt:lpstr>Tema do Office</vt:lpstr>
      <vt:lpstr>Tema do Office</vt:lpstr>
      <vt:lpstr>Apresentação do PowerPoint</vt:lpstr>
      <vt:lpstr>Sumário</vt:lpstr>
      <vt:lpstr>Introdução (1/4)</vt:lpstr>
      <vt:lpstr>Introdução (2/4)</vt:lpstr>
      <vt:lpstr>Introdução (3/4)</vt:lpstr>
      <vt:lpstr>Introdução (4/4)</vt:lpstr>
      <vt:lpstr>Engenharia de Características (1/2)</vt:lpstr>
      <vt:lpstr>Engenharia de Características (2/2)</vt:lpstr>
      <vt:lpstr>Exemplo 1: Classificador de Sentimentos (1/3)</vt:lpstr>
      <vt:lpstr>Exemplo 1: Classificador de Sentimentos (2/4)</vt:lpstr>
      <vt:lpstr>Exemplo 1: Classificador de Sentimentos (3/3)</vt:lpstr>
      <vt:lpstr>Exemplo 2: Classificador de Spam</vt:lpstr>
      <vt:lpstr>Engenharia de Características no Python (1/7)</vt:lpstr>
      <vt:lpstr>Engenharia de Características no Python (2/7)</vt:lpstr>
      <vt:lpstr>Engenharia de Características no Python (3/7)</vt:lpstr>
      <vt:lpstr>Engenharia de Características no Python (4/7)</vt:lpstr>
      <vt:lpstr>Engenharia de Características no Python (5/7)</vt:lpstr>
      <vt:lpstr>Engenharia de Características no Python (6/7)</vt:lpstr>
      <vt:lpstr>Engenharia de Características no Python (7/7)</vt:lpstr>
      <vt:lpstr>Exemplos em artigos científicos (1/5)</vt:lpstr>
      <vt:lpstr>Exemplos em artigos científicos (2/5)</vt:lpstr>
      <vt:lpstr>Exemplos em artigos científicos (3/5)</vt:lpstr>
      <vt:lpstr>Exemplos em artigos científicos (4/5)</vt:lpstr>
      <vt:lpstr>Exemplos em artigos científicos (5/5)</vt:lpstr>
      <vt:lpstr>Prós e Contras (1/2)</vt:lpstr>
      <vt:lpstr>Prós e Contras (2/2)</vt:lpstr>
      <vt:lpstr>A Nossa Tabela de Técnicas !!!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PLN</dc:title>
  <dc:subject/>
  <dc:creator/>
  <cp:keywords/>
  <dc:description/>
  <cp:lastModifiedBy>Eduardo Correa Goncalves</cp:lastModifiedBy>
  <cp:revision>792</cp:revision>
  <cp:lastPrinted>1601-01-01T00:00:00Z</cp:lastPrinted>
  <dcterms:created xsi:type="dcterms:W3CDTF">2017-05-04T17:21:05Z</dcterms:created>
  <dcterms:modified xsi:type="dcterms:W3CDTF">2026-03-19T20:55:53Z</dcterms:modified>
</cp:coreProperties>
</file>