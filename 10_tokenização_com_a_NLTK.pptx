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57"/>
  </p:notesMasterIdLst>
  <p:sldIdLst>
    <p:sldId id="401" r:id="rId3"/>
    <p:sldId id="257" r:id="rId4"/>
    <p:sldId id="607" r:id="rId5"/>
    <p:sldId id="427" r:id="rId6"/>
    <p:sldId id="669" r:id="rId7"/>
    <p:sldId id="665" r:id="rId8"/>
    <p:sldId id="546" r:id="rId9"/>
    <p:sldId id="667" r:id="rId10"/>
    <p:sldId id="670" r:id="rId11"/>
    <p:sldId id="666" r:id="rId12"/>
    <p:sldId id="640" r:id="rId13"/>
    <p:sldId id="641" r:id="rId14"/>
    <p:sldId id="618" r:id="rId15"/>
    <p:sldId id="624" r:id="rId16"/>
    <p:sldId id="706" r:id="rId17"/>
    <p:sldId id="639" r:id="rId18"/>
    <p:sldId id="647" r:id="rId19"/>
    <p:sldId id="677" r:id="rId20"/>
    <p:sldId id="708" r:id="rId21"/>
    <p:sldId id="709" r:id="rId22"/>
    <p:sldId id="710" r:id="rId23"/>
    <p:sldId id="711" r:id="rId24"/>
    <p:sldId id="712" r:id="rId25"/>
    <p:sldId id="707" r:id="rId26"/>
    <p:sldId id="682" r:id="rId27"/>
    <p:sldId id="683" r:id="rId28"/>
    <p:sldId id="681" r:id="rId29"/>
    <p:sldId id="684" r:id="rId30"/>
    <p:sldId id="685" r:id="rId31"/>
    <p:sldId id="686" r:id="rId32"/>
    <p:sldId id="689" r:id="rId33"/>
    <p:sldId id="713" r:id="rId34"/>
    <p:sldId id="687" r:id="rId35"/>
    <p:sldId id="688" r:id="rId36"/>
    <p:sldId id="714" r:id="rId37"/>
    <p:sldId id="692" r:id="rId38"/>
    <p:sldId id="636" r:id="rId39"/>
    <p:sldId id="637" r:id="rId40"/>
    <p:sldId id="638" r:id="rId41"/>
    <p:sldId id="691" r:id="rId42"/>
    <p:sldId id="690" r:id="rId43"/>
    <p:sldId id="650" r:id="rId44"/>
    <p:sldId id="625" r:id="rId45"/>
    <p:sldId id="626" r:id="rId46"/>
    <p:sldId id="627" r:id="rId47"/>
    <p:sldId id="628" r:id="rId48"/>
    <p:sldId id="630" r:id="rId49"/>
    <p:sldId id="631" r:id="rId50"/>
    <p:sldId id="632" r:id="rId51"/>
    <p:sldId id="634" r:id="rId52"/>
    <p:sldId id="678" r:id="rId53"/>
    <p:sldId id="693" r:id="rId54"/>
    <p:sldId id="715" r:id="rId55"/>
    <p:sldId id="370" r:id="rId56"/>
  </p:sldIdLst>
  <p:sldSz cx="10080625" cy="7559675"/>
  <p:notesSz cx="7559675" cy="106918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9FEC8"/>
    <a:srgbClr val="80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3203" autoAdjust="0"/>
  </p:normalViewPr>
  <p:slideViewPr>
    <p:cSldViewPr>
      <p:cViewPr varScale="1">
        <p:scale>
          <a:sx n="94" d="100"/>
          <a:sy n="94" d="100"/>
        </p:scale>
        <p:origin x="2112" y="10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A68CDF57-8ACF-40DB-8D99-2DA58A722A0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1F78324-8423-4376-A241-95B69997CD4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altLang="pt-BR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AA2A24D-76DA-4750-B38F-257C9743F355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B8922DF-4802-4427-8764-E0BEB2B72571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E7588BD-A79F-4A17-A14A-E094ED829A96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64A8CA7-AFAB-49A5-96D7-FA5394174D0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4C5CB920-0418-4AC0-94CC-B5496B4FFA7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4AF8E83E-5B99-40B3-BF8A-DC4677B4C37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1DE468-D5D4-421C-A325-5BADB7EBB869}" type="slidenum">
              <a:rPr lang="pt-BR" altLang="pt-BR" sz="1400" smtClean="0"/>
              <a:pPr>
                <a:spcBef>
                  <a:spcPct val="0"/>
                </a:spcBef>
              </a:pPr>
              <a:t>1</a:t>
            </a:fld>
            <a:endParaRPr lang="pt-BR" altLang="pt-BR" sz="1400" dirty="0"/>
          </a:p>
        </p:txBody>
      </p:sp>
      <p:sp>
        <p:nvSpPr>
          <p:cNvPr id="5123" name="Rectangle 1">
            <a:extLst>
              <a:ext uri="{FF2B5EF4-FFF2-40B4-BE49-F238E27FC236}">
                <a16:creationId xmlns:a16="http://schemas.microsoft.com/office/drawing/2014/main" id="{95F07787-B903-4F3E-87A9-16BCCFD1A8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8BDCD2E7-ABC4-420F-B792-EB602E093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C1601D47-D5D1-4E34-9EC6-5DA9C5D6969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A7EA03-21E6-4481-AE0C-11060730AD1C}" type="slidenum">
              <a:rPr lang="pt-BR" altLang="pt-BR" sz="1400" smtClean="0"/>
              <a:pPr>
                <a:spcBef>
                  <a:spcPct val="0"/>
                </a:spcBef>
              </a:pPr>
              <a:t>2</a:t>
            </a:fld>
            <a:endParaRPr lang="pt-BR" altLang="pt-BR" sz="1400" dirty="0"/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34F4D46A-09B6-4124-A683-85617D7246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39354126-9958-48EC-9F32-188687D80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41567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8417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30C5A-0A4F-3D8C-B941-00E22E316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D56379E7-9EA3-CD40-5759-BAECE2DFBB7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5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9E975AF0-D19C-CC38-6AAB-BAE5FEF0BA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523EB933-3B4F-A7EE-A95B-8DA83CC59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700894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7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33236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EC9B4-4ECC-B2B3-9D74-EBEBF8E54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2C2891F-05C4-6FBD-E38D-CA2793C2B3E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8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1FE846BF-0373-03B9-89E1-5F6480A508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2B58BA8C-F2F9-B0AE-ED07-9DE41625C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919962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80A40-5356-58CD-2502-63C49AF6B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C649D3C6-36C6-4942-78CD-D777D43B78D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9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7233DA00-211C-B732-9937-ADD70B8A8F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DD9B77C8-518B-9775-D4A7-C0233F109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38257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86366-D211-F63B-70DE-42F218CD7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DD8FADA7-598B-21C0-8B71-F5D363E2CC1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10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6B6C63C4-3135-6C5D-5F4D-18619FCB2D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84556F63-1512-0666-6768-0A9BFA2E4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54009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11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887244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12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079944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13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734064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14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91845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7F9F3-5FFF-9185-DB9D-D7E40BC1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92B19AE6-A1DD-210A-DE82-9CA2FF21701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15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FDAAC78F-19BC-C4E1-9BAA-C8966A7239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CF6CC033-6BCA-C707-FCD7-822F4C5554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58777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16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8522323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17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933064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84614-35EC-F7D4-6A0A-2DFD36B6D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C136AC0-91FF-ADDE-40BA-134EE1DF440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18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8E1DE381-8DF0-24A8-4D43-FD46A43B35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0EE1103-4148-CEDF-D29A-6C09B83AE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859576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347F0-15DA-D591-AA5F-82CF798A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6284C391-6DAE-5545-991A-9FC1369857F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19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F2F2469B-733A-84C1-71D8-9A8D2B0862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ABD62489-2177-BB85-13C8-33A90DB44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703160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C7F63-947E-AC90-618E-E9A3678F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7F946EC2-08DB-9C37-2110-8A951617A52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20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230CF83F-7317-CBCB-97CE-F56D2BDB7B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0FD8C0A6-97CA-0E63-FD57-7DAC4B0E7D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7510777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F10BD-35F4-C2F8-1B60-E0A57B7D2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DA3AC29D-9D0D-ED53-4A98-14B2D085810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21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668C62-E45A-C819-7E3E-8284C22E7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FF85684-F3F0-A744-F888-865EA67EF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534052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3A33C-BA52-185E-166D-54F38E1C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B15B7A3C-4721-7849-40C1-5B0106F0CAF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22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11D7B292-3DB6-A08E-685D-116CCCC81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02A885E5-2D16-CB15-A1E3-DCB2E4633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369793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AC385-129A-8C4F-BB3D-A901637D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34942971-B069-80DC-75A2-3B164527884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23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4E878CDE-5303-F4BD-7DCF-21C62CFA5F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CCE510D9-AAC9-70A6-4EB1-9DAF7BDF93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9628565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D411D-282B-16D6-2CB7-229FAAF7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A8D30584-E780-3A03-0FBF-76D14D9309B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24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9C1B4EF0-3428-62BB-549A-AAF584F611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4FDB4CD2-63D9-E19B-B3E6-A54E245AB4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049678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58236-C8D1-B769-3EE2-1A9F775E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6FD31754-983F-6A74-642A-BC44F1A122C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25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EE6C0104-66B0-0B8C-029D-8975A6AD2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C433F745-CF0A-3977-4B2D-E7F7D3F552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41002551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C9AF7-E4CE-A7F5-8DB2-9FE5809F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00C8B6BD-FA5D-D98B-2026-6FCC36EB08B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26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44BA4A1D-4C7E-31E6-AEF5-345894462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45863172-16CE-17B1-4220-CFE11DF921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99089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341C1-121C-C1FE-591D-D063FE17E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E9B3618-4F80-1394-6383-EFD75868617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27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CB30CBC-FBAC-8135-8441-D6F1BD290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AFE5BB13-1662-57A7-CB43-4079B4047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589246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ED28A-1EA6-B7F9-2A36-6FE4B939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DEB158D6-F73C-0788-7378-94B559F22E6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28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4465E76F-971E-56B6-88BD-D64FF70B11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A3F78BC8-5A77-529F-4D8D-2A595C214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6382394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49322-9844-71AD-1A5F-F3C5F991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91E2657E-CABB-E5B4-9D2C-A660BE0EF01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30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7C3430E4-BB12-AFD1-8696-6DA672C4A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10182868-BE88-3645-D865-E492FEA29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3560893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4DD8E-EFA1-D331-5668-D3DEA142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446D980B-721A-9839-8B72-E1D5F0D7F45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31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E40E4C40-2E22-954A-5147-18BDDF306A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6028EB13-EF6A-4824-7126-F185AF3B1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9545455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85912-D84A-E863-894B-21DE9ADB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FAB5038-4D76-AFC6-75BE-FD3301145DA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32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7D787D06-A448-72F8-992F-04932DC8C1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ED030BE3-2C2B-2800-0C00-442C89712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6567489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045B3-232F-BD74-F472-AB7A493F9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8871B90A-48B6-8A1E-1BF4-124FE3DF15F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33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33DF267D-A266-615D-EF15-D7B74932C6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DE569B74-DAA3-4603-BF02-708B5DAD7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6565850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DA1092-7627-A160-F31B-FA5776E72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F950C8F2-58D0-B6A9-9CC4-048FD62CDAF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34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972850B1-9594-CDF6-56BB-50A311CEF1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E0CB913-B93C-9E19-9386-4E32809F3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325092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F87F6-0AA0-C1AD-E2C5-9A045816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62F76FF9-2AC8-6A92-621F-57275C2CF67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35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7E4C6FC6-B0A9-7D23-E99A-BC0DD3CB0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E858C895-806B-DD6E-2DBC-45B6AF5F0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50584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C5D340-F572-5A2A-B6A8-F2915FE9F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D02EDE50-236C-FC1E-3762-4BE19D65D8B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36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AD077A5A-2F32-C817-A0F3-0F42E0DEA0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5740FC71-0793-C558-0D02-2F2DEF34A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0132389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37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456434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38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478542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39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900798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C968E-1690-0B7A-8A24-E051AFF1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7BA26A6-C054-1864-14FA-C753F74F765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40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F62296EE-6245-5DFE-0F96-2FAD343B6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0DC87C1F-FB36-2CBF-7B7D-A1ED72B56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9778855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62146-1866-15ED-FCE4-EC002129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450B768E-7C24-ED96-BF1B-D099ECCF21B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41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E0565398-A2C1-0AE2-D2A4-B941A32BA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78EF264C-8593-0042-EF86-CB7D9C6976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4686972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42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436042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43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243115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44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415682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45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274972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46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175663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47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040103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48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218208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49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695266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50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99518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B8967-3B56-3AD2-1A4D-0AAE60B2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99BC3CCD-6C08-78A7-99C8-48A90CF651C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51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A51F2DE8-E5E2-C1AA-3772-165181D2AA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D5FA64D0-C8C6-6179-CAA9-E841C19D3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919176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AE72F-E903-44B7-6384-DE331EE7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005F49E-9050-34B9-0D87-723B3B6276F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52</a:t>
            </a:fld>
            <a:endParaRPr lang="pt-BR" altLang="pt-BR" sz="1400" dirty="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3E6D4BF0-4BEE-B32E-CA85-8A9BFB76E7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A6002589-8B9F-B5DD-7FF7-40CE709BC5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99118353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97934A6-29ED-4E25-853C-CB8CB46BFA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136D03-F5BB-442F-8FD9-A22106E93E19}" type="slidenum">
              <a:rPr lang="pt-BR" altLang="pt-BR" sz="1400" smtClean="0"/>
              <a:pPr>
                <a:spcBef>
                  <a:spcPct val="0"/>
                </a:spcBef>
              </a:pPr>
              <a:t>54</a:t>
            </a:fld>
            <a:endParaRPr lang="pt-BR" altLang="pt-BR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B59A2C2F-71CB-451B-8E6D-A77BEE289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384ED63-73AE-422F-ABEF-5D38B51F7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33974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8953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89419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7167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03238" y="3959225"/>
            <a:ext cx="4457700" cy="23018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13338" y="3959225"/>
            <a:ext cx="4459287" cy="23018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21962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5856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3795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536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73551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07187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945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05675" y="2592388"/>
            <a:ext cx="2266950" cy="36687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03238" y="2592388"/>
            <a:ext cx="6650037" cy="36687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50895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FCE4B7-7E95-49E8-A202-1E46F551FE0B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4DC428-5BE2-4FAF-B6BE-A06C559B4E50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390521-68F6-4A35-8C9C-810249BBCDB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7BAC38-56CC-49ED-A76C-2FE12DE6AA47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03163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CE96CD-3319-4F56-A9AA-999E7CFF7CD1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1B4CA7-E15B-4890-828C-F221881456E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33995-B0C5-476E-B5EB-954D5DE6F2A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398197C-FBD1-4776-9936-A4E1F0393D6E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18939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70E9BC-9276-4778-A7EE-A9854304C239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E98A20-B0D9-4A3E-BD6C-4E29A619A04D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D31D1-27D6-4644-9B31-345E6C40016B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ABCD07-35E5-4654-A449-EF1CCDAE9ED1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02982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63600" y="1655763"/>
            <a:ext cx="4278313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94313" y="1655763"/>
            <a:ext cx="42799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6EA1AB-4C52-441A-8B7D-A847BB298680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94BD2D-1405-44C7-9AD8-B320177AC04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B14FE-C284-4514-BD86-2C0452FBE3F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F8A71ED-093F-4267-8910-A0D42AEBADC6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07149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7DC9856-6229-4D64-A41D-4ACA95E167E4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C032978-C1EC-4A9E-9B4F-6357CE8235F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7DD7D-3094-486A-8389-8632F2B2380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AD4D5DF-62C4-4D3A-BA46-0DC12F7CA1AF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54844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C2DBEF4-5C54-4AED-B2C5-C05E7E03DD8E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9018D1B-74F1-4019-830D-667AB5FE6AD9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61671-6EAE-4584-B5D4-45715BB0034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9060908-3F33-4CE5-80CF-380ADC3E3A0D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10524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A18396-D3D0-463A-AE52-9A77672059E3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5EA3F-8C76-4074-9E97-951FD5B25ADC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B83DC-4EEB-4E24-A342-F9B0F577204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8D60FC-E341-4ECE-876E-B68553516C12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593052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1B8B46-D8F6-4E70-ADC6-6ED715E587FB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FD56473-3568-4303-925B-351AE26769D8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BCF70-C8E2-4F18-8D36-0BD02C543CC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96DDE6E-E047-49D1-A054-2BC3A7BFCC56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72126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77381A8-51C7-4BE1-802F-19058BEC242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F6642A3-96D4-4928-86BD-2D03854CE88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79E82B-FFF3-4CBD-93CC-3A0D3B00973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1CF308-AC30-46D8-8A85-2135EF30EAF9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67429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F49534-819C-4AF4-A319-E870F09644C2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50B526E-63E7-45B3-805C-7A369631EC8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1E5DA-F8AF-4E89-A87F-9447DD19290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093937C-A196-4335-999C-BBC6EAC1C526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02519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97750" y="360363"/>
            <a:ext cx="2176463" cy="5791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63600" y="360363"/>
            <a:ext cx="6381750" cy="5791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6AA906-049A-45A4-B8A9-5078015EABE3}"/>
              </a:ext>
            </a:extLst>
          </p:cNvPr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E81FEB-DF83-447F-BB76-D37DDCEEAE32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C237F-95AC-4248-8B6D-DC6C36AAC60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60D6D54-ED4A-4E1D-A6DD-FDB660DE4C53}"/>
              </a:ext>
            </a:extLst>
          </p:cNvPr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780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516E97E5-1E60-433C-AC28-BE1985235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10090150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DB5DCF17-F06F-42C1-BE4D-AB81A1921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2592388"/>
            <a:ext cx="9069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DC5BE6F7-EC45-4E53-AFFC-DDA47FB43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3959225"/>
            <a:ext cx="9069387" cy="230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2.º Nível da estrutura de tópicos</a:t>
            </a:r>
          </a:p>
          <a:p>
            <a:pPr lvl="2"/>
            <a:r>
              <a:rPr lang="en-GB" altLang="pt-BR"/>
              <a:t>3.º Nível da estrutura de tópicos</a:t>
            </a:r>
          </a:p>
          <a:p>
            <a:pPr lvl="3"/>
            <a:r>
              <a:rPr lang="en-GB" altLang="pt-BR"/>
              <a:t>4.º Nível da estrutura de tópicos</a:t>
            </a:r>
          </a:p>
          <a:p>
            <a:pPr lvl="4"/>
            <a:r>
              <a:rPr lang="en-GB" altLang="pt-BR"/>
              <a:t>5.º Nível da estrutura de tópicos</a:t>
            </a:r>
          </a:p>
          <a:p>
            <a:pPr lvl="4"/>
            <a:r>
              <a:rPr lang="en-GB" altLang="pt-BR"/>
              <a:t>6.º Nível da estrutura de tópicos</a:t>
            </a:r>
          </a:p>
          <a:p>
            <a:pPr lvl="4"/>
            <a:r>
              <a:rPr lang="en-GB" altLang="pt-BR"/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ctr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>
            <a:extLst>
              <a:ext uri="{FF2B5EF4-FFF2-40B4-BE49-F238E27FC236}">
                <a16:creationId xmlns:a16="http://schemas.microsoft.com/office/drawing/2014/main" id="{A8490C46-B3BB-44B9-8CC1-A4E182E8343A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81501C54-3D72-4B59-89A9-32838F591ECD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548AC5C1-F14D-46BC-BC1D-30B4E04F034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5E9A4EF-8C25-43D7-BA45-C809140BB47F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endParaRPr lang="pt-BR" altLang="pt-BR"/>
          </a:p>
        </p:txBody>
      </p:sp>
      <p:pic>
        <p:nvPicPr>
          <p:cNvPr id="2053" name="Picture 4">
            <a:extLst>
              <a:ext uri="{FF2B5EF4-FFF2-40B4-BE49-F238E27FC236}">
                <a16:creationId xmlns:a16="http://schemas.microsoft.com/office/drawing/2014/main" id="{DA1353E0-8468-4241-9D0D-FE048560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0625" cy="7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4" name="Rectangle 5">
            <a:extLst>
              <a:ext uri="{FF2B5EF4-FFF2-40B4-BE49-F238E27FC236}">
                <a16:creationId xmlns:a16="http://schemas.microsoft.com/office/drawing/2014/main" id="{84BEDF50-3693-4EC3-846D-03DB6ADE9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63600" y="360363"/>
            <a:ext cx="8710613" cy="120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2055" name="Rectangle 6">
            <a:extLst>
              <a:ext uri="{FF2B5EF4-FFF2-40B4-BE49-F238E27FC236}">
                <a16:creationId xmlns:a16="http://schemas.microsoft.com/office/drawing/2014/main" id="{13B06460-3F54-41FA-8DA7-651865B35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3600" y="1655763"/>
            <a:ext cx="8710613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2.º Nível da estrutura de tópicos</a:t>
            </a:r>
          </a:p>
          <a:p>
            <a:pPr lvl="2"/>
            <a:r>
              <a:rPr lang="en-GB" altLang="pt-BR"/>
              <a:t>3.º Nível da estrutura de tópicos</a:t>
            </a:r>
          </a:p>
          <a:p>
            <a:pPr lvl="3"/>
            <a:r>
              <a:rPr lang="en-GB" altLang="pt-BR"/>
              <a:t>4.º Nível da estrutura de tópicos</a:t>
            </a:r>
          </a:p>
          <a:p>
            <a:pPr lvl="4"/>
            <a:r>
              <a:rPr lang="en-GB" altLang="pt-BR"/>
              <a:t>5.º Nível da estrutura de tópicos</a:t>
            </a:r>
          </a:p>
          <a:p>
            <a:pPr lvl="4"/>
            <a:r>
              <a:rPr lang="en-GB" altLang="pt-BR"/>
              <a:t>6.º Nível da estrutura de tópicos</a:t>
            </a:r>
          </a:p>
          <a:p>
            <a:pPr lvl="4"/>
            <a:r>
              <a:rPr lang="en-GB" altLang="pt-BR"/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2pPr>
      <a:lvl3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3pPr>
      <a:lvl4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4pPr>
      <a:lvl5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5pPr>
      <a:lvl6pPr marL="25146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6pPr>
      <a:lvl7pPr marL="29718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7pPr>
      <a:lvl8pPr marL="34290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8pPr>
      <a:lvl9pPr marL="3886200" indent="-228600" algn="l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1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ltk.org/index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H2izzt2Low-iGfgBqumycmgV4lDYkkxa?usp=sharing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bc.com/portuguese/curiosidades-43938059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ltk.org/install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H2izzt2Low-iGfgBqumycmgV4lDYkkxa?usp=sharin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ltk/nltk/issues/3293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t.co/j9yUOf2ipY" TargetMode="Externa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.ufrgs.br/~viviane/rslp/index.htm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researchgate.net/publication/3940125_A_Stemming_Algorithmm_for_the_Portuguese_Language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rasileiraspln.com/livro-pln/3a-edicao/parte-palavras/cap-caracteres-palavras/cap-caracteres-palavras.html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ursosextensao.usp.br/course/view.php?id=2721" TargetMode="External"/><Relationship Id="rId5" Type="http://schemas.openxmlformats.org/officeDocument/2006/relationships/hyperlink" Target="https://web.stanford.edu/~jurafsky/slp3/" TargetMode="External"/><Relationship Id="rId4" Type="http://schemas.openxmlformats.org/officeDocument/2006/relationships/hyperlink" Target="https://brasileiraspln.com/livro-pln/3a-edicao/parte-dados-avaliacao/cap-dataset-corpus/cap-dataset-corpu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088217B-92C5-98C7-78F8-7900C8CB5F9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04825" y="3833924"/>
            <a:ext cx="9070975" cy="230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/>
            <a:r>
              <a:rPr lang="pt-BR" altLang="pt-BR" b="1" u="sng" dirty="0"/>
              <a:t>Aula 10</a:t>
            </a:r>
            <a:r>
              <a:rPr lang="pt-BR" altLang="pt-BR" b="1" dirty="0"/>
              <a:t> – Introdução ao Processamento de Linguagem Natural (PLN) </a:t>
            </a:r>
          </a:p>
          <a:p>
            <a:pPr eaLnBrk="1"/>
            <a:r>
              <a:rPr lang="pt-BR" altLang="pt-BR" dirty="0"/>
              <a:t>Eduardo Corrêa Gonçalves</a:t>
            </a:r>
          </a:p>
          <a:p>
            <a:pPr eaLnBrk="1"/>
            <a:r>
              <a:rPr lang="pt-BR" altLang="pt-BR"/>
              <a:t>02/04/2026</a:t>
            </a:r>
            <a:endParaRPr lang="pt-BR" altLang="pt-BR" dirty="0"/>
          </a:p>
          <a:p>
            <a:pPr eaLnBrk="1"/>
            <a:endParaRPr lang="pt-BR" altLang="pt-BR" dirty="0"/>
          </a:p>
          <a:p>
            <a:pPr eaLnBrk="1"/>
            <a:endParaRPr lang="pt-BR" altLang="pt-B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0744438-B111-F53A-2C48-D6CE88E1B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59557"/>
            <a:ext cx="9070975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5280" rIns="0" bIns="0" numCol="1" anchor="ctr" anchorCtr="0" compatLnSpc="1">
            <a:prstTxWarp prst="textNoShape">
              <a:avLst/>
            </a:prstTxWarp>
          </a:bodyPr>
          <a:lstStyle>
            <a:lvl1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algn="ctr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algn="ctr" defTabSz="44926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algn="ctr" defTabSz="44926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algn="ctr" defTabSz="44926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algn="ctr" defTabSz="449263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000" b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r>
              <a:rPr lang="pt-BR" altLang="pt-BR" dirty="0"/>
              <a:t>Pré-Processamento de Textos com a ferramenta NLTK</a:t>
            </a:r>
            <a:endParaRPr lang="pt-BR" altLang="pt-BR" sz="2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22BF7216-9960-4544-9168-7A14138BA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1203325"/>
          </a:xfrm>
        </p:spPr>
        <p:txBody>
          <a:bodyPr tIns="28224"/>
          <a:lstStyle/>
          <a:p>
            <a:pPr eaLnBrk="1"/>
            <a:r>
              <a:rPr lang="pt-BR" altLang="pt-BR" dirty="0"/>
              <a:t>Sumário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F36EB396-A523-4315-ADE3-FEC3D824A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712200" cy="6264696"/>
          </a:xfrm>
        </p:spPr>
        <p:txBody>
          <a:bodyPr/>
          <a:lstStyle/>
          <a:p>
            <a:pPr eaLnBrk="1"/>
            <a:r>
              <a:rPr lang="pt-BR" altLang="pt-BR" sz="1800" b="1" dirty="0"/>
              <a:t>Introdução </a:t>
            </a:r>
            <a:br>
              <a:rPr lang="pt-BR" altLang="pt-BR" sz="1800" b="1" dirty="0"/>
            </a:br>
            <a:endParaRPr lang="pt-BR" altLang="pt-BR" sz="1800" b="1" dirty="0"/>
          </a:p>
          <a:p>
            <a:pPr eaLnBrk="1"/>
            <a:r>
              <a:rPr lang="pt-BR" altLang="pt-BR" sz="1800" b="1" dirty="0"/>
              <a:t>Conceitos Preliminares</a:t>
            </a:r>
          </a:p>
          <a:p>
            <a:pPr eaLnBrk="1"/>
            <a:r>
              <a:rPr lang="pt-BR" altLang="pt-BR" sz="1800" dirty="0"/>
              <a:t>	Corpus, Corpora e Corpus Anotado</a:t>
            </a:r>
          </a:p>
          <a:p>
            <a:pPr eaLnBrk="1"/>
            <a:r>
              <a:rPr lang="pt-BR" altLang="pt-BR" sz="1800" dirty="0"/>
              <a:t>	Palavra</a:t>
            </a:r>
          </a:p>
          <a:p>
            <a:pPr eaLnBrk="1"/>
            <a:r>
              <a:rPr lang="pt-BR" altLang="pt-BR" sz="1800" dirty="0"/>
              <a:t>	Token, </a:t>
            </a:r>
            <a:r>
              <a:rPr lang="pt-BR" altLang="pt-BR" sz="1800" dirty="0" err="1"/>
              <a:t>Type</a:t>
            </a:r>
            <a:r>
              <a:rPr lang="pt-BR" altLang="pt-BR" sz="1800" dirty="0"/>
              <a:t> e Vocabulário</a:t>
            </a:r>
          </a:p>
          <a:p>
            <a:pPr eaLnBrk="1"/>
            <a:r>
              <a:rPr lang="pt-BR" altLang="pt-BR" sz="1800" dirty="0"/>
              <a:t>	Normalização</a:t>
            </a:r>
            <a:br>
              <a:rPr lang="pt-BR" altLang="pt-BR" sz="1800" dirty="0"/>
            </a:br>
            <a:endParaRPr lang="pt-BR" altLang="pt-BR" sz="1800" dirty="0"/>
          </a:p>
          <a:p>
            <a:pPr eaLnBrk="1"/>
            <a:r>
              <a:rPr lang="pt-BR" altLang="pt-BR" sz="1800" b="1" dirty="0"/>
              <a:t>NLTK</a:t>
            </a:r>
          </a:p>
          <a:p>
            <a:pPr eaLnBrk="1"/>
            <a:r>
              <a:rPr lang="pt-BR" altLang="pt-BR" sz="1800" dirty="0"/>
              <a:t>	Tokenização</a:t>
            </a:r>
          </a:p>
          <a:p>
            <a:pPr eaLnBrk="1"/>
            <a:r>
              <a:rPr lang="pt-BR" altLang="pt-BR" sz="1800" dirty="0"/>
              <a:t>	Extraindo Frequências </a:t>
            </a:r>
          </a:p>
          <a:p>
            <a:pPr eaLnBrk="1"/>
            <a:r>
              <a:rPr lang="pt-BR" altLang="pt-BR" sz="1800" dirty="0"/>
              <a:t>	Bigramas, Trigramas e </a:t>
            </a:r>
            <a:r>
              <a:rPr lang="pt-BR" altLang="pt-BR" sz="1800" i="1" dirty="0"/>
              <a:t>n-</a:t>
            </a:r>
            <a:r>
              <a:rPr lang="pt-BR" altLang="pt-BR" sz="1800" dirty="0"/>
              <a:t>Gramas</a:t>
            </a:r>
          </a:p>
          <a:p>
            <a:pPr eaLnBrk="1"/>
            <a:r>
              <a:rPr lang="pt-BR" altLang="pt-BR" sz="1800" dirty="0"/>
              <a:t>	Removendo Stop Words</a:t>
            </a:r>
          </a:p>
          <a:p>
            <a:pPr eaLnBrk="1"/>
            <a:r>
              <a:rPr lang="pt-BR" altLang="pt-BR" sz="1800" dirty="0"/>
              <a:t>	</a:t>
            </a:r>
            <a:r>
              <a:rPr lang="pt-BR" altLang="pt-BR" sz="1800" dirty="0" err="1"/>
              <a:t>Stemming</a:t>
            </a:r>
            <a:endParaRPr lang="pt-BR" altLang="pt-BR" sz="1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Introdução (1/3)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9001248" cy="2232248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O que é Pré-Processamento de Texto?</a:t>
            </a:r>
            <a:endParaRPr lang="pt-BR" sz="1600" b="1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Conjunto de </a:t>
            </a:r>
            <a:r>
              <a:rPr lang="pt-BR" sz="2000" dirty="0">
                <a:solidFill>
                  <a:schemeClr val="tx1"/>
                </a:solidFill>
              </a:rPr>
              <a:t>tarefas que tem por objetivo... </a:t>
            </a:r>
            <a:br>
              <a:rPr lang="pt-BR" sz="2000" dirty="0">
                <a:solidFill>
                  <a:schemeClr val="tx1"/>
                </a:solidFill>
              </a:rPr>
            </a:br>
            <a:endParaRPr lang="pt-BR" sz="20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... </a:t>
            </a:r>
            <a:r>
              <a:rPr lang="pt-BR" sz="2000" dirty="0"/>
              <a:t>realizar a </a:t>
            </a:r>
            <a:r>
              <a:rPr lang="pt-BR" sz="2000" b="1" dirty="0">
                <a:solidFill>
                  <a:srgbClr val="C00000"/>
                </a:solidFill>
              </a:rPr>
              <a:t>conversão</a:t>
            </a:r>
            <a:r>
              <a:rPr lang="pt-BR" sz="2000" dirty="0"/>
              <a:t> de palavras, frases ou até mesmo caracteres do texto de entrada para um </a:t>
            </a:r>
            <a:r>
              <a:rPr lang="pt-BR" sz="2000" b="1" dirty="0">
                <a:solidFill>
                  <a:srgbClr val="C00000"/>
                </a:solidFill>
              </a:rPr>
              <a:t>formato</a:t>
            </a:r>
            <a:r>
              <a:rPr lang="pt-BR" sz="2000" dirty="0"/>
              <a:t> que seja </a:t>
            </a:r>
            <a:r>
              <a:rPr lang="pt-BR" sz="2000" b="1" dirty="0">
                <a:solidFill>
                  <a:srgbClr val="C00000"/>
                </a:solidFill>
              </a:rPr>
              <a:t>mais conveniente</a:t>
            </a:r>
            <a:r>
              <a:rPr lang="pt-BR" sz="2000" dirty="0"/>
              <a:t> para os algoritmos lidarem com ele </a:t>
            </a:r>
            <a:r>
              <a:rPr lang="pt-BR" sz="1600" dirty="0"/>
              <a:t>(FINATTO et al., 2024; JURAFSKY e MARTIN, 2026)</a:t>
            </a:r>
            <a:r>
              <a:rPr lang="pt-BR" sz="2000" dirty="0"/>
              <a:t>.</a:t>
            </a:r>
            <a:b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</a:b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F419E2A5-6474-5679-82D3-D876D0CA2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268" y="3563813"/>
            <a:ext cx="7776864" cy="2376265"/>
          </a:xfrm>
          <a:prstGeom prst="rect">
            <a:avLst/>
          </a:prstGeom>
          <a:solidFill>
            <a:srgbClr val="F9FEC8">
              <a:alpha val="49804"/>
            </a:srgbClr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sz="36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Vovó viu a uva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br>
              <a:rPr lang="pt-BR" altLang="pt-BR" dirty="0">
                <a:latin typeface="Arial" panose="020B0604020202020204" pitchFamily="34" charset="0"/>
              </a:rPr>
            </a:br>
            <a:br>
              <a:rPr lang="pt-BR" altLang="pt-BR" dirty="0">
                <a:latin typeface="Arial" panose="020B0604020202020204" pitchFamily="34" charset="0"/>
              </a:rPr>
            </a:br>
            <a:br>
              <a:rPr lang="pt-BR" altLang="pt-BR" dirty="0">
                <a:latin typeface="Arial" panose="020B0604020202020204" pitchFamily="34" charset="0"/>
              </a:rPr>
            </a:br>
            <a:br>
              <a:rPr lang="pt-BR" altLang="pt-BR" dirty="0">
                <a:latin typeface="Arial" panose="020B0604020202020204" pitchFamily="34" charset="0"/>
              </a:rPr>
            </a:br>
            <a:r>
              <a:rPr lang="pt-BR" altLang="pt-BR" sz="4400" dirty="0">
                <a:latin typeface="Arial" panose="020B0604020202020204" pitchFamily="34" charset="0"/>
              </a:rPr>
              <a:t>[</a:t>
            </a:r>
            <a:r>
              <a:rPr lang="pt-BR" altLang="pt-BR" sz="36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vovó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, 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ver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, 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uva</a:t>
            </a:r>
            <a:r>
              <a:rPr lang="pt-BR" altLang="pt-BR" sz="4400" dirty="0">
                <a:latin typeface="Arial" panose="020B0604020202020204" pitchFamily="34" charset="0"/>
              </a:rPr>
              <a:t>"]</a:t>
            </a:r>
            <a:endParaRPr lang="pt-BR" altLang="pt-BR" sz="4400" dirty="0">
              <a:solidFill>
                <a:srgbClr val="99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9792E146-92A5-095F-EF11-21F05EC48D7E}"/>
              </a:ext>
            </a:extLst>
          </p:cNvPr>
          <p:cNvSpPr/>
          <p:nvPr/>
        </p:nvSpPr>
        <p:spPr bwMode="auto">
          <a:xfrm>
            <a:off x="5216418" y="4426377"/>
            <a:ext cx="432048" cy="651135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C435661-9764-F9A2-6497-905254A61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6516140"/>
            <a:ext cx="8712200" cy="72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Arial"/>
                <a:ea typeface="Microsoft YaHei"/>
              </a:rPr>
              <a:t>O pré-processamento do texto costuma ser </a:t>
            </a:r>
            <a:r>
              <a:rPr lang="pt-BR" sz="2000" b="1" dirty="0">
                <a:latin typeface="Arial"/>
                <a:ea typeface="Microsoft YaHei"/>
              </a:rPr>
              <a:t>necessário</a:t>
            </a:r>
            <a:r>
              <a:rPr lang="pt-BR" sz="2000" dirty="0">
                <a:latin typeface="Arial"/>
                <a:ea typeface="Microsoft YaHei"/>
              </a:rPr>
              <a:t> para o desenvolvimento de </a:t>
            </a:r>
            <a:r>
              <a:rPr lang="pt-BR" sz="2000" b="1" dirty="0">
                <a:latin typeface="Arial"/>
                <a:ea typeface="Microsoft YaHei"/>
              </a:rPr>
              <a:t>qualquer aplicação </a:t>
            </a:r>
            <a:r>
              <a:rPr lang="pt-BR" sz="2000" dirty="0">
                <a:latin typeface="Arial"/>
                <a:ea typeface="Microsoft YaHei"/>
              </a:rPr>
              <a:t>de </a:t>
            </a:r>
            <a:r>
              <a:rPr lang="pt-BR" sz="2000" b="1" dirty="0">
                <a:latin typeface="Arial"/>
                <a:ea typeface="Microsoft YaHei"/>
              </a:rPr>
              <a:t>PLN</a:t>
            </a:r>
            <a:r>
              <a:rPr lang="pt-BR" sz="2000" dirty="0">
                <a:latin typeface="Arial"/>
                <a:ea typeface="Microsoft YaHei"/>
              </a:rPr>
              <a:t>. 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281536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Introdução (2/3)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857232" cy="2520280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Quais as tarefas de pré-processamento?</a:t>
            </a:r>
            <a:endParaRPr lang="pt-BR" sz="1600" b="1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A mais usual é a </a:t>
            </a:r>
            <a:r>
              <a:rPr lang="pt-BR" sz="2000" b="1" dirty="0">
                <a:solidFill>
                  <a:srgbClr val="C00000"/>
                </a:solidFill>
              </a:rPr>
              <a:t>tokenização</a:t>
            </a:r>
            <a:r>
              <a:rPr lang="pt-BR" sz="2000" dirty="0">
                <a:solidFill>
                  <a:schemeClr val="tx1"/>
                </a:solidFill>
              </a:rPr>
              <a:t>.</a:t>
            </a:r>
            <a:endParaRPr lang="pt-BR" sz="2000" b="1" dirty="0">
              <a:solidFill>
                <a:schemeClr val="tx1"/>
              </a:solidFill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Separação das palavras, números e pontuações do texto.</a:t>
            </a:r>
            <a:br>
              <a:rPr lang="pt-BR" sz="1800" dirty="0">
                <a:solidFill>
                  <a:schemeClr val="tx1"/>
                </a:solidFill>
              </a:rPr>
            </a:br>
            <a:endParaRPr lang="pt-BR" sz="18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Outra tarefa muito comum é a </a:t>
            </a:r>
            <a:r>
              <a:rPr lang="pt-BR" sz="2000" b="1" dirty="0">
                <a:solidFill>
                  <a:srgbClr val="C00000"/>
                </a:solidFill>
              </a:rPr>
              <a:t>normalização</a:t>
            </a:r>
            <a:r>
              <a:rPr lang="pt-BR" sz="2000" dirty="0">
                <a:solidFill>
                  <a:schemeClr val="tx1"/>
                </a:solidFill>
              </a:rPr>
              <a:t>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Conversão das palavras para alguma forma padrão.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58E4F74E-0C5E-38DC-5B25-7008ACC73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268" y="3419798"/>
            <a:ext cx="7776864" cy="2232248"/>
          </a:xfrm>
          <a:prstGeom prst="rect">
            <a:avLst/>
          </a:prstGeom>
          <a:solidFill>
            <a:srgbClr val="F9FEC8">
              <a:alpha val="49804"/>
            </a:srgbClr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sz="36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Vovó viu a uva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br>
              <a:rPr lang="pt-BR" altLang="pt-BR" dirty="0">
                <a:latin typeface="Arial" panose="020B0604020202020204" pitchFamily="34" charset="0"/>
              </a:rPr>
            </a:br>
            <a:br>
              <a:rPr lang="pt-BR" altLang="pt-BR" dirty="0">
                <a:latin typeface="Arial" panose="020B0604020202020204" pitchFamily="34" charset="0"/>
              </a:rPr>
            </a:br>
            <a:br>
              <a:rPr lang="pt-BR" altLang="pt-BR" dirty="0">
                <a:latin typeface="Arial" panose="020B0604020202020204" pitchFamily="34" charset="0"/>
              </a:rPr>
            </a:br>
            <a:br>
              <a:rPr lang="pt-BR" altLang="pt-BR" dirty="0">
                <a:latin typeface="Arial" panose="020B0604020202020204" pitchFamily="34" charset="0"/>
              </a:rPr>
            </a:br>
            <a:r>
              <a:rPr lang="pt-BR" altLang="pt-BR" sz="4400" dirty="0">
                <a:latin typeface="Arial" panose="020B0604020202020204" pitchFamily="34" charset="0"/>
              </a:rPr>
              <a:t>[</a:t>
            </a:r>
            <a:r>
              <a:rPr lang="pt-BR" altLang="pt-BR" sz="36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vovó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, 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ver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, </a:t>
            </a:r>
            <a:r>
              <a:rPr lang="pt-BR" altLang="pt-BR" sz="4400" dirty="0">
                <a:latin typeface="Arial" panose="020B0604020202020204" pitchFamily="34" charset="0"/>
              </a:rPr>
              <a:t>"</a:t>
            </a:r>
            <a:r>
              <a:rPr lang="pt-BR" altLang="pt-BR" sz="4400" dirty="0">
                <a:solidFill>
                  <a:srgbClr val="990000"/>
                </a:solidFill>
                <a:latin typeface="Arial" panose="020B0604020202020204" pitchFamily="34" charset="0"/>
              </a:rPr>
              <a:t>uva</a:t>
            </a:r>
            <a:r>
              <a:rPr lang="pt-BR" altLang="pt-BR" sz="4400" dirty="0">
                <a:latin typeface="Arial" panose="020B0604020202020204" pitchFamily="34" charset="0"/>
              </a:rPr>
              <a:t>"]</a:t>
            </a:r>
            <a:endParaRPr lang="pt-BR" altLang="pt-BR" sz="4400" dirty="0">
              <a:solidFill>
                <a:srgbClr val="99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A91643A2-8910-1052-91AF-B928EB7FB76D}"/>
              </a:ext>
            </a:extLst>
          </p:cNvPr>
          <p:cNvSpPr/>
          <p:nvPr/>
        </p:nvSpPr>
        <p:spPr bwMode="auto">
          <a:xfrm>
            <a:off x="5003676" y="4210354"/>
            <a:ext cx="432048" cy="651135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pt-BR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3D76FFE-1372-5A02-B47B-35A48FDD0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99" y="5868069"/>
            <a:ext cx="8569201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solidFill>
                  <a:schemeClr val="tx1"/>
                </a:solidFill>
              </a:rPr>
              <a:t>No exemplo acima</a:t>
            </a:r>
            <a:r>
              <a:rPr lang="pt-BR" sz="2000" dirty="0">
                <a:solidFill>
                  <a:schemeClr val="tx1"/>
                </a:solidFill>
              </a:rPr>
              <a:t>: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</a:rPr>
              <a:t>as palavras foram </a:t>
            </a:r>
            <a:r>
              <a:rPr lang="pt-BR" sz="1800" dirty="0">
                <a:solidFill>
                  <a:srgbClr val="C00000"/>
                </a:solidFill>
              </a:rPr>
              <a:t>separadas</a:t>
            </a:r>
            <a:r>
              <a:rPr lang="pt-BR" sz="1800" dirty="0">
                <a:solidFill>
                  <a:schemeClr val="tx1"/>
                </a:solidFill>
              </a:rPr>
              <a:t> e</a:t>
            </a:r>
            <a:r>
              <a:rPr lang="pt-BR" sz="1800" dirty="0">
                <a:solidFill>
                  <a:srgbClr val="C00000"/>
                </a:solidFill>
              </a:rPr>
              <a:t> </a:t>
            </a:r>
            <a:r>
              <a:rPr lang="pt-BR" sz="1800" dirty="0">
                <a:solidFill>
                  <a:schemeClr val="tx1"/>
                </a:solidFill>
              </a:rPr>
              <a:t>convertidas p/ </a:t>
            </a:r>
            <a:r>
              <a:rPr lang="pt-BR" sz="1800" dirty="0">
                <a:solidFill>
                  <a:srgbClr val="C00000"/>
                </a:solidFill>
              </a:rPr>
              <a:t>minúsculo</a:t>
            </a:r>
            <a:r>
              <a:rPr lang="pt-BR" sz="1800" dirty="0">
                <a:solidFill>
                  <a:schemeClr val="tx1"/>
                </a:solidFill>
              </a:rPr>
              <a:t>;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</a:rPr>
              <a:t>a palavra “</a:t>
            </a:r>
            <a:r>
              <a:rPr lang="pt-BR" sz="1800" dirty="0">
                <a:solidFill>
                  <a:srgbClr val="C00000"/>
                </a:solidFill>
              </a:rPr>
              <a:t>a</a:t>
            </a:r>
            <a:r>
              <a:rPr lang="pt-BR" sz="1800" dirty="0">
                <a:solidFill>
                  <a:schemeClr val="tx1"/>
                </a:solidFill>
              </a:rPr>
              <a:t>” (artigo) foi removida;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tx1"/>
                </a:solidFill>
              </a:rPr>
              <a:t>“</a:t>
            </a:r>
            <a:r>
              <a:rPr lang="pt-BR" sz="1800" dirty="0">
                <a:solidFill>
                  <a:srgbClr val="C00000"/>
                </a:solidFill>
              </a:rPr>
              <a:t>viu</a:t>
            </a:r>
            <a:r>
              <a:rPr lang="pt-BR" sz="1800" dirty="0">
                <a:solidFill>
                  <a:schemeClr val="tx1"/>
                </a:solidFill>
              </a:rPr>
              <a:t>” (pretérito) foi trocado por “</a:t>
            </a:r>
            <a:r>
              <a:rPr lang="pt-BR" sz="1800" dirty="0">
                <a:solidFill>
                  <a:srgbClr val="C00000"/>
                </a:solidFill>
              </a:rPr>
              <a:t>ver</a:t>
            </a:r>
            <a:r>
              <a:rPr lang="pt-BR" sz="1800" dirty="0">
                <a:solidFill>
                  <a:schemeClr val="tx1"/>
                </a:solidFill>
              </a:rPr>
              <a:t>” (infinitivo).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8466116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8E4A6-F565-77E8-D530-BC9DAC1D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CD8E606E-0FE6-D587-9A2A-D5597A6D4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Introdução (3/3)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1CCB79CC-BBC3-A118-AFCE-9B25C5670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857232" cy="6120680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Aula de Hoje</a:t>
            </a:r>
            <a:endParaRPr lang="pt-BR" sz="1600" b="1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A aula de hoje cobre o pré-processamento na prática com o pacote </a:t>
            </a:r>
            <a:r>
              <a:rPr lang="pt-BR" sz="2000" b="1" dirty="0">
                <a:solidFill>
                  <a:srgbClr val="C00000"/>
                </a:solidFill>
              </a:rPr>
              <a:t>NLTK</a:t>
            </a:r>
            <a:r>
              <a:rPr lang="pt-BR" sz="2000" b="1" dirty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(</a:t>
            </a:r>
            <a:r>
              <a:rPr lang="pt-BR" sz="20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https://www.nltk.org/index.html</a:t>
            </a:r>
            <a:r>
              <a:rPr lang="pt-BR" sz="2000" dirty="0">
                <a:solidFill>
                  <a:schemeClr val="tx1"/>
                </a:solidFill>
              </a:rPr>
              <a:t>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b="1" i="1" dirty="0">
                <a:solidFill>
                  <a:schemeClr val="tx1"/>
                </a:solidFill>
              </a:rPr>
              <a:t>Toolkit</a:t>
            </a:r>
            <a:r>
              <a:rPr lang="pt-BR" sz="1800" dirty="0">
                <a:solidFill>
                  <a:schemeClr val="tx1"/>
                </a:solidFill>
              </a:rPr>
              <a:t> (biblioteca de ferramentas) para a utilização dos princípios de PLN no Python</a:t>
            </a:r>
            <a:br>
              <a:rPr lang="pt-BR" sz="1800" dirty="0">
                <a:solidFill>
                  <a:schemeClr val="tx1"/>
                </a:solidFill>
              </a:rPr>
            </a:br>
            <a:endParaRPr lang="pt-BR" sz="18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Porém... antes de examinarmos a NLTK, vamos apresentar algumas definições importantes: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</a:rPr>
              <a:t>Corpus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</a:rPr>
              <a:t>Corpora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</a:rPr>
              <a:t>Corpus Anotado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</a:rPr>
              <a:t>Palavra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</a:rPr>
              <a:t>Token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 err="1">
                <a:solidFill>
                  <a:srgbClr val="0070C0"/>
                </a:solidFill>
              </a:rPr>
              <a:t>Type</a:t>
            </a:r>
            <a:endParaRPr lang="pt-BR" sz="1800" dirty="0">
              <a:solidFill>
                <a:srgbClr val="0070C0"/>
              </a:solidFill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</a:rPr>
              <a:t>Vocabulário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</a:rPr>
              <a:t>Normalização de tokens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4842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DB6E84C-4A83-4C81-327B-5089F8B95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92924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Link para notebooks com o exemplos da aula: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A47A63-00AC-AC29-0C09-04347BC00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259557"/>
            <a:ext cx="9073256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Recursos da biblioteca </a:t>
            </a:r>
            <a:r>
              <a:rPr lang="pt-BR" sz="2000" b="1" dirty="0">
                <a:solidFill>
                  <a:srgbClr val="C00000"/>
                </a:solidFill>
              </a:rPr>
              <a:t>NLTK</a:t>
            </a:r>
            <a:r>
              <a:rPr lang="pt-BR" sz="2000" dirty="0"/>
              <a:t> para: Tokenização, Frequência de Palavras e </a:t>
            </a:r>
            <a:r>
              <a:rPr lang="pt-BR" sz="2000" i="1" dirty="0"/>
              <a:t>n</a:t>
            </a:r>
            <a:r>
              <a:rPr lang="pt-BR" sz="2000" dirty="0"/>
              <a:t>-gramas de palavras, Stop Words e </a:t>
            </a:r>
            <a:r>
              <a:rPr lang="pt-BR" sz="2000" dirty="0" err="1"/>
              <a:t>Stemming</a:t>
            </a:r>
            <a:endParaRPr lang="pt-BR" sz="2000" dirty="0"/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https://colab.research.google.com/drive/1H2izzt2Low-iGfgBqumycmgV4lDYkkxa?usp=sharing</a:t>
            </a:r>
            <a:endParaRPr lang="pt-BR" sz="2000" dirty="0">
              <a:solidFill>
                <a:srgbClr val="FF0000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rgbClr val="FF0000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Os exemplos são baseados nos apresentados em PARDO; SANTOS; SOUZA (2021).</a:t>
            </a: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rgbClr val="FF0000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rgbClr val="FF0000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61237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(1/11)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857232" cy="1656185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Corpus </a:t>
            </a:r>
            <a:r>
              <a:rPr lang="pt-BR" dirty="0"/>
              <a:t>(</a:t>
            </a:r>
            <a:r>
              <a:rPr lang="pt-BR" b="1" dirty="0">
                <a:solidFill>
                  <a:srgbClr val="0070C0"/>
                </a:solidFill>
              </a:rPr>
              <a:t>plural: </a:t>
            </a:r>
            <a:r>
              <a:rPr lang="pt-BR" dirty="0">
                <a:solidFill>
                  <a:srgbClr val="0070C0"/>
                </a:solidFill>
              </a:rPr>
              <a:t>Corpora</a:t>
            </a:r>
            <a:r>
              <a:rPr lang="pt-BR" dirty="0"/>
              <a:t>)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Conjunto de textos coletados e organizados com algum propósito.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Pode ser entendido como um </a:t>
            </a:r>
            <a:r>
              <a:rPr lang="pt-BR" sz="2000" i="1" dirty="0" err="1">
                <a:latin typeface="+mj-lt"/>
                <a:sym typeface="Symbol" panose="05050102010706020507" pitchFamily="18" charset="2"/>
              </a:rPr>
              <a:t>dataset</a:t>
            </a:r>
            <a:r>
              <a:rPr lang="pt-BR" sz="2000" i="1" dirty="0">
                <a:latin typeface="+mj-lt"/>
                <a:sym typeface="Symbol" panose="05050102010706020507" pitchFamily="18" charset="2"/>
              </a:rPr>
              <a:t>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em que cada observação corresponde a um documento (texto).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6F11442-A0E6-E2C1-6DFF-A29CBAE20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240" y="2771725"/>
            <a:ext cx="5448936" cy="4550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3474FD2-E17C-E861-32BC-619A7263061A}"/>
              </a:ext>
            </a:extLst>
          </p:cNvPr>
          <p:cNvSpPr txBox="1"/>
          <p:nvPr/>
        </p:nvSpPr>
        <p:spPr>
          <a:xfrm>
            <a:off x="359792" y="2771725"/>
            <a:ext cx="38970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b="1" dirty="0">
                <a:latin typeface="+mj-lt"/>
                <a:sym typeface="Symbol" panose="05050102010706020507" pitchFamily="18" charset="2"/>
              </a:rPr>
              <a:t>Exemplo</a:t>
            </a:r>
            <a:r>
              <a:rPr lang="pt-BR" dirty="0">
                <a:latin typeface="+mj-lt"/>
                <a:sym typeface="Symbol" panose="05050102010706020507" pitchFamily="18" charset="2"/>
              </a:rPr>
              <a:t>: </a:t>
            </a:r>
            <a:r>
              <a:rPr lang="pt-BR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Brown Corpus </a:t>
            </a:r>
            <a:br>
              <a:rPr lang="pt-BR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</a:br>
            <a:endParaRPr lang="pt-BR" dirty="0">
              <a:solidFill>
                <a:srgbClr val="C00000"/>
              </a:solidFill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+mj-lt"/>
                <a:sym typeface="Symbol" panose="05050102010706020507" pitchFamily="18" charset="2"/>
              </a:rPr>
              <a:t>Famoso corpus que contém 500 textos em Inglês.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dirty="0">
              <a:latin typeface="+mj-lt"/>
              <a:sym typeface="Symbol" panose="05050102010706020507" pitchFamily="18" charset="2"/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+mj-lt"/>
                <a:sym typeface="Symbol" panose="05050102010706020507" pitchFamily="18" charset="2"/>
              </a:rPr>
              <a:t>Os textos são de diferentes gêneros: jornalísticos, ficção, acadêmicos etc.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endParaRPr lang="pt-BR" dirty="0">
              <a:latin typeface="+mj-lt"/>
              <a:sym typeface="Symbol" panose="05050102010706020507" pitchFamily="18" charset="2"/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+mj-lt"/>
                <a:sym typeface="Symbol" panose="05050102010706020507" pitchFamily="18" charset="2"/>
              </a:rPr>
              <a:t>Possui  1 mi de palavras no total.</a:t>
            </a:r>
          </a:p>
        </p:txBody>
      </p:sp>
    </p:spTree>
    <p:extLst>
      <p:ext uri="{BB962C8B-B14F-4D97-AF65-F5344CB8AC3E}">
        <p14:creationId xmlns:p14="http://schemas.microsoft.com/office/powerpoint/2010/main" val="29547228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4126E-E165-B04D-2367-1AC23731F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9A594C-3509-991A-51C4-516E719FC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(2/11)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CAE406DB-6EB5-C7D3-0A81-15D51BE917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857232" cy="5904657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Corpus Anotado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É um corpus em que cada documento está anotado – ou classificado, ou rotulado, ou etiquetado de alguma forma </a:t>
            </a:r>
            <a:r>
              <a:rPr lang="pt-BR" sz="1600" dirty="0">
                <a:latin typeface="+mj-lt"/>
                <a:sym typeface="Symbol" panose="05050102010706020507" pitchFamily="18" charset="2"/>
              </a:rPr>
              <a:t>(FREITAS 2024).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 anotação pode ser de 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diferentes naturezas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e pode estar associada a 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diferentes segmentos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de texto (palavras, expressões, frases, parágrafos ou o texto inteiro).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latin typeface="+mj-lt"/>
                <a:sym typeface="Symbol" panose="05050102010706020507" pitchFamily="18" charset="2"/>
              </a:rPr>
              <a:t>Exemplos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:</a:t>
            </a:r>
            <a:endParaRPr lang="pt-BR" sz="1800" dirty="0"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Indicar se uma postagem em rede social expressa discurso de ódio;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Indicar qual sentimento um texto ou palavra evoca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.</a:t>
            </a:r>
            <a:endParaRPr lang="pt-BR" sz="1800" dirty="0">
              <a:solidFill>
                <a:srgbClr val="0070C0"/>
              </a:solidFill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Indicar a classe gramatical de uma palavra;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Indicar se duas frases são sinônimas ou não;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Relacionar uma palavra a pronomes e todas as outras maneiras pelas quais esta palavra é referida ao longo de um texto;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Indicar se uma frase é uma boa legenda para uma imagem;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3259797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12B05-F235-D4B9-BAF7-112FC3B07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ADE38716-7FEB-F587-583E-9FFC6A45C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(3/11)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5EFB5282-14EC-2DD1-DEF6-C292FAC12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9073256" cy="1152129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Corpus Anotado –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Exemplo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: </a:t>
            </a:r>
            <a:r>
              <a:rPr lang="pt-BR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sentiment140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Corpus anotado c/ o sentimento (positivo ou negativo) de 360 tweets. </a:t>
            </a:r>
            <a:endParaRPr lang="pt-BR" sz="1800" dirty="0"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600" i="1" dirty="0">
                <a:solidFill>
                  <a:srgbClr val="0070C0"/>
                </a:solidFill>
                <a:sym typeface="Symbol" panose="05050102010706020507" pitchFamily="18" charset="2"/>
              </a:rPr>
              <a:t>Foi usado na última aula para treinar e testar um classificador de sentimentos ! </a:t>
            </a:r>
            <a:endParaRPr lang="pt-BR" sz="1800" i="1" dirty="0">
              <a:solidFill>
                <a:srgbClr val="0070C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AC73E17-ECCD-B21D-BA81-DA4BA9D4E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108" y="2483693"/>
            <a:ext cx="7898240" cy="49107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28702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F15F-3458-4062-C175-FD17EC7A4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CF74549-47A4-5DB4-00C9-73EECEDFF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929240" cy="6227787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Palavra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De um modo geral, os modelos de PLN trabalham as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palavras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como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unidade primária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de processamento.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Nas </a:t>
            </a:r>
            <a:r>
              <a:rPr lang="pt-BR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línguas europeias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(como 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Português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), podemos considerar que uma palavra é uma unidade grafológica delimitada entre espaços em branco na representação gráfica, ou entre um espaço em branco e um sinal de pontuação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 </a:t>
            </a:r>
            <a:r>
              <a:rPr lang="pt-BR" sz="1600" dirty="0"/>
              <a:t>(FINATTO et al., 2024)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kern="12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  <a:t>Por outro lado, alguns idiomas, como </a:t>
            </a:r>
            <a:r>
              <a:rPr lang="pt-BR" sz="2000" kern="1200" dirty="0">
                <a:solidFill>
                  <a:srgbClr val="C00000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  <a:t>Japonês</a:t>
            </a:r>
            <a:r>
              <a:rPr lang="pt-BR" sz="2000" kern="12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  <a:t>, não usam espaços entre as palavras!!!</a:t>
            </a:r>
            <a:br>
              <a:rPr lang="pt-BR" sz="2000" kern="12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endParaRPr lang="pt-BR" sz="2000" dirty="0">
              <a:solidFill>
                <a:schemeClr val="dk1"/>
              </a:solidFill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kern="12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  <a:t>Além disso, mesmo em textos de línguas europeias há </a:t>
            </a:r>
            <a:r>
              <a:rPr lang="pt-BR" sz="2000" b="1" kern="1200" dirty="0">
                <a:solidFill>
                  <a:srgbClr val="C00000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  <a:t>exceções</a:t>
            </a:r>
            <a:r>
              <a:rPr lang="pt-BR" sz="2000" kern="12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  <a:t> para a definição acima (veremos...)</a:t>
            </a:r>
            <a:br>
              <a:rPr lang="pt-BR" sz="2000" kern="12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marL="57150" indent="0" eaLnBrk="1"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452E951-73EA-BA9E-9654-E9BBE07AA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(4/11)</a:t>
            </a:r>
          </a:p>
        </p:txBody>
      </p:sp>
    </p:spTree>
    <p:extLst>
      <p:ext uri="{BB962C8B-B14F-4D97-AF65-F5344CB8AC3E}">
        <p14:creationId xmlns:p14="http://schemas.microsoft.com/office/powerpoint/2010/main" val="38449813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(5/11)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489654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Nos textos, as palavras </a:t>
            </a:r>
            <a:r>
              <a:rPr lang="pt-BR" b="1" i="1" dirty="0"/>
              <a:t>quase </a:t>
            </a:r>
            <a:r>
              <a:rPr lang="pt-BR" b="1" dirty="0"/>
              <a:t>sempre: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Estão separadas por um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espaço em branco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ou entre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 espaço em branco e sinal de pontuação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Possuem apenas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letras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,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números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e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hífen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 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Vovó viu a uva.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Cadê meu guarda-chuva?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2024 é um ano bissexto.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Ih!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pneumoultramicroscopicossilicovulcanoconiótico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”*</a:t>
            </a:r>
          </a:p>
          <a:p>
            <a:pPr marL="457200" lvl="1" indent="0" eaLnBrk="1"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EDCD1B-ADE2-DB30-A682-9E5A13D387CC}"/>
              </a:ext>
            </a:extLst>
          </p:cNvPr>
          <p:cNvSpPr txBox="1"/>
          <p:nvPr/>
        </p:nvSpPr>
        <p:spPr>
          <a:xfrm>
            <a:off x="647824" y="6693256"/>
            <a:ext cx="9217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kern="1200" dirty="0">
                <a:solidFill>
                  <a:schemeClr val="dk1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  <a:t>* </a:t>
            </a:r>
            <a:r>
              <a:rPr lang="pt-BR" sz="1600" dirty="0">
                <a:latin typeface="+mj-lt"/>
                <a:sym typeface="Symbol" panose="05050102010706020507" pitchFamily="18" charset="2"/>
              </a:rPr>
              <a:t>Essa é a maior palavra da língua portuguesa: </a:t>
            </a:r>
            <a:r>
              <a:rPr lang="pt-BR" sz="14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https://www.bbc.com/portuguese/curiosidades-43938059</a:t>
            </a:r>
            <a:endParaRPr lang="pt-BR" sz="1400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9B4F0A1-ED44-8505-9EBA-AA86B39F7C7C}"/>
              </a:ext>
            </a:extLst>
          </p:cNvPr>
          <p:cNvCxnSpPr/>
          <p:nvPr/>
        </p:nvCxnSpPr>
        <p:spPr bwMode="auto">
          <a:xfrm>
            <a:off x="719832" y="6660157"/>
            <a:ext cx="1368152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858091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(6/11)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929240" cy="5040561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Porém, há (um bom número de) exceções... (1/2)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Veja a frase abaixo: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Ana Paula comprou 2 livros em Porto Alegre.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São </a:t>
            </a:r>
            <a:r>
              <a:rPr lang="pt-BR" sz="2000" b="1" dirty="0"/>
              <a:t>8 palavras</a:t>
            </a:r>
            <a:r>
              <a:rPr lang="pt-BR" sz="2000" dirty="0"/>
              <a:t> considerando a definição do slide anterior.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... Mas não seriam 6 palavras se considerarmos que “</a:t>
            </a:r>
            <a:r>
              <a:rPr lang="pt-BR" sz="2000" dirty="0">
                <a:solidFill>
                  <a:srgbClr val="C00000"/>
                </a:solidFill>
              </a:rPr>
              <a:t>Ana Paula</a:t>
            </a:r>
            <a:r>
              <a:rPr lang="pt-BR" sz="2000" dirty="0"/>
              <a:t>” e “</a:t>
            </a:r>
            <a:r>
              <a:rPr lang="pt-BR" sz="2000" dirty="0">
                <a:solidFill>
                  <a:srgbClr val="C00000"/>
                </a:solidFill>
              </a:rPr>
              <a:t>Porto Alegre</a:t>
            </a:r>
            <a:r>
              <a:rPr lang="pt-BR" sz="2000" dirty="0"/>
              <a:t>” são palavras compostas?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... E será que “</a:t>
            </a:r>
            <a:r>
              <a:rPr lang="pt-BR" sz="2000" dirty="0">
                <a:solidFill>
                  <a:srgbClr val="C00000"/>
                </a:solidFill>
              </a:rPr>
              <a:t>2</a:t>
            </a:r>
            <a:r>
              <a:rPr lang="pt-BR" sz="2000" dirty="0"/>
              <a:t>” é realmente uma palavra?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 resposta é: </a:t>
            </a:r>
            <a:r>
              <a:rPr lang="pt-BR" sz="2000" b="1" dirty="0"/>
              <a:t>depende</a:t>
            </a:r>
            <a:r>
              <a:rPr lang="pt-BR" sz="2000" dirty="0"/>
              <a:t> da finalidade da </a:t>
            </a:r>
            <a:r>
              <a:rPr lang="pt-BR" sz="2000" b="1" dirty="0"/>
              <a:t>aplicação</a:t>
            </a:r>
            <a:r>
              <a:rPr lang="pt-BR" sz="20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277798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(7/11)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929240" cy="1080121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Porém, há (um bom número de) exceções... (2/2)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De fato, a definição “fura” também para o tratamento de abreviaturas, siglas, “internetês” e outras situações.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8A36103-14B7-21C1-4DE8-3F27EB984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949733"/>
              </p:ext>
            </p:extLst>
          </p:nvPr>
        </p:nvGraphicFramePr>
        <p:xfrm>
          <a:off x="1065640" y="2195661"/>
          <a:ext cx="8525159" cy="4123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792485">
                  <a:extLst>
                    <a:ext uri="{9D8B030D-6E8A-4147-A177-3AD203B41FA5}">
                      <a16:colId xmlns:a16="http://schemas.microsoft.com/office/drawing/2014/main" val="4291438974"/>
                    </a:ext>
                  </a:extLst>
                </a:gridCol>
                <a:gridCol w="5732674">
                  <a:extLst>
                    <a:ext uri="{9D8B030D-6E8A-4147-A177-3AD203B41FA5}">
                      <a16:colId xmlns:a16="http://schemas.microsoft.com/office/drawing/2014/main" val="2216479419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r>
                        <a:rPr lang="pt-BR" sz="1800" i="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</a:rPr>
                        <a:t>palavras compostas</a:t>
                      </a: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Rio de Janeiro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”, 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rock ‘n’ </a:t>
                      </a:r>
                      <a:r>
                        <a:rPr lang="pt-BR" sz="18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roll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 (contêm, espaços, mas não deveriam ser separadas). 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19548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hashtags</a:t>
                      </a:r>
                      <a:endParaRPr lang="pt-BR" sz="1800" i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#</a:t>
                      </a:r>
                      <a:r>
                        <a:rPr lang="pt-BR" sz="18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riodejaneiro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”, 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#</a:t>
                      </a:r>
                      <a:r>
                        <a:rPr lang="pt-BR" sz="18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verao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”, 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#samba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792471"/>
                  </a:ext>
                </a:extLst>
              </a:tr>
              <a:tr h="206024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emoticons</a:t>
                      </a:r>
                      <a:endParaRPr lang="pt-BR" sz="1800" i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eu &lt;3 #vilavelha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”, 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você vai rir muito :)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583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usernames</a:t>
                      </a:r>
                      <a:endParaRPr lang="pt-BR" sz="1800" i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@</a:t>
                      </a:r>
                      <a:r>
                        <a:rPr lang="pt-BR" sz="18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jgoncalves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, poderia ver isso?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358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abrev. do “internetês”</a:t>
                      </a:r>
                      <a:r>
                        <a:rPr lang="pt-BR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pt-BR" sz="1800" i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isso foi d+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 (demais)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06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abrev. convencionais</a:t>
                      </a:r>
                      <a:r>
                        <a:rPr lang="pt-BR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2</a:t>
                      </a:r>
                      <a:endParaRPr lang="pt-BR" sz="1800" i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s.d.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 (sem data), 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a/c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 (aos cuidados de) 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97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URLs, e-mails </a:t>
                      </a:r>
                      <a:endParaRPr lang="pt-BR" sz="1800" i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https://brasileiraspln.com/livro-</a:t>
                      </a:r>
                      <a:r>
                        <a:rPr lang="pt-BR" sz="18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pln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/</a:t>
                      </a:r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860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preços, porcentagens, valores etc.</a:t>
                      </a:r>
                      <a:endParaRPr lang="pt-BR" sz="1800" i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reajuste de 9%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”, 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R$ 1,99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”, 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orçamento de 5 bi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”.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823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apóstrofo</a:t>
                      </a:r>
                      <a:r>
                        <a:rPr lang="pt-BR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1</a:t>
                      </a:r>
                      <a:endParaRPr lang="pt-BR" sz="1800" i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cobra-d’água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 (não deve ser separada)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627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apóstrofo</a:t>
                      </a:r>
                      <a:r>
                        <a:rPr lang="pt-BR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2</a:t>
                      </a:r>
                      <a:endParaRPr lang="pt-BR" sz="1800" i="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“</a:t>
                      </a:r>
                      <a:r>
                        <a:rPr lang="pt-BR" sz="18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I’m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 (não tem espaço, mas são 2 palavras: “</a:t>
                      </a:r>
                      <a:r>
                        <a:rPr lang="pt-BR" sz="1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I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 e “</a:t>
                      </a:r>
                      <a:r>
                        <a:rPr lang="pt-BR" sz="1800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am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”)</a:t>
                      </a:r>
                      <a:endParaRPr lang="pt-BR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0584" marR="100584" marT="41564" marB="415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635149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386FEC2-BE37-CF41-9F54-7A544C742140}"/>
              </a:ext>
            </a:extLst>
          </p:cNvPr>
          <p:cNvSpPr txBox="1"/>
          <p:nvPr/>
        </p:nvSpPr>
        <p:spPr>
          <a:xfrm>
            <a:off x="792314" y="6528915"/>
            <a:ext cx="9144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dirty="0"/>
              <a:t>Dependendo da aplicação, tratar alguns casos acima pode ser ou não relevante.</a:t>
            </a:r>
            <a:br>
              <a:rPr lang="pt-BR" dirty="0"/>
            </a:br>
            <a:r>
              <a:rPr lang="pt-BR" dirty="0"/>
              <a:t>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Exemplo</a:t>
            </a:r>
            <a:r>
              <a:rPr lang="pt-BR" dirty="0"/>
              <a:t>: na análise de sentimentos, é comum remover </a:t>
            </a:r>
            <a:r>
              <a:rPr lang="pt-BR" i="1" dirty="0" err="1"/>
              <a:t>usernames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35598801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(8/11)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5760640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Tokens, </a:t>
            </a:r>
            <a:r>
              <a:rPr lang="pt-BR" b="1" dirty="0" err="1"/>
              <a:t>Types</a:t>
            </a:r>
            <a:r>
              <a:rPr lang="pt-BR" b="1" dirty="0"/>
              <a:t> e Vocabulário (V)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Em um </a:t>
            </a:r>
            <a:r>
              <a:rPr lang="pt-BR" sz="2000" b="1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texto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pt-BR" sz="2000" i="1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T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, as </a:t>
            </a:r>
            <a:r>
              <a:rPr lang="pt-BR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palavras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e </a:t>
            </a:r>
            <a:r>
              <a:rPr lang="pt-BR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sinais de pontuação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são considerados </a:t>
            </a:r>
            <a:r>
              <a:rPr lang="pt-BR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tokens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O número total de tokens é representado por </a:t>
            </a:r>
            <a:r>
              <a:rPr lang="pt-BR" sz="20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N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Os </a:t>
            </a:r>
            <a:r>
              <a:rPr lang="pt-BR" sz="2000" b="1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tokens únicos</a:t>
            </a:r>
            <a:r>
              <a:rPr lang="pt-BR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do texto são chamados de </a:t>
            </a:r>
            <a:r>
              <a:rPr lang="pt-BR" sz="2000" b="1" dirty="0" err="1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types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O conjunto de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types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é chamado de </a:t>
            </a:r>
            <a:r>
              <a:rPr lang="pt-BR" sz="2000" b="1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Vocabulário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(</a:t>
            </a:r>
            <a:r>
              <a:rPr lang="pt-BR" sz="2000" i="1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V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). 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highlight>
                <a:srgbClr val="FFFF00"/>
              </a:highlight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latin typeface="+mj-lt"/>
                <a:sym typeface="Symbol" panose="05050102010706020507" pitchFamily="18" charset="2"/>
              </a:rPr>
              <a:t>Exemplo</a:t>
            </a:r>
            <a:r>
              <a:rPr lang="pt-BR" sz="2000" dirty="0"/>
              <a:t>: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"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Eu vou. Por que não? Por que não?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“</a:t>
            </a:r>
            <a:b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</a:br>
            <a:endParaRPr lang="pt-BR" sz="2000" dirty="0">
              <a:solidFill>
                <a:schemeClr val="tx1"/>
              </a:solidFill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11 tokens (</a:t>
            </a:r>
            <a:r>
              <a:rPr lang="pt-BR" sz="2000" i="1" dirty="0">
                <a:latin typeface="+mj-lt"/>
                <a:sym typeface="Symbol" panose="05050102010706020507" pitchFamily="18" charset="2"/>
              </a:rPr>
              <a:t>N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= 11): [“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Eu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vou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.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Por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que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não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?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Por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que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não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?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”]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7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types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(|</a:t>
            </a:r>
            <a:r>
              <a:rPr lang="pt-BR" sz="2000" i="1" dirty="0">
                <a:latin typeface="+mj-lt"/>
                <a:sym typeface="Symbol" panose="05050102010706020507" pitchFamily="18" charset="2"/>
              </a:rPr>
              <a:t>V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| = 7): </a:t>
            </a:r>
            <a:r>
              <a:rPr lang="pt-BR" sz="2000" i="1" dirty="0">
                <a:latin typeface="+mj-lt"/>
                <a:sym typeface="Symbol" panose="05050102010706020507" pitchFamily="18" charset="2"/>
              </a:rPr>
              <a:t>V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= {“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Eu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vou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.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Por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que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não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?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”}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354963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92ACB-32E5-3A62-140C-864C15F3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72369F9-71A4-9F88-7E71-53AE1958A4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(9/11)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DF951346-E218-997F-2DD2-A337B0772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93610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Tokens, </a:t>
            </a:r>
            <a:r>
              <a:rPr lang="pt-BR" b="1" dirty="0" err="1"/>
              <a:t>Types</a:t>
            </a:r>
            <a:r>
              <a:rPr lang="pt-BR" b="1" dirty="0"/>
              <a:t> e Vocabulário (V)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Na tabela abaixo, o número de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types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e tokens de diversos corpora conhecidos.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latin typeface="+mj-lt"/>
                <a:sym typeface="Symbol" panose="05050102010706020507" pitchFamily="18" charset="2"/>
              </a:rPr>
              <a:t>IMPORTANTE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: 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MAC-MORPHO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e 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Floresta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são corpora anotados da língua portuguesa, ambos disponíveis na NLTK.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6593333-9C96-F686-A576-53D66974C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827970"/>
              </p:ext>
            </p:extLst>
          </p:nvPr>
        </p:nvGraphicFramePr>
        <p:xfrm>
          <a:off x="1374955" y="3203773"/>
          <a:ext cx="7689489" cy="2926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29355">
                  <a:extLst>
                    <a:ext uri="{9D8B030D-6E8A-4147-A177-3AD203B41FA5}">
                      <a16:colId xmlns:a16="http://schemas.microsoft.com/office/drawing/2014/main" val="3823026223"/>
                    </a:ext>
                  </a:extLst>
                </a:gridCol>
                <a:gridCol w="1912162">
                  <a:extLst>
                    <a:ext uri="{9D8B030D-6E8A-4147-A177-3AD203B41FA5}">
                      <a16:colId xmlns:a16="http://schemas.microsoft.com/office/drawing/2014/main" val="1913543726"/>
                    </a:ext>
                  </a:extLst>
                </a:gridCol>
                <a:gridCol w="2047972">
                  <a:extLst>
                    <a:ext uri="{9D8B030D-6E8A-4147-A177-3AD203B41FA5}">
                      <a16:colId xmlns:a16="http://schemas.microsoft.com/office/drawing/2014/main" val="1735043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Corpus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|V| </a:t>
                      </a:r>
                      <a:br>
                        <a:rPr lang="pt-BR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(num. de </a:t>
                      </a:r>
                      <a:r>
                        <a:rPr lang="pt-BR" sz="1600" dirty="0" err="1">
                          <a:solidFill>
                            <a:schemeClr val="tx1"/>
                          </a:solidFill>
                        </a:rPr>
                        <a:t>types</a:t>
                      </a:r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N</a:t>
                      </a:r>
                      <a:br>
                        <a:rPr lang="pt-BR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(num. de tokens)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480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Shakespeare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31 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884 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6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Brown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28 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 milhão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65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 dirty="0" err="1">
                          <a:solidFill>
                            <a:schemeClr val="tx1"/>
                          </a:solidFill>
                        </a:rPr>
                        <a:t>Switchboard</a:t>
                      </a:r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 telefone </a:t>
                      </a:r>
                      <a:r>
                        <a:rPr lang="pt-BR" sz="1600" b="1" dirty="0" err="1">
                          <a:solidFill>
                            <a:schemeClr val="tx1"/>
                          </a:solidFill>
                        </a:rPr>
                        <a:t>conversations</a:t>
                      </a:r>
                      <a:endParaRPr lang="pt-B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20 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2,4 milhões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92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COCA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2 milhões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440 milhões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64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chemeClr val="tx1"/>
                          </a:solidFill>
                        </a:rPr>
                        <a:t>Google n-</a:t>
                      </a:r>
                      <a:r>
                        <a:rPr lang="pt-BR" sz="1600" b="1" dirty="0" err="1">
                          <a:solidFill>
                            <a:schemeClr val="tx1"/>
                          </a:solidFill>
                        </a:rPr>
                        <a:t>grams</a:t>
                      </a:r>
                      <a:endParaRPr lang="pt-BR" sz="16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13 milhões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600" dirty="0"/>
                        <a:t>1 trilhão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357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C00000"/>
                          </a:solidFill>
                        </a:rPr>
                        <a:t>MAC-MORPHO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</a:rPr>
                        <a:t>67,9 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</a:rPr>
                        <a:t>1,17 milhões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973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600" b="1" dirty="0">
                          <a:solidFill>
                            <a:srgbClr val="C00000"/>
                          </a:solidFill>
                        </a:rPr>
                        <a:t>Floresta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</a:rPr>
                        <a:t>29,4 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solidFill>
                            <a:srgbClr val="C00000"/>
                          </a:solidFill>
                        </a:rPr>
                        <a:t>211,8 mil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62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6960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(10/11)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4"/>
            <a:ext cx="8785224" cy="6336705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Riqueza Léxica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Além da quantidade de </a:t>
            </a:r>
            <a:r>
              <a:rPr lang="pt-BR" sz="2000" dirty="0" err="1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types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 e tokens, a</a:t>
            </a:r>
            <a:r>
              <a:rPr lang="pt-BR" sz="2000" b="1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 riqueza léxica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 é uma medida que pode ajudar a medir a complexidade de um corpus.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D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ivisão da quant. de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types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pela quant. de tokens  </a:t>
            </a:r>
            <a:r>
              <a:rPr lang="pt-BR" sz="20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RL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 =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|</a:t>
            </a:r>
            <a:r>
              <a:rPr lang="pt-BR" sz="20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V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|  </a:t>
            </a:r>
            <a:r>
              <a:rPr lang="pt-BR" sz="20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N</a:t>
            </a:r>
            <a:br>
              <a:rPr lang="pt-BR" sz="20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</a:br>
            <a:endParaRPr lang="pt-BR" sz="2000" i="1" dirty="0">
              <a:solidFill>
                <a:srgbClr val="C00000"/>
              </a:solidFill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Varia entre 0 e 1. Quanto maior, mais “rico” o texto (e potencialmente mais difícil de se processar).</a:t>
            </a:r>
            <a:endParaRPr lang="pt-BR" sz="2000" i="1" dirty="0">
              <a:solidFill>
                <a:srgbClr val="C00000"/>
              </a:solidFill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latin typeface="+mj-lt"/>
                <a:sym typeface="Symbol" panose="05050102010706020507" pitchFamily="18" charset="2"/>
              </a:rPr>
              <a:t>Exemplos</a:t>
            </a:r>
            <a:r>
              <a:rPr lang="pt-BR" sz="2000" dirty="0"/>
              <a:t>: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“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Todos os meus conhecidos têm sido campeões em tudo.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”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RL = 10 / 10 = </a:t>
            </a:r>
            <a:r>
              <a:rPr lang="pt-BR" sz="2000" u="sng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1,00</a:t>
            </a:r>
            <a:br>
              <a:rPr lang="pt-BR" sz="2000" u="sng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</a:br>
            <a:endParaRPr lang="pt-BR" sz="2000" dirty="0">
              <a:solidFill>
                <a:schemeClr val="tx1"/>
              </a:solidFill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“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que não é o que não pode ser que não é o que não pode ser que não é o que não pode ser que não é o que não pode ser que não é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”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RL = 6 / 35 = </a:t>
            </a:r>
            <a:r>
              <a:rPr lang="pt-BR" sz="2000" u="sng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0,17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chemeClr val="tx1"/>
              </a:solidFill>
              <a:latin typeface="+mj-lt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5230248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Conceitos Preliminares (11/11)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5760640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Normalização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Tarefa que consiste em converter as palavras para alguma forma padrão </a:t>
            </a:r>
            <a:r>
              <a:rPr lang="pt-BR" sz="1600" dirty="0"/>
              <a:t>(FINATTO et al., 2024)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latin typeface="+mj-lt"/>
                <a:sym typeface="Symbol" panose="05050102010706020507" pitchFamily="18" charset="2"/>
              </a:rPr>
              <a:t>Exemplos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: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Conversão para caracteres minúsculos (“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CANTEI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→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cantei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Conversão de abreviações: (“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d+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→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demais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”)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Concatenação de expressões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multipalavra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(“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Rio Paraíba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→ “</a:t>
            </a:r>
            <a:r>
              <a:rPr lang="pt-BR" sz="2000" dirty="0" err="1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rioparaíba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Lematização (“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cantarei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→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cantar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Radicalização (“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cantarei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→ “</a:t>
            </a:r>
            <a:r>
              <a:rPr lang="pt-BR" sz="2000" dirty="0" err="1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cant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Os slides seguintes abordarão a tokenização e normalização na ferramenta </a:t>
            </a:r>
            <a:r>
              <a:rPr lang="pt-BR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NLTK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20046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F1AD-E9FA-20F4-4FF6-600B3B40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BC023BC-10D9-269B-1D7E-0113FD2A7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Instalação (1/5)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7367620F-AECC-6C3C-9276-91E37662E3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857232" cy="554461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Etapas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 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NLTK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está </a:t>
            </a:r>
            <a:r>
              <a:rPr lang="pt-BR" sz="20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disponível no Google </a:t>
            </a:r>
            <a:r>
              <a:rPr lang="pt-BR" sz="2000" b="1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Colab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Caso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deseje instalar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no ambiente Python de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seu microcomputador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, você precisará executar 3 etapas (que felizmente são simples):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latin typeface="+mj-lt"/>
                <a:sym typeface="Symbol" panose="05050102010706020507" pitchFamily="18" charset="2"/>
              </a:rPr>
              <a:t>Instalar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o pacote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latin typeface="+mj-lt"/>
                <a:sym typeface="Symbol" panose="05050102010706020507" pitchFamily="18" charset="2"/>
              </a:rPr>
              <a:t>Testar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se a instalação deu certo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Fazer o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download dos dados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necessários para o funcionamento. </a:t>
            </a:r>
          </a:p>
          <a:p>
            <a:pPr marL="914400" lvl="2" indent="0" eaLnBrk="1">
              <a:defRPr/>
            </a:pP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As informações nos próximos slides foram obtidas em 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https://www.nltk.org/install.html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01671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28E64-D2A5-71B7-D892-F5C2C173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8457AD1-53FC-F84C-080C-8D357E4CA8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Instalação (2/5)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A75DF82C-4937-85ED-8EA8-B70D695DC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857232" cy="1512168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u="sng" dirty="0"/>
              <a:t>Etapa 1</a:t>
            </a:r>
            <a:r>
              <a:rPr lang="pt-BR" sz="2000" b="1" dirty="0"/>
              <a:t>: Instalação do Pacote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Você vai acessar o prompt de comando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E fará a instalação do pacote propriamente dito com o aplicativo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pip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, digitando: </a:t>
            </a:r>
            <a:r>
              <a:rPr lang="pt-BR" sz="20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pip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pt-BR" sz="20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install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-U </a:t>
            </a:r>
            <a:r>
              <a:rPr lang="pt-BR" sz="20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nltk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68E763-D4CC-793D-24EE-019068F62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41" y="2825775"/>
            <a:ext cx="897255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652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8AA4-EC56-426A-25C6-D1BD961A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668C5971-7125-E7E3-5D3B-FE5292EB2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Instalação (3/5)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C045E3CB-5635-9F38-38AA-CFF273FA9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857232" cy="338437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u="sng" dirty="0"/>
              <a:t>Etapa 2</a:t>
            </a:r>
            <a:r>
              <a:rPr lang="pt-BR" sz="2000" b="1" dirty="0"/>
              <a:t>: Testando se a instalação deu certo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Faça da seguinte forma: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Ainda no prompt de comando, digite </a:t>
            </a:r>
            <a:r>
              <a:rPr lang="pt-BR" sz="20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python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, para entrar no aplicativo de linha de comando do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python</a:t>
            </a: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Então teste com o comando </a:t>
            </a:r>
            <a:r>
              <a:rPr lang="pt-BR" sz="20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import</a:t>
            </a:r>
            <a:r>
              <a:rPr lang="pt-BR" sz="20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pt-BR" sz="20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nltk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 biblioteca NLTK é grande, por isso a importação leva alguns segundos até ser finalizada (você verá que o prompt ficará travado por um tempinho). 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Se nenhuma mensagem de erro ocorrer é porque a instalação foi bem-sucedida.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6F2A44E-5F2A-3652-C2D1-B4BBD31BF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47" y="4787949"/>
            <a:ext cx="8977138" cy="11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87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9FDE9-97AF-8461-3617-C2882EEE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2997474-1FAB-958D-2988-B5AE8EE2F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Instalação (4/5)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D81B4D5D-E6B5-0DB0-EEF2-CBB66377E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857232" cy="1800200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u="sng" dirty="0"/>
              <a:t>Etapa 3</a:t>
            </a:r>
            <a:r>
              <a:rPr lang="pt-BR" sz="2000" b="1" dirty="0"/>
              <a:t>: Fazendo o download dos dados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latin typeface="+mj-lt"/>
                <a:sym typeface="Symbol" panose="05050102010706020507" pitchFamily="18" charset="2"/>
              </a:rPr>
              <a:t>Significa baixar p/ seu computador vários corpora, léxicos e outros recursos necessários para o funcionamento da NLTK.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latin typeface="+mj-lt"/>
                <a:sym typeface="Symbol" panose="05050102010706020507" pitchFamily="18" charset="2"/>
              </a:rPr>
              <a:t>Ainda </a:t>
            </a:r>
            <a:r>
              <a:rPr lang="pt-BR" sz="1800" b="1" dirty="0">
                <a:latin typeface="+mj-lt"/>
                <a:sym typeface="Symbol" panose="05050102010706020507" pitchFamily="18" charset="2"/>
              </a:rPr>
              <a:t>dentro do Python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, logo após fazer o </a:t>
            </a:r>
            <a:r>
              <a:rPr lang="pt-BR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import</a:t>
            </a:r>
            <a:r>
              <a:rPr lang="pt-BR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pt-BR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nltk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,  você vai digitar:</a:t>
            </a:r>
            <a:br>
              <a:rPr lang="pt-BR" sz="1800" dirty="0">
                <a:latin typeface="+mj-lt"/>
                <a:sym typeface="Symbol" panose="05050102010706020507" pitchFamily="18" charset="2"/>
              </a:rPr>
            </a:br>
            <a:r>
              <a:rPr lang="pt-BR" sz="1800" dirty="0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nltk.download</a:t>
            </a:r>
            <a:r>
              <a:rPr lang="pt-BR" sz="18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()</a:t>
            </a: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FE4677-1023-0E7B-6BEE-6DBFFC42E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224" y="3626624"/>
            <a:ext cx="4636397" cy="374006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53CA1AC-E1C3-3A3B-2D03-165F65AED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768" y="2901404"/>
            <a:ext cx="7632848" cy="59554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5452234-61F9-9F8B-8800-978ADD7D5B23}"/>
              </a:ext>
            </a:extLst>
          </p:cNvPr>
          <p:cNvSpPr txBox="1"/>
          <p:nvPr/>
        </p:nvSpPr>
        <p:spPr>
          <a:xfrm>
            <a:off x="831800" y="3406188"/>
            <a:ext cx="37432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>
              <a:buFont typeface="Arial" panose="020B0604020202020204" pitchFamily="34" charset="0"/>
              <a:buChar char="•"/>
              <a:defRPr/>
            </a:pPr>
            <a:endParaRPr lang="pt-BR" dirty="0">
              <a:solidFill>
                <a:srgbClr val="FF0000"/>
              </a:solidFill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+mj-lt"/>
                <a:sym typeface="Symbol" panose="05050102010706020507" pitchFamily="18" charset="2"/>
              </a:rPr>
              <a:t>Na janela que abrirá, selecione </a:t>
            </a:r>
            <a:r>
              <a:rPr lang="pt-BR" b="1" dirty="0" err="1">
                <a:latin typeface="+mj-lt"/>
                <a:sym typeface="Symbol" panose="05050102010706020507" pitchFamily="18" charset="2"/>
              </a:rPr>
              <a:t>all</a:t>
            </a:r>
            <a:r>
              <a:rPr lang="pt-BR" dirty="0">
                <a:latin typeface="+mj-lt"/>
                <a:sym typeface="Symbol" panose="05050102010706020507" pitchFamily="18" charset="2"/>
              </a:rPr>
              <a:t> e </a:t>
            </a:r>
            <a:r>
              <a:rPr lang="pt-BR" b="1" dirty="0" err="1">
                <a:latin typeface="+mj-lt"/>
                <a:sym typeface="Symbol" panose="05050102010706020507" pitchFamily="18" charset="2"/>
              </a:rPr>
              <a:t>All</a:t>
            </a:r>
            <a:r>
              <a:rPr lang="pt-BR" b="1" dirty="0">
                <a:latin typeface="+mj-lt"/>
                <a:sym typeface="Symbol" panose="05050102010706020507" pitchFamily="18" charset="2"/>
              </a:rPr>
              <a:t> </a:t>
            </a:r>
            <a:r>
              <a:rPr lang="pt-BR" b="1" dirty="0" err="1">
                <a:latin typeface="+mj-lt"/>
                <a:sym typeface="Symbol" panose="05050102010706020507" pitchFamily="18" charset="2"/>
              </a:rPr>
              <a:t>packages</a:t>
            </a:r>
            <a:r>
              <a:rPr lang="pt-BR" b="1" dirty="0">
                <a:latin typeface="+mj-lt"/>
                <a:sym typeface="Symbol" panose="05050102010706020507" pitchFamily="18" charset="2"/>
              </a:rPr>
              <a:t> </a:t>
            </a:r>
            <a:r>
              <a:rPr lang="pt-BR" dirty="0">
                <a:latin typeface="+mj-lt"/>
                <a:sym typeface="Symbol" panose="05050102010706020507" pitchFamily="18" charset="2"/>
              </a:rPr>
              <a:t>(na primeira linha), para instalar todos os pacotes (provavelmente já estará selecionado). </a:t>
            </a:r>
            <a:br>
              <a:rPr lang="pt-BR" dirty="0">
                <a:latin typeface="+mj-lt"/>
                <a:sym typeface="Symbol" panose="05050102010706020507" pitchFamily="18" charset="2"/>
              </a:rPr>
            </a:br>
            <a:endParaRPr lang="pt-BR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+mj-lt"/>
                <a:sym typeface="Symbol" panose="05050102010706020507" pitchFamily="18" charset="2"/>
              </a:rPr>
              <a:t>Depois clique no botão </a:t>
            </a:r>
            <a:r>
              <a:rPr lang="pt-BR" b="1" dirty="0">
                <a:latin typeface="+mj-lt"/>
                <a:sym typeface="Symbol" panose="05050102010706020507" pitchFamily="18" charset="2"/>
              </a:rPr>
              <a:t>Download</a:t>
            </a:r>
            <a:r>
              <a:rPr lang="pt-BR" dirty="0">
                <a:latin typeface="+mj-lt"/>
                <a:sym typeface="Symbol" panose="05050102010706020507" pitchFamily="18" charset="2"/>
              </a:rPr>
              <a:t>, no canto inferior esquerdo.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D418FB4-BCC0-788B-8CDF-0402D21B1640}"/>
              </a:ext>
            </a:extLst>
          </p:cNvPr>
          <p:cNvCxnSpPr/>
          <p:nvPr/>
        </p:nvCxnSpPr>
        <p:spPr bwMode="auto">
          <a:xfrm>
            <a:off x="3816176" y="4001729"/>
            <a:ext cx="1080120" cy="42618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6652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E02E4-5D73-B13A-B120-30A689F2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EC3EEC95-0C16-513C-6EEB-3B8822637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Instalação (5/5)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79BFC3C0-518F-F3B0-D949-ACC2CAED4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857232" cy="1440160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u="sng" dirty="0"/>
              <a:t>Etapa 3</a:t>
            </a:r>
            <a:r>
              <a:rPr lang="pt-BR" sz="2000" b="1" dirty="0"/>
              <a:t>: Fazendo o download dos dados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latin typeface="+mj-lt"/>
                <a:sym typeface="Symbol" panose="05050102010706020507" pitchFamily="18" charset="2"/>
              </a:rPr>
              <a:t>O processo pode demorar mais de 2 minutos.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latin typeface="+mj-lt"/>
                <a:sym typeface="Symbol" panose="05050102010706020507" pitchFamily="18" charset="2"/>
              </a:rPr>
              <a:t>Quando estiver tudo certo, todos os pacotes estarão com a cor verde. Aí você já poderá sair do </a:t>
            </a:r>
            <a:r>
              <a:rPr lang="pt-BR" sz="1800" dirty="0" err="1">
                <a:latin typeface="+mj-lt"/>
                <a:sym typeface="Symbol" panose="05050102010706020507" pitchFamily="18" charset="2"/>
              </a:rPr>
              <a:t>python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 se quiser.</a:t>
            </a: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147685C-9236-1062-801A-358FB38FF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290" y="2771725"/>
            <a:ext cx="7973903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602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4F72-585D-2E9F-70D1-2D9B45F3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A75A0A49-FFF1-9690-6ED4-6FA4E82C8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Pré-processamento básico com a NLTK 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10ECD057-A467-3E0F-7F33-0D6BEF990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1872208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Utilização básica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ym typeface="Symbol" panose="05050102010706020507" pitchFamily="18" charset="2"/>
              </a:rPr>
              <a:t>Agora vamos apresentar diversos exemplos de código que demonstram a utilização básica da NLTK.</a:t>
            </a:r>
            <a:br>
              <a:rPr lang="pt-BR" sz="2000" dirty="0">
                <a:sym typeface="Symbol" panose="05050102010706020507" pitchFamily="18" charset="2"/>
              </a:rPr>
            </a:br>
            <a:endParaRPr lang="pt-BR" sz="2000" dirty="0"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Os exemplos são baseados nos apresentados em PARDO; SANTOS; SOUZA (2021) e estão disponíveis no notebook que já havíamos indicado em um dos slides iniciais da aula:</a:t>
            </a: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https://colab.research.google.com/drive/1H2izzt2Low-iGfgBqumycmgV4lDYkkxa?usp=sharing</a:t>
            </a:r>
            <a:endParaRPr lang="pt-BR" sz="2000" dirty="0">
              <a:solidFill>
                <a:srgbClr val="FF0000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rgbClr val="FF0000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Dividimos em 4 partes: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Tokenização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Frequências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i="1" dirty="0">
                <a:latin typeface="+mj-lt"/>
                <a:sym typeface="Symbol" panose="05050102010706020507" pitchFamily="18" charset="2"/>
              </a:rPr>
              <a:t>n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-gramas de palavras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Normalização: Stop Words e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Stemming</a:t>
            </a: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144590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0492A-ECAD-0C8C-0C26-EA773977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EEA55061-C1E6-3A76-4CC2-1815BE135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Tokenização com a NLTK (1/7)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ADDD91F5-2EAE-4DF3-18C5-8B86B4A5D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1872208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Importação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Primeiro é preciso importar a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nltk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No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Colab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, você precisará ainda fazer o download do módulo </a:t>
            </a:r>
            <a:r>
              <a:rPr lang="pt-BR" sz="2000" b="1" dirty="0" err="1">
                <a:latin typeface="+mj-lt"/>
                <a:sym typeface="Symbol" panose="05050102010706020507" pitchFamily="18" charset="2"/>
              </a:rPr>
              <a:t>punkt_tab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 necessários: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b="1" dirty="0" err="1">
                <a:latin typeface="+mj-lt"/>
                <a:sym typeface="Symbol" panose="05050102010706020507" pitchFamily="18" charset="2"/>
              </a:rPr>
              <a:t>punkt_tab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: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tokenizador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que entende algumas abreviações (ex.: Mr.) e colocações.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018612-463E-B28C-130F-AF6C62A245EE}"/>
              </a:ext>
            </a:extLst>
          </p:cNvPr>
          <p:cNvSpPr txBox="1"/>
          <p:nvPr/>
        </p:nvSpPr>
        <p:spPr>
          <a:xfrm>
            <a:off x="1111672" y="3454895"/>
            <a:ext cx="8496944" cy="1751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importa a </a:t>
            </a:r>
            <a:r>
              <a:rPr lang="pt-BR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nltk</a:t>
            </a: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; e </a:t>
            </a:r>
          </a:p>
          <a:p>
            <a:pPr>
              <a:lnSpc>
                <a:spcPts val="1575"/>
              </a:lnSpc>
            </a:pP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realiza o download do módulo necessário para tokenização</a:t>
            </a:r>
          </a:p>
          <a:p>
            <a:pPr>
              <a:lnSpc>
                <a:spcPts val="1575"/>
              </a:lnSpc>
            </a:pP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(no </a:t>
            </a:r>
            <a:r>
              <a:rPr lang="pt-BR" dirty="0" err="1">
                <a:solidFill>
                  <a:srgbClr val="008000"/>
                </a:solidFill>
                <a:latin typeface="Courier New" panose="02070309020205020404" pitchFamily="49" charset="0"/>
              </a:rPr>
              <a:t>colab</a:t>
            </a: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 tem que fazer sempre no início)</a:t>
            </a:r>
          </a:p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(no Python da sua máquina, só ao instalar a </a:t>
            </a:r>
            <a:r>
              <a:rPr lang="pt-BR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nltk</a:t>
            </a: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#nltk.download('punkt')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nltk.download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punkt_tab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EBB4AD-4D6D-F404-387E-130BE03A456C}"/>
              </a:ext>
            </a:extLst>
          </p:cNvPr>
          <p:cNvSpPr txBox="1"/>
          <p:nvPr/>
        </p:nvSpPr>
        <p:spPr>
          <a:xfrm>
            <a:off x="431800" y="6045765"/>
            <a:ext cx="9001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 eaLnBrk="1">
              <a:buFont typeface="Arial" panose="020B0604020202020204" pitchFamily="34" charset="0"/>
              <a:buChar char="•"/>
              <a:defRPr/>
            </a:pPr>
            <a:r>
              <a:rPr lang="pt-BR" sz="1600" i="1" dirty="0">
                <a:latin typeface="+mj-lt"/>
                <a:sym typeface="Symbol" panose="05050102010706020507" pitchFamily="18" charset="2"/>
              </a:rPr>
              <a:t>Se você tiver algum problema use o ‘</a:t>
            </a:r>
            <a:r>
              <a:rPr lang="pt-BR" sz="1600" i="1" dirty="0" err="1">
                <a:latin typeface="+mj-lt"/>
                <a:sym typeface="Symbol" panose="05050102010706020507" pitchFamily="18" charset="2"/>
              </a:rPr>
              <a:t>punkt</a:t>
            </a:r>
            <a:r>
              <a:rPr lang="pt-BR" sz="1600" i="1" dirty="0">
                <a:latin typeface="+mj-lt"/>
                <a:sym typeface="Symbol" panose="05050102010706020507" pitchFamily="18" charset="2"/>
              </a:rPr>
              <a:t>’ (versão anterior) em vez do ‘</a:t>
            </a:r>
            <a:r>
              <a:rPr lang="pt-BR" sz="1600" i="1" dirty="0" err="1">
                <a:latin typeface="+mj-lt"/>
                <a:sym typeface="Symbol" panose="05050102010706020507" pitchFamily="18" charset="2"/>
              </a:rPr>
              <a:t>punkt_tab</a:t>
            </a:r>
            <a:r>
              <a:rPr lang="pt-BR" sz="1600" i="1" dirty="0">
                <a:latin typeface="+mj-lt"/>
                <a:sym typeface="Symbol" panose="05050102010706020507" pitchFamily="18" charset="2"/>
              </a:rPr>
              <a:t>’. O </a:t>
            </a:r>
            <a:r>
              <a:rPr lang="pt-BR" sz="1600" i="1" dirty="0" err="1">
                <a:latin typeface="+mj-lt"/>
                <a:sym typeface="Symbol" panose="05050102010706020507" pitchFamily="18" charset="2"/>
              </a:rPr>
              <a:t>punkt</a:t>
            </a:r>
            <a:r>
              <a:rPr lang="pt-BR" sz="1600" i="1" dirty="0">
                <a:latin typeface="+mj-lt"/>
                <a:sym typeface="Symbol" panose="05050102010706020507" pitchFamily="18" charset="2"/>
              </a:rPr>
              <a:t> aparece em muitos exemplos na Internet, mas foi descontinuado de acordo com  </a:t>
            </a:r>
            <a:r>
              <a:rPr lang="pt-BR" sz="16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https://github.com/nltk/nltk/issues/3293</a:t>
            </a:r>
            <a:endParaRPr lang="pt-BR" sz="1600" dirty="0">
              <a:solidFill>
                <a:srgbClr val="FF0000"/>
              </a:solidFill>
              <a:latin typeface="+mj-lt"/>
              <a:sym typeface="Symbol" panose="05050102010706020507" pitchFamily="18" charset="2"/>
            </a:endParaRPr>
          </a:p>
          <a:p>
            <a:pPr marL="914400" lvl="2" indent="0" eaLnBrk="1">
              <a:defRPr/>
            </a:pPr>
            <a:r>
              <a:rPr lang="pt-BR" sz="14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54832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B4B1-7A55-10E2-7D60-76094B228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1169B5E-6551-7C1A-A34A-CD1954AB0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Tokenização com a NLTK (2/7)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FA73920-E717-8545-70AD-01397B2F8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3168352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Tokenização de um documento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Dado um documento </a:t>
            </a:r>
            <a:r>
              <a:rPr lang="pt-BR" sz="2000" i="1" dirty="0">
                <a:latin typeface="+mj-lt"/>
                <a:sym typeface="Symbol" panose="05050102010706020507" pitchFamily="18" charset="2"/>
              </a:rPr>
              <a:t>d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, basta usar a função `</a:t>
            </a:r>
            <a:r>
              <a:rPr lang="pt-BR" sz="2000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nltk.word_tokenize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(d)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` para obter seus tokens.</a:t>
            </a:r>
            <a:endParaRPr lang="pt-BR" sz="1800" dirty="0"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latin typeface="+mj-lt"/>
                <a:sym typeface="Symbol" panose="05050102010706020507" pitchFamily="18" charset="2"/>
              </a:rPr>
              <a:t>Por padrão, usa versão modificada do </a:t>
            </a:r>
            <a:r>
              <a:rPr lang="pt-BR" sz="1800" i="1" dirty="0" err="1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TreebankWordTokenizer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 – um </a:t>
            </a:r>
            <a:r>
              <a:rPr lang="pt-BR" sz="1800" dirty="0" err="1">
                <a:latin typeface="+mj-lt"/>
                <a:sym typeface="Symbol" panose="05050102010706020507" pitchFamily="18" charset="2"/>
              </a:rPr>
              <a:t>tokenizador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 conhecido, baseado em expressões regulares.</a:t>
            </a:r>
            <a:br>
              <a:rPr lang="pt-BR" sz="1800" dirty="0">
                <a:latin typeface="+mj-lt"/>
                <a:sym typeface="Symbol" panose="05050102010706020507" pitchFamily="18" charset="2"/>
              </a:rPr>
            </a:br>
            <a:endParaRPr lang="pt-BR" sz="1800" dirty="0">
              <a:latin typeface="+mj-lt"/>
              <a:sym typeface="Symbol" panose="05050102010706020507" pitchFamily="18" charset="2"/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latin typeface="+mj-lt"/>
                <a:sym typeface="Symbol" panose="05050102010706020507" pitchFamily="18" charset="2"/>
              </a:rPr>
              <a:t>O parâmetro `</a:t>
            </a:r>
            <a:r>
              <a:rPr lang="pt-BR" sz="1800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language</a:t>
            </a:r>
            <a:r>
              <a:rPr lang="pt-BR" sz="18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= '</a:t>
            </a:r>
            <a:r>
              <a:rPr lang="pt-BR" sz="1800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portuguese</a:t>
            </a:r>
            <a:r>
              <a:rPr lang="pt-BR" sz="18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’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` foi usado para que o </a:t>
            </a:r>
            <a:r>
              <a:rPr lang="pt-BR" sz="1800" dirty="0" err="1">
                <a:latin typeface="+mj-lt"/>
                <a:sym typeface="Symbol" panose="05050102010706020507" pitchFamily="18" charset="2"/>
              </a:rPr>
              <a:t>tokenizador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 utilize os sinais de pontuação adequados para o Português 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1800" i="1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não tenho certeza de que realmente tenha alguma efetividade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BF72D6-0E14-0A1C-D8BF-8B27DB0AA56B}"/>
              </a:ext>
            </a:extLst>
          </p:cNvPr>
          <p:cNvSpPr txBox="1"/>
          <p:nvPr/>
        </p:nvSpPr>
        <p:spPr>
          <a:xfrm>
            <a:off x="1007864" y="4499917"/>
            <a:ext cx="8756128" cy="13413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 =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'''HOJE TEM FEIRA NA PRAÇA DA LIBERDADE! A batata-doce custa R$ 9,50. Quem vai à feira comprar?'''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 =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(d,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language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portuguese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b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84BABA-F389-47CE-ABD4-48D2CBE38950}"/>
              </a:ext>
            </a:extLst>
          </p:cNvPr>
          <p:cNvSpPr txBox="1"/>
          <p:nvPr/>
        </p:nvSpPr>
        <p:spPr>
          <a:xfrm>
            <a:off x="935732" y="6084093"/>
            <a:ext cx="8857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['HOJE', 'TEM', 'FEIRA', 'NA', 'PRAÇA', 'DA', 'LIBERDADE', '!', 'A', 'batata-doce', 'custa', 'R', '$', '9,50', '.', 'Quem', 'vai', 'à', 'feira', 'comprar', '?']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016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1689-7A06-9090-A64D-3245A0BE7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F68E9752-5A1F-346A-597B-402D3DE45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Tokenização com a NLTK (3/7)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79EB5327-CD73-8530-76BC-9B5DF8FF88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1008112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Tokenização de um documento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 tokenização de 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R$ 9,50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não ficou ideal </a:t>
            </a:r>
            <a:r>
              <a:rPr lang="pt-BR" sz="2000" dirty="0">
                <a:latin typeface="+mj-lt"/>
                <a:sym typeface="Wingdings" panose="05000000000000000000" pitchFamily="2" charset="2"/>
              </a:rPr>
              <a:t></a:t>
            </a:r>
            <a:endParaRPr lang="pt-BR" sz="1800" i="1" dirty="0">
              <a:solidFill>
                <a:srgbClr val="0070C0"/>
              </a:solidFill>
              <a:latin typeface="+mj-lt"/>
              <a:sym typeface="Symbol" panose="05050102010706020507" pitchFamily="18" charset="2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E013B9-3F00-6735-B840-CE6914410603}"/>
              </a:ext>
            </a:extLst>
          </p:cNvPr>
          <p:cNvSpPr txBox="1"/>
          <p:nvPr/>
        </p:nvSpPr>
        <p:spPr>
          <a:xfrm>
            <a:off x="1036712" y="2218638"/>
            <a:ext cx="8756128" cy="13413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 =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'''HOJE TEM FEIRA NA PRAÇA DA LIBERDADE! A batata-doce custa R$ 9,50. Quem vai à feira comprar?'''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 =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(d,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language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portuguese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b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8ABD1CD-3BA9-2374-19A5-41B385CB1296}"/>
              </a:ext>
            </a:extLst>
          </p:cNvPr>
          <p:cNvSpPr txBox="1"/>
          <p:nvPr/>
        </p:nvSpPr>
        <p:spPr>
          <a:xfrm>
            <a:off x="1026120" y="3936627"/>
            <a:ext cx="8857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['HOJE', 'TEM', 'FEIRA', 'NA', 'PRAÇA', 'DA', 'LIBERDADE', '!', 'A', 'batata-doce', 'custa', </a:t>
            </a:r>
            <a:r>
              <a:rPr lang="pt-BR" b="0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'R', '$', '9,50'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'.', 'Quem', 'vai', 'à', 'feira', 'comprar', '?']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0641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D592-3AE1-E3F0-A7E8-98AA8907B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3AC35AF-7656-A48B-4F2E-BE7311BC8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84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 Tokenização com a NLTK (4/7)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B0503ED8-DCC3-53F6-A3B6-0DC9E0E129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257951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Tokenização de um documento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Podemos normalizar o texto para minúsculo usando aplicando o método </a:t>
            </a:r>
            <a:r>
              <a:rPr lang="pt-BR" sz="2000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lower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()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na string.</a:t>
            </a:r>
            <a:endParaRPr lang="pt-BR" sz="2000" i="1" dirty="0">
              <a:solidFill>
                <a:srgbClr val="0070C0"/>
              </a:solidFill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É uma técnica de normalização... Assim “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FEIRA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e “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feira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não vão virar 2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types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diferentes !!!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i="1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Veja que o </a:t>
            </a:r>
            <a:r>
              <a:rPr lang="pt-BR" sz="2000" i="1" dirty="0" err="1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tokenizador</a:t>
            </a:r>
            <a:r>
              <a:rPr lang="pt-BR" sz="2000" i="1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 se confundiu ainda mais no “9,50.”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30E2BB-8130-51CE-D3E4-E83EF9140AD1}"/>
              </a:ext>
            </a:extLst>
          </p:cNvPr>
          <p:cNvSpPr txBox="1"/>
          <p:nvPr/>
        </p:nvSpPr>
        <p:spPr>
          <a:xfrm>
            <a:off x="1007864" y="3851845"/>
            <a:ext cx="8756128" cy="13413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 =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'''HOJE TEM FEIRA NA PRAÇA DA LIBERDADE! A batata-doce custa R$ 9,50. Quem vai à feira comprar?'''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 =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d.lower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(),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language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portuguese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b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AD47EF-1FAB-D0C6-E856-3B3CE3386890}"/>
              </a:ext>
            </a:extLst>
          </p:cNvPr>
          <p:cNvSpPr txBox="1"/>
          <p:nvPr/>
        </p:nvSpPr>
        <p:spPr>
          <a:xfrm>
            <a:off x="935732" y="5494044"/>
            <a:ext cx="8857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['hoje', 'tem', 'feira', 'na', 'praça', 'da', 'liberdade', '!', 'a', 'batata-doce', 'custa', 'r', '$', '9,50.', 'quem', 'vai', 'à', 'feira', 'comprar', '?']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547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649B-1194-3033-6F08-DFAD093A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420FA9D7-9187-1C70-5A8E-1198CF955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Tokenização com a NLTK (5/7)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352C8396-6FC3-E383-0D92-8364AB269F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129614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Tokenização de todos os textos de um corpus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Em um corpus estruturado em um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DataFrame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, basta usar 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apply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...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... Para criar uma nova coluna com todos os textos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tokenizados</a:t>
            </a: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i="1" dirty="0">
              <a:solidFill>
                <a:srgbClr val="0070C0"/>
              </a:solidFill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846662-ECF0-3395-505F-5D4E60A49391}"/>
              </a:ext>
            </a:extLst>
          </p:cNvPr>
          <p:cNvSpPr txBox="1"/>
          <p:nvPr/>
        </p:nvSpPr>
        <p:spPr>
          <a:xfrm>
            <a:off x="819672" y="2608733"/>
            <a:ext cx="8756128" cy="4616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pt-BR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corpus original </a:t>
            </a: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corpus_dantestocks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'tweet'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[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"No momento PETR4 respeita o suporte de R$15,42."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"28/04 O Ibovespa fechou estável, aos 51.395pts. Destaques: GOLL4 +4,04% e OIBR4 -5,98%. http://t.co/j9yUOf2ipY"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"Localiza (RENT3) autoriza pagamento de R$ 13,9 mi em juros sobre capital próprio..."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]}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pd.DataFrame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corpus_dantestocks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acrescenta uma nova coluna com os tokens. Usei o 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para aplicar # a função 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tokeniza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à toda coluna '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tweet',criando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a coluna 'tokens')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tokeniza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texto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(texto,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language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portuguese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'tokens'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'tweet'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apply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tokeniza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'\n\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nDataFrame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após a tokenização: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536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C25C0CB-DCBD-CE6E-1754-D213F2327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911727"/>
              </p:ext>
            </p:extLst>
          </p:nvPr>
        </p:nvGraphicFramePr>
        <p:xfrm>
          <a:off x="863848" y="2627709"/>
          <a:ext cx="8710614" cy="3169920"/>
        </p:xfrm>
        <a:graphic>
          <a:graphicData uri="http://schemas.openxmlformats.org/drawingml/2006/table">
            <a:tbl>
              <a:tblPr/>
              <a:tblGrid>
                <a:gridCol w="576312">
                  <a:extLst>
                    <a:ext uri="{9D8B030D-6E8A-4147-A177-3AD203B41FA5}">
                      <a16:colId xmlns:a16="http://schemas.microsoft.com/office/drawing/2014/main" val="3234795121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989111374"/>
                    </a:ext>
                  </a:extLst>
                </a:gridCol>
                <a:gridCol w="4389886">
                  <a:extLst>
                    <a:ext uri="{9D8B030D-6E8A-4147-A177-3AD203B41FA5}">
                      <a16:colId xmlns:a16="http://schemas.microsoft.com/office/drawing/2014/main" val="324808486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r"/>
                      <a:endParaRPr lang="pt-BR" sz="1800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solidFill>
                            <a:srgbClr val="002060"/>
                          </a:solidFill>
                          <a:effectLst/>
                        </a:rPr>
                        <a:t>tweet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solidFill>
                            <a:srgbClr val="002060"/>
                          </a:solidFill>
                          <a:effectLst/>
                        </a:rPr>
                        <a:t>tokens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89716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fontAlgn="ctr"/>
                      <a:r>
                        <a:rPr lang="pt-BR" sz="1600" b="1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“No momento PETR4 respeita o suporte de R$15,42”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['No', 'momento', 'PETR4', 'respeita', 'o', 'suporte', 'de', 'R', '$', '15,42', '.']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06687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ctr"/>
                      <a:r>
                        <a:rPr lang="pt-BR" sz="1600" b="1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“28/04 O Ibovespa fechou estável, aos 51.395pts. Destaques: GOLL4 +4,04% e OIBR4 -5,98%. </a:t>
                      </a:r>
                      <a:r>
                        <a:rPr lang="pt-BR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http://t.co/j9yUOf2ipY</a:t>
                      </a:r>
                      <a:r>
                        <a:rPr lang="pt-BR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['28/04', 'O', 'Ibovespa', 'fechou', 'estável', ',', 'aos', '51.395pts', '.', 'Destaques', ':', 'GOLL4', '+4,04', '%', 'e', 'OIBR4', '-5,98', '%', '.', 'http', ':', '//t.co/j9yUOf2ipY']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57698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fontAlgn="ctr"/>
                      <a:r>
                        <a:rPr lang="pt-BR" sz="1600" b="1" dirty="0">
                          <a:solidFill>
                            <a:srgbClr val="C00000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600" dirty="0">
                          <a:solidFill>
                            <a:srgbClr val="C00000"/>
                          </a:solidFill>
                          <a:effectLst/>
                        </a:rPr>
                        <a:t>“</a:t>
                      </a:r>
                      <a:r>
                        <a:rPr lang="pt-BR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Localiza (RENT3) autoriza pagamento de R$ 13,9 mi em juros sobre capital próprio...”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6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['Localiza', '(', 'RENT3', ')', 'autoriza', 'pagamento', 'de', 'R', '$', '13,9', 'mi', 'em', 'juros', 'sobre', 'capital', 'próprio', '...']</a:t>
                      </a:r>
                      <a:endParaRPr lang="pt-BR" sz="160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66997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67532568-6E02-469E-4F52-9D74DB3FE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Tokenização com a NLTK (6/7)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542896C-77AB-6445-2DCE-7C730FFAF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929240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Tokenização de todos os textos de um corpus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Resultado do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apply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na coluna “tweet” (textos brutos)  nova coluna “tokens” com todos os textos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tokenizados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foi criada.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i="1" dirty="0">
              <a:solidFill>
                <a:srgbClr val="0070C0"/>
              </a:solidFill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7872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BA02-23F2-5520-843B-B09B60488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5EBDE4E5-EDFD-08BC-D0D6-13FC5DF64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Tokenização com a NLTK (7/7)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AEFA7B12-1141-3BCA-13A8-73C4E935E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129614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Tokenização customizada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Para uma tokenização customizada, você deverá definir as suas próprias expressões regulares usando o módulo </a:t>
            </a:r>
            <a:r>
              <a:rPr lang="pt-BR" sz="2000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RegexpTokenizer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.</a:t>
            </a:r>
            <a:endParaRPr lang="pt-BR" sz="2000" i="1" dirty="0">
              <a:solidFill>
                <a:srgbClr val="0070C0"/>
              </a:solidFill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CE7A21-288A-C087-C783-768888A89C52}"/>
              </a:ext>
            </a:extLst>
          </p:cNvPr>
          <p:cNvSpPr txBox="1"/>
          <p:nvPr/>
        </p:nvSpPr>
        <p:spPr>
          <a:xfrm>
            <a:off x="841636" y="2411685"/>
            <a:ext cx="8756128" cy="25648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Exemplo 1: retornar apenas os tokens, sem pontuações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 =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'O Rio de Janeiro, fevereiro e março!'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RegexpTokenizer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tokenizer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RegexpTokenizer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(r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'\w+'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tokens2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tokenizer.tokenize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texto.lower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(tokens2)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Exemplo 2: retornar apenas alguns sinais de pontuação especificados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tokenizer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RegexpTokenizer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(r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'[.?!,;]'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tokens3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tokenizer.tokenize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texto.lower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(tokens3)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50BC359-92EB-DBA7-C1B2-492043E0941C}"/>
              </a:ext>
            </a:extLst>
          </p:cNvPr>
          <p:cNvSpPr txBox="1"/>
          <p:nvPr/>
        </p:nvSpPr>
        <p:spPr>
          <a:xfrm>
            <a:off x="935732" y="5494044"/>
            <a:ext cx="88571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&gt; </a:t>
            </a: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['o', 'rio', 'de', 'janeiro', 'fevereiro', 'e', 'março’] </a:t>
            </a:r>
            <a:b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</a:br>
            <a:endParaRPr lang="pt-BR" b="0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[',', '!']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3578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1D04-B56E-AB2B-4710-A66C4874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37B2959-CBEF-6386-3F08-1D62C47D3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Frequências de Palavras (1/2)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BEC9E0E6-9093-2D87-B59F-40A08EE899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93610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Frequência das palavras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latin typeface="+mj-lt"/>
                <a:sym typeface="Symbol" panose="05050102010706020507" pitchFamily="18" charset="2"/>
              </a:rPr>
              <a:t>Com a lista de tokens, podemos obter a frequência de cada </a:t>
            </a:r>
            <a:r>
              <a:rPr lang="pt-BR" sz="1800" dirty="0" err="1">
                <a:latin typeface="+mj-lt"/>
                <a:sym typeface="Symbol" panose="05050102010706020507" pitchFamily="18" charset="2"/>
              </a:rPr>
              <a:t>type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 (palavra do vocabulário) utilizando a classe </a:t>
            </a:r>
            <a:r>
              <a:rPr lang="pt-BR" sz="1800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FreqDist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latin typeface="+mj-lt"/>
                <a:sym typeface="Symbol" panose="05050102010706020507" pitchFamily="18" charset="2"/>
              </a:rPr>
              <a:t>A função </a:t>
            </a:r>
            <a:r>
              <a:rPr lang="pt-BR" sz="1800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most_common</a:t>
            </a:r>
            <a:r>
              <a:rPr lang="pt-BR" sz="18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(</a:t>
            </a:r>
            <a:r>
              <a:rPr lang="pt-BR" sz="1800" i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n</a:t>
            </a:r>
            <a:r>
              <a:rPr lang="pt-BR" sz="18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)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 ordena os tokens por frequência.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latin typeface="+mj-lt"/>
                <a:sym typeface="Symbol" panose="05050102010706020507" pitchFamily="18" charset="2"/>
              </a:rPr>
              <a:t>Se </a:t>
            </a:r>
            <a:r>
              <a:rPr lang="pt-BR" sz="1800" i="1" dirty="0">
                <a:latin typeface="+mj-lt"/>
                <a:sym typeface="Symbol" panose="05050102010706020507" pitchFamily="18" charset="2"/>
              </a:rPr>
              <a:t>n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 não for especificado, gera resultado para todos os tokens. Caso contrário, para os </a:t>
            </a:r>
            <a:r>
              <a:rPr lang="pt-BR" sz="1800" i="1" dirty="0">
                <a:latin typeface="+mj-lt"/>
                <a:sym typeface="Symbol" panose="05050102010706020507" pitchFamily="18" charset="2"/>
              </a:rPr>
              <a:t>n</a:t>
            </a:r>
            <a:r>
              <a:rPr lang="pt-BR" sz="1800" dirty="0">
                <a:latin typeface="+mj-lt"/>
                <a:sym typeface="Symbol" panose="05050102010706020507" pitchFamily="18" charset="2"/>
              </a:rPr>
              <a:t> mais frequentes.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59819A-798C-B9E2-75FC-52FD72B963FA}"/>
              </a:ext>
            </a:extLst>
          </p:cNvPr>
          <p:cNvSpPr txBox="1"/>
          <p:nvPr/>
        </p:nvSpPr>
        <p:spPr>
          <a:xfrm>
            <a:off x="767524" y="3108920"/>
            <a:ext cx="9025316" cy="2975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 =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"""Que não é o que NÃO pode ser que não é o que não pode ser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que não é o que não pode ser que não é o que NÃO PODE ser que NÃO É"""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1. obtém os tokens (veja que o texto foi convertido para minúsculo)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texto.lower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2. usa 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FreqDist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sobre a lista de tokens em minúsculo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freq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nltk.FreqDist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3. imprime os tokens, os 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types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e 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e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suas frequências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'vocabulário: 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sz="1600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(tokens)) 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o set elimina repetições da lista </a:t>
            </a:r>
            <a:b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                                   # assim, gera o vocabulário!!!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'\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nfrequência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de cada 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 (palavra):'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freq.most_common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80CA88-62FC-7B60-7C2F-4FA9D6536FBA}"/>
              </a:ext>
            </a:extLst>
          </p:cNvPr>
          <p:cNvSpPr txBox="1"/>
          <p:nvPr/>
        </p:nvSpPr>
        <p:spPr>
          <a:xfrm>
            <a:off x="739276" y="6228109"/>
            <a:ext cx="88571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vocabulário: {'é', 'pode', 'não', 'o', 'ser', 'que’} </a:t>
            </a:r>
          </a:p>
          <a:p>
            <a:endParaRPr lang="pt-BR" sz="160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frequência de cada </a:t>
            </a:r>
            <a:r>
              <a:rPr lang="pt-BR" sz="1600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type</a:t>
            </a:r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(palavra): </a:t>
            </a:r>
            <a:b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[('que', 9), ('não', 9), ('é', 5), ('o', 4), ('pode', 4), ('ser', 4)]</a:t>
            </a:r>
            <a:endParaRPr lang="pt-B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0826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F985D-BE68-BEAF-983A-E9E7C880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817D367D-C8C7-108C-7683-0B334796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Frequências de Palavras (2/2)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C68890D8-D41D-3A60-FCC9-4F69D4D46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93610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Frequência das palavras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latin typeface="+mj-lt"/>
                <a:sym typeface="Symbol" panose="05050102010706020507" pitchFamily="18" charset="2"/>
              </a:rPr>
              <a:t>IMPORTANTE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: Tokens em maiúsculo e minúsculo são considerados diferentes, por isso convertemos o texto para minúsculo nos exemplos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Existe também a função </a:t>
            </a:r>
            <a:r>
              <a:rPr lang="pt-BR" sz="2000" dirty="0" err="1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tabulate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()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que gera uma tabulação, além de outros métodos disponíveis.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7C7756-A026-EEBE-6DFB-22635CDF9890}"/>
              </a:ext>
            </a:extLst>
          </p:cNvPr>
          <p:cNvSpPr txBox="1"/>
          <p:nvPr/>
        </p:nvSpPr>
        <p:spPr>
          <a:xfrm>
            <a:off x="854160" y="3036912"/>
            <a:ext cx="8889036" cy="2154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 =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"""Que não é o que NÃO pode ser que não é o que não pode ser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que não é o que não pode ser que não é o que NÃO PODE ser que NÃO É"""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1. obtém os tokens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texto.lower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2. usa 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FreqDist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sobre a lista de tokens em minúsculo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freq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nltk.FreqDist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freq.tabulate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gera uma tabulação (há outros métodos disponíveis)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D4E7ED8-7E0F-F39E-3F05-1FAF8069064C}"/>
              </a:ext>
            </a:extLst>
          </p:cNvPr>
          <p:cNvSpPr txBox="1"/>
          <p:nvPr/>
        </p:nvSpPr>
        <p:spPr>
          <a:xfrm>
            <a:off x="854160" y="5508029"/>
            <a:ext cx="8857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que  não   é   o   pode   ser </a:t>
            </a: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9    9     5   4   4      4 </a:t>
            </a:r>
            <a:endParaRPr lang="pt-BR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741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97F3-BF55-6CF9-D827-48354FFBC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2090EAD-3932-EC9B-E5AE-7E144C6ED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</a:t>
            </a:r>
            <a:r>
              <a:rPr lang="pt-BR" altLang="pt-BR" i="1" dirty="0"/>
              <a:t>n-</a:t>
            </a:r>
            <a:r>
              <a:rPr lang="pt-BR" altLang="pt-BR" dirty="0"/>
              <a:t>Gramas (1/4)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E9BA51A4-E668-6E2A-3AAA-CE353980C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122413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Bigramas, Trigramas e </a:t>
            </a:r>
            <a:r>
              <a:rPr lang="pt-BR" sz="2000" b="1" i="1" dirty="0"/>
              <a:t>n</a:t>
            </a:r>
            <a:r>
              <a:rPr lang="pt-BR" sz="2000" b="1" dirty="0"/>
              <a:t>-gramas*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Sequências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 de 2, 3 ou </a:t>
            </a:r>
            <a:r>
              <a:rPr lang="pt-BR" sz="2000" i="1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n</a:t>
            </a:r>
            <a:r>
              <a:rPr lang="pt-BR" sz="2000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+mj-lt"/>
                <a:sym typeface="Symbol" panose="05050102010706020507" pitchFamily="18" charset="2"/>
              </a:rPr>
              <a:t>palavras consecutivas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, respectivamente.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Podem ser gerados a partir da lista de tokens.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i="1" dirty="0">
              <a:solidFill>
                <a:srgbClr val="0070C0"/>
              </a:solidFill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8ABFD2-8ECE-3AF2-88E4-C3A3F6B691A2}"/>
              </a:ext>
            </a:extLst>
          </p:cNvPr>
          <p:cNvSpPr txBox="1"/>
          <p:nvPr/>
        </p:nvSpPr>
        <p:spPr>
          <a:xfrm>
            <a:off x="854160" y="2267669"/>
            <a:ext cx="8756128" cy="2769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bigrams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trigrams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 =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'Rio de Janeiro, São Paulo e Minas Gerais estão na região Sudeste’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1. gera a lista de tokens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(d,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language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portuguese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2. gera as listas com os bigramas e trigramas a partir dos tokens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lst_bigramas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bigrams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(tokens))</a:t>
            </a: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lst_trigramas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trigrams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'bigramas: 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lst_bigramas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); print()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'trigramas: 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lst_trigramas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489228-1872-E4AE-5A49-54DD8F923051}"/>
              </a:ext>
            </a:extLst>
          </p:cNvPr>
          <p:cNvSpPr txBox="1"/>
          <p:nvPr/>
        </p:nvSpPr>
        <p:spPr>
          <a:xfrm>
            <a:off x="863724" y="5147989"/>
            <a:ext cx="88571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bigramas: [('Rio', 'de'), ('de', 'Janeiro'), ('Janeiro', ','), (',', 'São'), ('São', 'Paulo'), ('Paulo', 'e'), ('e', 'Minas'), ('Minas', 'Gerais'), ('Gerais', 'estão'), ('estão', 'na'), ('na', 'região'), ('região', 'Sudeste’)] </a:t>
            </a:r>
          </a:p>
          <a:p>
            <a:endParaRPr lang="pt-BR" sz="140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pt-BR" sz="14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trigramas: [('Rio', 'de', 'Janeiro'), ('de', 'Janeiro', ','), ('Janeiro', ',', 'São'), (',', 'São', 'Paulo'), ('São', 'Paulo', 'e'), ('Paulo', 'e', 'Minas'), ('e', 'Minas', 'Gerais'), ('Minas', 'Gerais', 'estão'), ('Gerais', 'estão', 'na'), ('estão', 'na', 'região'), ('na', 'região', 'Sudeste')]</a:t>
            </a:r>
            <a:endParaRPr lang="pt-BR" sz="1400" dirty="0">
              <a:solidFill>
                <a:srgbClr val="FF00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673DC7C-3289-33FA-4799-04D47DA57ADA}"/>
              </a:ext>
            </a:extLst>
          </p:cNvPr>
          <p:cNvSpPr txBox="1"/>
          <p:nvPr/>
        </p:nvSpPr>
        <p:spPr>
          <a:xfrm>
            <a:off x="827720" y="7074202"/>
            <a:ext cx="900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eaLnBrk="1">
              <a:defRPr/>
            </a:pPr>
            <a:r>
              <a:rPr lang="pt-BR" sz="1200" i="1" dirty="0">
                <a:latin typeface="+mj-lt"/>
                <a:sym typeface="Symbol" panose="05050102010706020507" pitchFamily="18" charset="2"/>
              </a:rPr>
              <a:t>* Na primeira semana de aula vimos os n-gramas de caracteres. Mas agora estão sendo apresentados os </a:t>
            </a:r>
            <a:r>
              <a:rPr lang="pt-BR" sz="1200" b="1" i="1" dirty="0">
                <a:latin typeface="+mj-lt"/>
                <a:sym typeface="Symbol" panose="05050102010706020507" pitchFamily="18" charset="2"/>
              </a:rPr>
              <a:t>n-gramas de palavras </a:t>
            </a:r>
            <a:r>
              <a:rPr lang="pt-BR" sz="1200" i="1" dirty="0">
                <a:latin typeface="+mj-lt"/>
                <a:sym typeface="Symbol" panose="05050102010706020507" pitchFamily="18" charset="2"/>
              </a:rPr>
              <a:t>que são mais utilizados na prática e, por isso, serão chamados apenas de “n-gramas”.</a:t>
            </a:r>
            <a:endParaRPr lang="pt-BR" sz="1200" dirty="0">
              <a:solidFill>
                <a:srgbClr val="FF0000"/>
              </a:solidFill>
              <a:latin typeface="+mj-lt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560002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B6254-831E-8AEA-F43B-CE86D57A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FAB8819-DB82-3615-3789-30B1EEEE0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</a:t>
            </a:r>
            <a:r>
              <a:rPr lang="pt-BR" altLang="pt-BR" i="1" dirty="0"/>
              <a:t>n-</a:t>
            </a:r>
            <a:r>
              <a:rPr lang="pt-BR" altLang="pt-BR" dirty="0"/>
              <a:t>Gramas (2/4)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B9CB276A-3214-927E-E71A-27447C7C2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93610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Bigramas, Trigramas e n-gramas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Exemplo para identificar palavras compostas</a:t>
            </a:r>
            <a:endParaRPr lang="pt-BR" sz="2000" i="1" dirty="0">
              <a:solidFill>
                <a:srgbClr val="0070C0"/>
              </a:solidFill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3C5B12-16E3-4CE0-2095-8939DF24C3AA}"/>
              </a:ext>
            </a:extLst>
          </p:cNvPr>
          <p:cNvSpPr txBox="1"/>
          <p:nvPr/>
        </p:nvSpPr>
        <p:spPr>
          <a:xfrm>
            <a:off x="854160" y="1979637"/>
            <a:ext cx="8721640" cy="25648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Um bigrama em que as duas palavras começam com maiúsculo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pode vir a ser uma palavras composta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v1 = 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[b </a:t>
            </a:r>
            <a:r>
              <a:rPr lang="pt-BR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b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lst_bigramas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b[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isupper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b[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isupper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()]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(v1)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Um trigrama em que as duas palavras nas pontas começam com 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maiúsculo e a do meio com minúsculo, pode vir a ser uma palavras 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composta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dirty="0">
                <a:solidFill>
                  <a:srgbClr val="000000"/>
                </a:solidFill>
                <a:latin typeface="Courier New" panose="02070309020205020404" pitchFamily="49" charset="0"/>
              </a:rPr>
              <a:t>v2 =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[t </a:t>
            </a:r>
            <a:r>
              <a:rPr lang="pt-BR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lst_trigramas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isupper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islower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][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isupper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()]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(v2)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A110D6-BCE6-B75B-AB51-46111C31486A}"/>
              </a:ext>
            </a:extLst>
          </p:cNvPr>
          <p:cNvSpPr txBox="1"/>
          <p:nvPr/>
        </p:nvSpPr>
        <p:spPr>
          <a:xfrm>
            <a:off x="935732" y="4774008"/>
            <a:ext cx="8857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[('São', 'Paulo'), ('Minas', 'Gerais’)] </a:t>
            </a:r>
          </a:p>
          <a:p>
            <a:endParaRPr lang="pt-BR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[('Rio', 'de', 'Janeiro'), ('Paulo', 'e', 'Minas')]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8140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5A159-D332-F3DA-AD35-CF1B482F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DAA2583-349B-88E4-6261-F834F786B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</a:t>
            </a:r>
            <a:r>
              <a:rPr lang="pt-BR" altLang="pt-BR" i="1" dirty="0"/>
              <a:t>n-</a:t>
            </a:r>
            <a:r>
              <a:rPr lang="pt-BR" altLang="pt-BR" dirty="0"/>
              <a:t>Gramas (3/4)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9095ABCA-337D-89AA-A59F-D19575ECD1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50405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Exemplo com </a:t>
            </a:r>
            <a:r>
              <a:rPr lang="pt-BR" sz="2000" b="1" i="1" dirty="0"/>
              <a:t>4-</a:t>
            </a:r>
            <a:r>
              <a:rPr lang="pt-BR" sz="2000" b="1" dirty="0"/>
              <a:t>gramas</a:t>
            </a: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9C456B-7565-3701-D9EB-13431DC706FC}"/>
              </a:ext>
            </a:extLst>
          </p:cNvPr>
          <p:cNvSpPr txBox="1"/>
          <p:nvPr/>
        </p:nvSpPr>
        <p:spPr>
          <a:xfrm>
            <a:off x="891648" y="1503089"/>
            <a:ext cx="8929240" cy="15388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ngrams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para 4-gramas ou mais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 =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"""Que não é o que NÃO pode ser que não é o que não pode ser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que não é o que não pode ser que não é o que NÃO PODE ser que NÃO É"""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texto.lower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(),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language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portuguese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ngrams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(tokens, </a:t>
            </a:r>
            <a:r>
              <a:rPr lang="pt-BR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7DAACD0-09A1-AF1F-8399-39C8509D35CB}"/>
              </a:ext>
            </a:extLst>
          </p:cNvPr>
          <p:cNvSpPr txBox="1"/>
          <p:nvPr/>
        </p:nvSpPr>
        <p:spPr>
          <a:xfrm>
            <a:off x="791146" y="3419797"/>
            <a:ext cx="90016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[('que', 'não', 'é', 'o'), ('não', 'é', 'o', 'que'), ('é', 'o', 'que', 'não'), ('o', 'que', 'não', 'pode'), ('que', 'não', 'pode', 'ser'), ('não', 'pode', 'ser', 'que'), ('pode', 'ser', 'que', 'não'), ('ser', 'que', 'não', 'é'), ('que', 'não', 'é', 'o'), ('não', 'é', 'o', 'que'), ('é', 'o', 'que', 'não'), ('o', 'que', 'não', 'pode'), ('que', 'não', 'pode', 'ser'), ('não', 'pode', 'ser', 'que'), ('pode', 'ser', 'que', 'não'), ('ser', 'que', 'não', 'é'), ('que', 'não', 'é', 'o'), ('não', 'é', 'o', 'que'), ('é', 'o', 'que', 'não'), ('o', 'que', 'não', 'pode'), ('que', 'não', 'pode', 'ser'), ('não', 'pode', 'ser', 'que'), ('pode', 'ser', 'que', 'não'), ('ser', 'que', 'não', 'é'), ('que', 'não', 'é', 'o'), ('não', 'é', 'o', 'que'), ('é', 'o', 'que', 'não'), ('o', 'que', 'não', 'pode'), ('que', 'não', 'pode', 'ser'), ('não', 'pode', 'ser', 'que'), ('pode', 'ser', 'que', 'não'), ('ser', 'que', 'não', 'é’)] </a:t>
            </a:r>
          </a:p>
          <a:p>
            <a:endParaRPr lang="pt-BR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8900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C3A56-7679-ACCC-B997-B24EFF5A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D33B1BAF-F4FE-3896-F148-D79C54FF0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</a:t>
            </a:r>
            <a:r>
              <a:rPr lang="pt-BR" altLang="pt-BR" i="1" dirty="0"/>
              <a:t>n-</a:t>
            </a:r>
            <a:r>
              <a:rPr lang="pt-BR" altLang="pt-BR" dirty="0"/>
              <a:t>Gramas (4/4)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BBE4FFAC-0E3A-D202-B4A3-D4B5DBB7F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504056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 err="1"/>
              <a:t>FreqDist</a:t>
            </a:r>
            <a:r>
              <a:rPr lang="pt-BR" sz="2000" b="1" dirty="0"/>
              <a:t> </a:t>
            </a:r>
            <a:r>
              <a:rPr lang="pt-BR" sz="2000" dirty="0"/>
              <a:t>– pode ser usado para contagem de frequências de bigramas, trigramas e </a:t>
            </a:r>
            <a:r>
              <a:rPr lang="pt-BR" sz="2000" i="1" dirty="0"/>
              <a:t>n</a:t>
            </a:r>
            <a:r>
              <a:rPr lang="pt-BR" sz="2000" dirty="0"/>
              <a:t>-gramas (no exemplo abaixo, contamos os bigramas)</a:t>
            </a: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02D95C-D6B1-BB88-3F71-5130FAD7978C}"/>
              </a:ext>
            </a:extLst>
          </p:cNvPr>
          <p:cNvSpPr txBox="1"/>
          <p:nvPr/>
        </p:nvSpPr>
        <p:spPr>
          <a:xfrm>
            <a:off x="877976" y="1919550"/>
            <a:ext cx="8929240" cy="235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bigrams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 =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"""Que não é o que NÃO pode ser que não é o que não pode ser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que não é o que não pode ser que não é o que NÃO PODE ser que NÃO É"""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texto.lower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(),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language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portuguese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computando frequências de bigramas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bgs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bigrams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</a:t>
            </a: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fdist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nltk.FreqDist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bgs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k,v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fdist.items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 </a:t>
            </a: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k,v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C4EB920-6F5F-CCC2-ECD5-FEF2CC296B37}"/>
              </a:ext>
            </a:extLst>
          </p:cNvPr>
          <p:cNvSpPr txBox="1"/>
          <p:nvPr/>
        </p:nvSpPr>
        <p:spPr>
          <a:xfrm>
            <a:off x="791146" y="4571925"/>
            <a:ext cx="90016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('que', 'não') 9 </a:t>
            </a:r>
          </a:p>
          <a:p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('não', 'é') 5 </a:t>
            </a:r>
          </a:p>
          <a:p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('é', 'o') 4 </a:t>
            </a:r>
          </a:p>
          <a:p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('o', 'que') 4 </a:t>
            </a:r>
          </a:p>
          <a:p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('não', 'pode') 4 </a:t>
            </a:r>
          </a:p>
          <a:p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('pode', 'ser') 4 </a:t>
            </a:r>
          </a:p>
          <a:p>
            <a:r>
              <a:rPr lang="pt-BR" sz="16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('ser', 'que') 4</a:t>
            </a:r>
            <a:endParaRPr lang="pt-BR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5367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Stop Words (1/5)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B76BD-978B-AB72-64FA-86CC614C2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85723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Stop words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São palavras que de maneira geral </a:t>
            </a:r>
            <a:r>
              <a:rPr lang="pt-BR" sz="2000" b="1" dirty="0"/>
              <a:t>não</a:t>
            </a:r>
            <a:r>
              <a:rPr lang="pt-BR" sz="2000" dirty="0"/>
              <a:t> constituem </a:t>
            </a:r>
            <a:r>
              <a:rPr lang="pt-BR" sz="2000" b="1" dirty="0"/>
              <a:t>informação relevante</a:t>
            </a:r>
            <a:r>
              <a:rPr lang="pt-BR" sz="2000" dirty="0"/>
              <a:t> para o sentido do texto.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Quase sempre são palavras das seguintes classes gramaticais: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C00000"/>
                </a:solidFill>
              </a:rPr>
              <a:t>artigos</a:t>
            </a:r>
            <a:r>
              <a:rPr lang="pt-BR" sz="2000" dirty="0"/>
              <a:t>, </a:t>
            </a:r>
            <a:r>
              <a:rPr lang="pt-BR" sz="2000" dirty="0">
                <a:solidFill>
                  <a:srgbClr val="C00000"/>
                </a:solidFill>
              </a:rPr>
              <a:t>preposições</a:t>
            </a:r>
            <a:r>
              <a:rPr lang="pt-BR" sz="2000" dirty="0"/>
              <a:t>, </a:t>
            </a:r>
            <a:r>
              <a:rPr lang="pt-BR" sz="2000" dirty="0">
                <a:solidFill>
                  <a:srgbClr val="C00000"/>
                </a:solidFill>
              </a:rPr>
              <a:t>pronomes</a:t>
            </a:r>
            <a:r>
              <a:rPr lang="pt-BR" sz="2000" dirty="0"/>
              <a:t>, </a:t>
            </a:r>
            <a:r>
              <a:rPr lang="pt-BR" sz="2000" dirty="0">
                <a:solidFill>
                  <a:srgbClr val="C00000"/>
                </a:solidFill>
              </a:rPr>
              <a:t>conjunções</a:t>
            </a:r>
            <a:r>
              <a:rPr lang="pt-BR" sz="2000" dirty="0"/>
              <a:t>, alguns </a:t>
            </a:r>
            <a:r>
              <a:rPr lang="pt-BR" sz="2000" dirty="0">
                <a:solidFill>
                  <a:srgbClr val="C00000"/>
                </a:solidFill>
              </a:rPr>
              <a:t>verbos de ligação</a:t>
            </a:r>
            <a:r>
              <a:rPr lang="pt-BR" sz="2000" dirty="0"/>
              <a:t>, ...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Por exemplo, a </a:t>
            </a:r>
            <a:r>
              <a:rPr lang="pt-BR" sz="2000" dirty="0">
                <a:solidFill>
                  <a:srgbClr val="0070C0"/>
                </a:solidFill>
              </a:rPr>
              <a:t>NLTK</a:t>
            </a:r>
            <a:r>
              <a:rPr lang="pt-BR" sz="2000" dirty="0"/>
              <a:t> vem com uma lista de </a:t>
            </a:r>
            <a:r>
              <a:rPr lang="pt-BR" sz="2000" dirty="0">
                <a:solidFill>
                  <a:srgbClr val="0070C0"/>
                </a:solidFill>
              </a:rPr>
              <a:t>207 stop words </a:t>
            </a:r>
            <a:r>
              <a:rPr lang="pt-BR" sz="2000" dirty="0"/>
              <a:t>do Português.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Mas você pode incluir ou remover palavras de desejar. </a:t>
            </a:r>
            <a:br>
              <a:rPr lang="pt-BR" sz="2000" dirty="0"/>
            </a:br>
            <a:endParaRPr lang="pt-BR" sz="2000" dirty="0"/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Abaixo, são mostradas 20 das 207 stop words da lista da NLTK: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3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19EA9D-B2F4-7F84-3678-FD32FAB9F4D5}"/>
              </a:ext>
            </a:extLst>
          </p:cNvPr>
          <p:cNvSpPr txBox="1"/>
          <p:nvPr/>
        </p:nvSpPr>
        <p:spPr>
          <a:xfrm>
            <a:off x="1440929" y="5592231"/>
            <a:ext cx="8279903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C00000"/>
                </a:solidFill>
              </a:rPr>
              <a:t>['a', 'à', 'ao', 'aos', 'aquela', 'aquelas', 'aquele', 'aqueles', 'aquilo', 'as’, ..., 'tivessem', 'tivéssemos', 'tu', 'tua', 'tuas', 'um', 'uma', 'você', 'vocês', 'vos']</a:t>
            </a:r>
          </a:p>
        </p:txBody>
      </p:sp>
    </p:spTree>
    <p:extLst>
      <p:ext uri="{BB962C8B-B14F-4D97-AF65-F5344CB8AC3E}">
        <p14:creationId xmlns:p14="http://schemas.microsoft.com/office/powerpoint/2010/main" val="516875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Stop Words (2/5)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82632EF-18C2-8EEE-04CF-932C13081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857232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Remoção de Stop Words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Na maioria das vezes, as stop words são removidas dos textos durante a </a:t>
            </a:r>
            <a:r>
              <a:rPr lang="pt-BR" sz="2000" dirty="0" err="1"/>
              <a:t>tokenização</a:t>
            </a:r>
            <a:r>
              <a:rPr lang="pt-BR" sz="2000" dirty="0"/>
              <a:t>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Objetivos</a:t>
            </a:r>
            <a:r>
              <a:rPr lang="pt-BR" sz="2000" dirty="0"/>
              <a:t>: reduzir o vocabulário e melhorar processo de análise de texto.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Entretanto, para certas aplicações a remoção de stop words pode não ser vantajosa, tendo em vista que elas podem indicar contexto.</a:t>
            </a:r>
            <a:br>
              <a:rPr lang="pt-BR" sz="2000" dirty="0"/>
            </a:b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Uma lista de stop words é chamada de </a:t>
            </a:r>
            <a:r>
              <a:rPr lang="pt-BR" sz="2000" b="1" dirty="0" err="1">
                <a:solidFill>
                  <a:srgbClr val="C00000"/>
                </a:solidFill>
              </a:rPr>
              <a:t>stoplist</a:t>
            </a:r>
            <a:r>
              <a:rPr lang="pt-BR" sz="2000" dirty="0"/>
              <a:t>.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 err="1">
                <a:solidFill>
                  <a:srgbClr val="C00000"/>
                </a:solidFill>
              </a:rPr>
              <a:t>stoplist</a:t>
            </a:r>
            <a:r>
              <a:rPr lang="pt-BR" sz="2000" dirty="0">
                <a:solidFill>
                  <a:srgbClr val="C00000"/>
                </a:solidFill>
              </a:rPr>
              <a:t> = {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à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a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cá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com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como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ele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ela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eu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dela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}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As ferramentas de PLN costumam vir com </a:t>
            </a:r>
            <a:r>
              <a:rPr lang="pt-BR" sz="2000" dirty="0" err="1"/>
              <a:t>stoplists</a:t>
            </a:r>
            <a:r>
              <a:rPr lang="pt-BR" sz="2000" dirty="0"/>
              <a:t> padrão para diferentes idiomas (como é o caso da NLTK).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Mas permitem que elas sejam alteradas.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3339274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Stop Words (3/5)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F09C07D-F0B1-4BB0-A916-31958577D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857232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Como criar uma </a:t>
            </a:r>
            <a:r>
              <a:rPr lang="pt-BR" b="1" dirty="0" err="1"/>
              <a:t>stoplist</a:t>
            </a:r>
            <a:r>
              <a:rPr lang="pt-BR" b="1" dirty="0"/>
              <a:t>?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 definição de uma </a:t>
            </a:r>
            <a:r>
              <a:rPr lang="pt-BR" sz="2000" dirty="0" err="1"/>
              <a:t>stoplist</a:t>
            </a:r>
            <a:r>
              <a:rPr lang="pt-BR" sz="2000" dirty="0"/>
              <a:t> é dependente de duas coisas:</a:t>
            </a:r>
          </a:p>
          <a:p>
            <a:pPr marL="914400" lvl="2" indent="0" eaLnBrk="1">
              <a:defRPr/>
            </a:pPr>
            <a:r>
              <a:rPr lang="pt-BR" sz="2000" dirty="0"/>
              <a:t>(1) </a:t>
            </a:r>
            <a:r>
              <a:rPr lang="pt-BR" sz="2000" b="1" dirty="0">
                <a:solidFill>
                  <a:srgbClr val="C00000"/>
                </a:solidFill>
              </a:rPr>
              <a:t>Idioma dos textos</a:t>
            </a:r>
            <a:r>
              <a:rPr lang="pt-BR" sz="2000" dirty="0"/>
              <a:t> do corpus.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 err="1">
                <a:solidFill>
                  <a:srgbClr val="0070C0"/>
                </a:solidFill>
              </a:rPr>
              <a:t>StopList</a:t>
            </a:r>
            <a:r>
              <a:rPr lang="pt-BR" sz="2000" dirty="0">
                <a:solidFill>
                  <a:srgbClr val="0070C0"/>
                </a:solidFill>
              </a:rPr>
              <a:t> para Inglês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 err="1">
                <a:solidFill>
                  <a:srgbClr val="0070C0"/>
                </a:solidFill>
              </a:rPr>
              <a:t>stoplist</a:t>
            </a:r>
            <a:r>
              <a:rPr lang="pt-BR" sz="2000" dirty="0">
                <a:solidFill>
                  <a:srgbClr val="0070C0"/>
                </a:solidFill>
              </a:rPr>
              <a:t> = {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0070C0"/>
                </a:solidFill>
              </a:rPr>
              <a:t>a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0070C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 err="1">
                <a:solidFill>
                  <a:srgbClr val="0070C0"/>
                </a:solidFill>
              </a:rPr>
              <a:t>and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0070C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0070C0"/>
                </a:solidFill>
              </a:rPr>
              <a:t>in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0070C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0070C0"/>
                </a:solidFill>
              </a:rPr>
              <a:t>I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0070C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 err="1">
                <a:solidFill>
                  <a:srgbClr val="0070C0"/>
                </a:solidFill>
              </a:rPr>
              <a:t>he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0070C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 err="1">
                <a:solidFill>
                  <a:srgbClr val="0070C0"/>
                </a:solidFill>
              </a:rPr>
              <a:t>she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0070C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 err="1">
                <a:solidFill>
                  <a:srgbClr val="0070C0"/>
                </a:solidFill>
              </a:rPr>
              <a:t>these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0070C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 err="1">
                <a:solidFill>
                  <a:srgbClr val="0070C0"/>
                </a:solidFill>
              </a:rPr>
              <a:t>this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0070C0"/>
                </a:solidFill>
              </a:rPr>
              <a:t>}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solidFill>
                <a:srgbClr val="C00000"/>
              </a:solidFill>
            </a:endParaRP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 err="1">
                <a:solidFill>
                  <a:srgbClr val="C00000"/>
                </a:solidFill>
              </a:rPr>
              <a:t>Stoplist</a:t>
            </a:r>
            <a:r>
              <a:rPr lang="pt-BR" sz="2000" dirty="0">
                <a:solidFill>
                  <a:srgbClr val="C00000"/>
                </a:solidFill>
              </a:rPr>
              <a:t> para Português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 err="1">
                <a:solidFill>
                  <a:srgbClr val="C00000"/>
                </a:solidFill>
              </a:rPr>
              <a:t>stoplist</a:t>
            </a:r>
            <a:r>
              <a:rPr lang="pt-BR" sz="2000" dirty="0">
                <a:solidFill>
                  <a:srgbClr val="C00000"/>
                </a:solidFill>
              </a:rPr>
              <a:t> = {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um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no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eu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ele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ela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estes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, </a:t>
            </a:r>
            <a:r>
              <a:rPr lang="pt-BR" sz="2000" dirty="0">
                <a:solidFill>
                  <a:schemeClr val="tx1"/>
                </a:solidFill>
              </a:rPr>
              <a:t>“</a:t>
            </a:r>
            <a:r>
              <a:rPr lang="pt-BR" sz="2000" dirty="0">
                <a:solidFill>
                  <a:srgbClr val="C00000"/>
                </a:solidFill>
              </a:rPr>
              <a:t>este</a:t>
            </a:r>
            <a:r>
              <a:rPr lang="pt-BR" sz="2000" dirty="0">
                <a:solidFill>
                  <a:schemeClr val="tx1"/>
                </a:solidFill>
              </a:rPr>
              <a:t>”</a:t>
            </a:r>
            <a:r>
              <a:rPr lang="pt-BR" sz="2000" dirty="0">
                <a:solidFill>
                  <a:srgbClr val="C00000"/>
                </a:solidFill>
              </a:rPr>
              <a:t>}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marL="914400" lvl="2" indent="0" eaLnBrk="1">
              <a:defRPr/>
            </a:pPr>
            <a:r>
              <a:rPr lang="pt-BR" sz="2000" dirty="0"/>
              <a:t>(2) </a:t>
            </a:r>
            <a:r>
              <a:rPr lang="pt-BR" sz="2000" b="1" dirty="0">
                <a:solidFill>
                  <a:srgbClr val="C00000"/>
                </a:solidFill>
              </a:rPr>
              <a:t>Problema</a:t>
            </a:r>
            <a:r>
              <a:rPr lang="pt-BR" sz="2000" dirty="0"/>
              <a:t> que está sendo tratado:	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Ex.</a:t>
            </a:r>
            <a:r>
              <a:rPr lang="pt-BR" sz="2000" dirty="0"/>
              <a:t>: </a:t>
            </a:r>
            <a:r>
              <a:rPr lang="pt-BR" sz="2000" dirty="0" err="1"/>
              <a:t>Stoplist</a:t>
            </a:r>
            <a:r>
              <a:rPr lang="pt-BR" sz="2000" dirty="0"/>
              <a:t> para um corpus de contratos sociais de empresas.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	poderia ser preciso acrescentar {“</a:t>
            </a:r>
            <a:r>
              <a:rPr lang="pt-BR" sz="2000" dirty="0">
                <a:solidFill>
                  <a:srgbClr val="C00000"/>
                </a:solidFill>
              </a:rPr>
              <a:t>ltda</a:t>
            </a:r>
            <a:r>
              <a:rPr lang="pt-BR" sz="2000" dirty="0"/>
              <a:t>”, “</a:t>
            </a:r>
            <a:r>
              <a:rPr lang="pt-BR" sz="2000" dirty="0">
                <a:solidFill>
                  <a:srgbClr val="C00000"/>
                </a:solidFill>
              </a:rPr>
              <a:t>s/a</a:t>
            </a:r>
            <a:r>
              <a:rPr lang="pt-BR" sz="2000" dirty="0"/>
              <a:t>”, “</a:t>
            </a:r>
            <a:r>
              <a:rPr lang="pt-BR" sz="2000" dirty="0">
                <a:solidFill>
                  <a:srgbClr val="C00000"/>
                </a:solidFill>
              </a:rPr>
              <a:t>me</a:t>
            </a:r>
            <a:r>
              <a:rPr lang="pt-BR" sz="2000" dirty="0"/>
              <a:t>”} à </a:t>
            </a:r>
            <a:r>
              <a:rPr lang="pt-BR" sz="2000" dirty="0" err="1"/>
              <a:t>stoplist</a:t>
            </a:r>
            <a:r>
              <a:rPr lang="pt-BR" sz="2000" dirty="0"/>
              <a:t>.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073462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DEA35-9CDD-A3DA-663A-D3D16EBE4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663CFCC0-BAAF-A69B-C1D0-4EAF484E6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Stop Words (4/5)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0D3B3442-C3C6-518B-B16E-4192B95DED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93610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Stop Words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 NLTK vem com uma lista de 207 stop words para o Português.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Você pode remover ou incluir qualquer termo que desejar.</a:t>
            </a:r>
            <a:br>
              <a:rPr lang="pt-BR" sz="2000" dirty="0">
                <a:latin typeface="+mj-lt"/>
                <a:sym typeface="Symbol" panose="05050102010706020507" pitchFamily="18" charset="2"/>
              </a:rPr>
            </a:b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No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Colab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é sempre preciso fazer o download do módulo...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... mas no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python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da sua máquina, isso já foi resolvido no momento que você instalou a NLTK e baixou seus dados.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455C06-3ECC-5251-CE03-9549CDFDF639}"/>
              </a:ext>
            </a:extLst>
          </p:cNvPr>
          <p:cNvSpPr txBox="1"/>
          <p:nvPr/>
        </p:nvSpPr>
        <p:spPr>
          <a:xfrm>
            <a:off x="967400" y="3995861"/>
            <a:ext cx="8721640" cy="718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endParaRPr lang="pt-BR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nltk.download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stopwords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5015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10E5-0A34-AA7F-01C6-A2BEDA85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E07426DB-06E0-93A1-735A-7111B8F6A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Stop Words (5/5)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D8EBD99-B22D-E811-EBA2-63778A3A2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611187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Stop Words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 exemplo abaixo ilustra como remover stop words da lista de tokens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026BBDA-76CF-15D6-1D13-CB5F3B019360}"/>
              </a:ext>
            </a:extLst>
          </p:cNvPr>
          <p:cNvSpPr txBox="1"/>
          <p:nvPr/>
        </p:nvSpPr>
        <p:spPr>
          <a:xfrm>
            <a:off x="850672" y="2042353"/>
            <a:ext cx="8721640" cy="3180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obtém a 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stoplist</a:t>
            </a: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do português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stoplist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nltk.corpus.stopwords.words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portuguese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---------------------------------------------------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Exemplo: removendo as stop words de um texto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          usando a lista padrão da </a:t>
            </a:r>
            <a:r>
              <a:rPr lang="pt-BR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nltk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---------------------------------------------------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stoplist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nltk.corpus.stopwords.words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portuguese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 = 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 sorriso do cachorro está no rabo."</a:t>
            </a: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 =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nltk.word_tokenize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texto.lower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(tokens)</a:t>
            </a:r>
          </a:p>
          <a:p>
            <a:pPr>
              <a:lnSpc>
                <a:spcPts val="1575"/>
              </a:lnSpc>
            </a:pPr>
            <a:b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tokens_sem_sw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[token </a:t>
            </a:r>
            <a:r>
              <a:rPr lang="pt-BR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tokens </a:t>
            </a:r>
            <a:r>
              <a:rPr lang="pt-BR" sz="1600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token </a:t>
            </a:r>
            <a:r>
              <a:rPr lang="pt-BR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stoplist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ts val="1575"/>
              </a:lnSpc>
            </a:pPr>
            <a:r>
              <a:rPr lang="pt-BR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'tokens:'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tokens_sem_sw</a:t>
            </a:r>
            <a:r>
              <a:rPr lang="pt-BR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endParaRPr lang="pt-BR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F0FFC7-6DE0-2EF0-0844-0F01477FD2F7}"/>
              </a:ext>
            </a:extLst>
          </p:cNvPr>
          <p:cNvSpPr txBox="1"/>
          <p:nvPr/>
        </p:nvSpPr>
        <p:spPr>
          <a:xfrm>
            <a:off x="944076" y="5498737"/>
            <a:ext cx="8857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&gt; tokens: ['sorriso', 'cachorro', 'rabo', '.']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4730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Lematização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6336704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O que é Lema?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Lema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é a forma de entrada de verbetes em dicionários (</a:t>
            </a:r>
            <a:r>
              <a:rPr lang="pt-BR" sz="2000" i="1" dirty="0">
                <a:latin typeface="+mj-lt"/>
                <a:sym typeface="Symbol" panose="05050102010706020507" pitchFamily="18" charset="2"/>
              </a:rPr>
              <a:t>definição muito simplista...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)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Por exemplo, você não encontra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cantei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cantava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”,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cantaremos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no dicionário, mas sim “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cantar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(verbo no infinitivo).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Da mesma forma, você não encontra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meninos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e “</a:t>
            </a:r>
            <a:r>
              <a:rPr lang="pt-BR" sz="2000" dirty="0">
                <a:solidFill>
                  <a:srgbClr val="0070C0"/>
                </a:solidFill>
                <a:latin typeface="+mj-lt"/>
                <a:sym typeface="Symbol" panose="05050102010706020507" pitchFamily="18" charset="2"/>
              </a:rPr>
              <a:t>meninozinho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e sim “</a:t>
            </a:r>
            <a:r>
              <a:rPr lang="pt-BR" sz="2000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menino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” (palavra no masculino singular).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/>
              <a:t>O que é Lematização?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Processo de transformar palavras para </a:t>
            </a:r>
            <a:r>
              <a:rPr lang="pt-BR" sz="2000" b="1" dirty="0">
                <a:solidFill>
                  <a:srgbClr val="C00000"/>
                </a:solidFill>
              </a:rPr>
              <a:t>lemas</a:t>
            </a:r>
            <a:r>
              <a:rPr lang="pt-BR" sz="2000" dirty="0"/>
              <a:t>.</a:t>
            </a: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Precisa ser feita com o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auxílio de recursos linguísticos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(alguma fonte de conhecimento, como dicionário, corpus anotado ou ontologia).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Objetivos</a:t>
            </a:r>
            <a:r>
              <a:rPr lang="pt-BR" sz="2000" dirty="0"/>
              <a:t>: reduzir o vocabulário e unificar formas variantes de uma palavra para sua forma “base” (de verbete).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 NLTK </a:t>
            </a:r>
            <a:r>
              <a:rPr lang="pt-BR" sz="2000" b="1" dirty="0">
                <a:latin typeface="+mj-lt"/>
                <a:sym typeface="Symbol" panose="05050102010706020507" pitchFamily="18" charset="2"/>
              </a:rPr>
              <a:t>não possui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lematizador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para o Português.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Porém, a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spaCy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tem. Veremos em uma aula futura.</a:t>
            </a:r>
          </a:p>
        </p:txBody>
      </p:sp>
    </p:spTree>
    <p:extLst>
      <p:ext uri="{BB962C8B-B14F-4D97-AF65-F5344CB8AC3E}">
        <p14:creationId xmlns:p14="http://schemas.microsoft.com/office/powerpoint/2010/main" val="16055280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(1/10)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8CCA1445-4AFA-121A-B66C-441D74752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212331"/>
              </p:ext>
            </p:extLst>
          </p:nvPr>
        </p:nvGraphicFramePr>
        <p:xfrm>
          <a:off x="3108325" y="3998913"/>
          <a:ext cx="3862388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554480" imgH="1348716" progId="Excel.Sheet.8">
                  <p:embed/>
                </p:oleObj>
              </mc:Choice>
              <mc:Fallback>
                <p:oleObj name="Worksheet" r:id="rId3" imgW="1554480" imgH="1348716" progId="Excel.Sheet.8">
                  <p:embed/>
                  <p:pic>
                    <p:nvPicPr>
                      <p:cNvPr id="5122" name="Object 4">
                        <a:extLst>
                          <a:ext uri="{FF2B5EF4-FFF2-40B4-BE49-F238E27FC236}">
                            <a16:creationId xmlns:a16="http://schemas.microsoft.com/office/drawing/2014/main" id="{6956BEAC-9C02-3314-1BD0-798462A286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3998913"/>
                        <a:ext cx="3862388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AAAF9D4-5F08-72E1-10C6-3575FC5FD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857232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tx1"/>
                </a:solidFill>
              </a:rPr>
              <a:t>O que é radicalização (</a:t>
            </a:r>
            <a:r>
              <a:rPr lang="pt-BR" b="1" dirty="0" err="1">
                <a:solidFill>
                  <a:schemeClr val="tx1"/>
                </a:solidFill>
              </a:rPr>
              <a:t>stemming</a:t>
            </a:r>
            <a:r>
              <a:rPr lang="pt-BR" b="1" dirty="0">
                <a:solidFill>
                  <a:schemeClr val="tx1"/>
                </a:solidFill>
              </a:rPr>
              <a:t>)?</a:t>
            </a:r>
            <a:endParaRPr lang="pt-BR" sz="20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Processo de transformar formas variantes das palavras para uma representação concisa, denominada </a:t>
            </a:r>
            <a:r>
              <a:rPr lang="pt-BR" sz="2000" b="1" dirty="0" err="1">
                <a:solidFill>
                  <a:srgbClr val="C00000"/>
                </a:solidFill>
              </a:rPr>
              <a:t>stem</a:t>
            </a:r>
            <a:r>
              <a:rPr lang="pt-BR" sz="2000" dirty="0"/>
              <a:t>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Essa representação concisa </a:t>
            </a:r>
            <a:r>
              <a:rPr lang="pt-BR" sz="2000" b="1" dirty="0"/>
              <a:t>não</a:t>
            </a:r>
            <a:r>
              <a:rPr lang="pt-BR" sz="2000" dirty="0"/>
              <a:t> é o </a:t>
            </a:r>
            <a:r>
              <a:rPr lang="pt-BR" sz="2000" b="1" dirty="0"/>
              <a:t>lema</a:t>
            </a:r>
            <a:r>
              <a:rPr lang="pt-BR" sz="2000" dirty="0"/>
              <a:t>!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Na verdade, o </a:t>
            </a:r>
            <a:r>
              <a:rPr lang="pt-BR" sz="2000" dirty="0" err="1"/>
              <a:t>stemming</a:t>
            </a:r>
            <a:r>
              <a:rPr lang="pt-BR" sz="2000" dirty="0"/>
              <a:t> é mais simples do que a lematização, pois não depende do emprego de um recurso linguístico.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 </a:t>
            </a:r>
            <a:r>
              <a:rPr lang="pt-BR" sz="2000" dirty="0" err="1"/>
              <a:t>stem</a:t>
            </a:r>
            <a:r>
              <a:rPr lang="pt-BR" sz="2000" dirty="0"/>
              <a:t> não precisa nem mesmo representar, necessariamente, o radical morfológico de uma palavra.</a:t>
            </a:r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3593852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(2/10)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746400C-E51C-6824-B3CD-62891BEA1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857232" cy="4931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 err="1">
                <a:solidFill>
                  <a:schemeClr val="tx1"/>
                </a:solidFill>
              </a:rPr>
              <a:t>Stemmers</a:t>
            </a:r>
            <a:endParaRPr lang="pt-BR" sz="28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Algoritmos de </a:t>
            </a:r>
            <a:r>
              <a:rPr lang="pt-BR" sz="2000" dirty="0" err="1"/>
              <a:t>stemming</a:t>
            </a:r>
            <a:r>
              <a:rPr lang="pt-BR" sz="2000" dirty="0"/>
              <a:t> também são chamados de </a:t>
            </a:r>
            <a:r>
              <a:rPr lang="pt-BR" sz="2000" b="1" dirty="0" err="1">
                <a:solidFill>
                  <a:srgbClr val="C00000"/>
                </a:solidFill>
              </a:rPr>
              <a:t>stemmers</a:t>
            </a:r>
            <a:r>
              <a:rPr lang="pt-BR" sz="2000" dirty="0"/>
              <a:t>.</a:t>
            </a:r>
            <a:br>
              <a:rPr lang="pt-BR" sz="2000" dirty="0"/>
            </a:b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 utilização de </a:t>
            </a:r>
            <a:r>
              <a:rPr lang="pt-BR" sz="2000" dirty="0" err="1"/>
              <a:t>stemmers</a:t>
            </a:r>
            <a:r>
              <a:rPr lang="pt-BR" sz="2000" dirty="0"/>
              <a:t> oferece as mesmas 2 vantagens da utilização de </a:t>
            </a:r>
            <a:r>
              <a:rPr lang="pt-BR" sz="2000" dirty="0" err="1"/>
              <a:t>lematizadores</a:t>
            </a:r>
            <a:r>
              <a:rPr lang="pt-BR" sz="2000" dirty="0"/>
              <a:t>:</a:t>
            </a:r>
          </a:p>
          <a:p>
            <a:pPr marL="1371600" lvl="2" indent="-457200" eaLnBrk="1">
              <a:buFont typeface="+mj-lt"/>
              <a:buAutoNum type="arabicPeriod"/>
              <a:defRPr/>
            </a:pPr>
            <a:r>
              <a:rPr lang="pt-BR" sz="2000" dirty="0"/>
              <a:t>Torna o sistema mais eficiente, pois reduz a quantidade de palavras do vocabulário.</a:t>
            </a:r>
          </a:p>
          <a:p>
            <a:pPr marL="1371600" lvl="2" indent="-457200" eaLnBrk="1">
              <a:buFont typeface="+mj-lt"/>
              <a:buAutoNum type="arabicPeriod"/>
              <a:defRPr/>
            </a:pPr>
            <a:r>
              <a:rPr lang="pt-BR" sz="2000" dirty="0"/>
              <a:t>Torna o sistema mais eficaz, pois unifica as formas variantes de uma palavra em uma única representação. </a:t>
            </a:r>
            <a:br>
              <a:rPr lang="pt-BR" sz="2000" dirty="0"/>
            </a:b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</a:t>
            </a:r>
            <a:r>
              <a:rPr lang="pt-BR" sz="2000" b="1" dirty="0"/>
              <a:t> </a:t>
            </a:r>
            <a:r>
              <a:rPr lang="pt-BR" sz="2000" b="1" dirty="0">
                <a:solidFill>
                  <a:srgbClr val="C00000"/>
                </a:solidFill>
              </a:rPr>
              <a:t>vantagem</a:t>
            </a:r>
            <a:r>
              <a:rPr lang="pt-BR" sz="2000" b="1" dirty="0"/>
              <a:t> </a:t>
            </a:r>
            <a:r>
              <a:rPr lang="pt-BR" sz="2000" dirty="0"/>
              <a:t>do </a:t>
            </a:r>
            <a:r>
              <a:rPr lang="pt-BR" sz="2000" dirty="0" err="1"/>
              <a:t>stemmer</a:t>
            </a:r>
            <a:r>
              <a:rPr lang="pt-BR" sz="2000" dirty="0"/>
              <a:t> é ser </a:t>
            </a:r>
            <a:r>
              <a:rPr lang="pt-BR" sz="2000" b="1" dirty="0">
                <a:solidFill>
                  <a:srgbClr val="C00000"/>
                </a:solidFill>
              </a:rPr>
              <a:t>mais simples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(a lematização é um processo mais complexo que depende de recurso linguístico).</a:t>
            </a:r>
            <a:br>
              <a:rPr lang="pt-BR" sz="2000" dirty="0"/>
            </a:b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 </a:t>
            </a:r>
            <a:r>
              <a:rPr lang="pt-BR" sz="2000" b="1" dirty="0">
                <a:solidFill>
                  <a:srgbClr val="0070C0"/>
                </a:solidFill>
              </a:rPr>
              <a:t>desvantagem</a:t>
            </a:r>
            <a:r>
              <a:rPr lang="pt-BR" sz="2000" dirty="0"/>
              <a:t> é que ele </a:t>
            </a:r>
            <a:r>
              <a:rPr lang="pt-BR" sz="2000" b="1" dirty="0">
                <a:solidFill>
                  <a:srgbClr val="0070C0"/>
                </a:solidFill>
              </a:rPr>
              <a:t>comete erros </a:t>
            </a:r>
            <a:r>
              <a:rPr lang="pt-BR" sz="2000" dirty="0"/>
              <a:t>que os </a:t>
            </a:r>
            <a:r>
              <a:rPr lang="pt-BR" sz="2000" dirty="0" err="1"/>
              <a:t>lematizadores</a:t>
            </a:r>
            <a:r>
              <a:rPr lang="pt-BR" sz="2000" dirty="0"/>
              <a:t> não cometem. 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(</a:t>
            </a:r>
            <a:r>
              <a:rPr lang="pt-BR" sz="2000" dirty="0" err="1"/>
              <a:t>understemming</a:t>
            </a:r>
            <a:r>
              <a:rPr lang="pt-BR" sz="2000" dirty="0"/>
              <a:t> e </a:t>
            </a:r>
            <a:r>
              <a:rPr lang="pt-BR" sz="2000" dirty="0" err="1"/>
              <a:t>overstemming</a:t>
            </a:r>
            <a:r>
              <a:rPr lang="pt-BR" sz="2000" dirty="0"/>
              <a:t>, </a:t>
            </a:r>
            <a:r>
              <a:rPr lang="pt-BR" sz="2000" i="1" dirty="0"/>
              <a:t>como veremos adiante</a:t>
            </a:r>
            <a:r>
              <a:rPr lang="pt-BR" sz="2000" dirty="0"/>
              <a:t>).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9419228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(3/10)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7ABF6813-34FF-78F3-D0BA-5C3CDF97C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174" y="2311077"/>
            <a:ext cx="6620538" cy="1900808"/>
          </a:xfrm>
          <a:prstGeom prst="rect">
            <a:avLst/>
          </a:prstGeom>
          <a:solidFill>
            <a:srgbClr val="F9FEC8">
              <a:alpha val="50195"/>
            </a:srgbClr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sz="2000" b="1" dirty="0">
                <a:solidFill>
                  <a:srgbClr val="990000"/>
                </a:solidFill>
                <a:latin typeface="Arial" panose="020B0604020202020204" pitchFamily="34" charset="0"/>
              </a:rPr>
              <a:t>Palavra 			Sufixo 		Prefixo		</a:t>
            </a:r>
            <a:r>
              <a:rPr lang="pt-BR" altLang="pt-BR" sz="2000" b="1" dirty="0" err="1">
                <a:solidFill>
                  <a:srgbClr val="990000"/>
                </a:solidFill>
                <a:latin typeface="Arial" panose="020B0604020202020204" pitchFamily="34" charset="0"/>
              </a:rPr>
              <a:t>Stem</a:t>
            </a:r>
            <a:br>
              <a:rPr lang="pt-BR" altLang="pt-BR" sz="2000" b="1" dirty="0">
                <a:solidFill>
                  <a:srgbClr val="990000"/>
                </a:solidFill>
                <a:latin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</a:rPr>
              <a:t>Específico			</a:t>
            </a:r>
            <a:r>
              <a:rPr lang="pt-BR" altLang="pt-BR" sz="2000" b="1" dirty="0" err="1">
                <a:latin typeface="Arial" panose="020B0604020202020204" pitchFamily="34" charset="0"/>
              </a:rPr>
              <a:t>ífico</a:t>
            </a:r>
            <a:r>
              <a:rPr lang="pt-BR" altLang="pt-BR" sz="2000" b="1" dirty="0">
                <a:latin typeface="Arial" panose="020B0604020202020204" pitchFamily="34" charset="0"/>
              </a:rPr>
              <a:t>		</a:t>
            </a:r>
            <a: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Ø			</a:t>
            </a:r>
            <a:r>
              <a:rPr lang="pt-BR" alt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espec</a:t>
            </a:r>
            <a:b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Nacionais			ais			Ø			</a:t>
            </a:r>
            <a:r>
              <a:rPr lang="pt-BR" alt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nacion</a:t>
            </a:r>
            <a: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Internacional		al			</a:t>
            </a:r>
            <a:r>
              <a:rPr lang="pt-BR" alt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inter</a:t>
            </a:r>
            <a: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pt-BR" alt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nacion</a:t>
            </a:r>
            <a:b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Escolar			ar			 Ø			escol</a:t>
            </a:r>
            <a:b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Pré-escolar		ar			</a:t>
            </a:r>
            <a:r>
              <a:rPr lang="pt-BR" alt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pré</a:t>
            </a:r>
            <a:r>
              <a:rPr lang="pt-BR" alt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-		escol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48C60F-4C70-6082-9C84-AF6D9C0B9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848" y="4787949"/>
            <a:ext cx="8857232" cy="140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Porém, maioria dos algoritmos de </a:t>
            </a:r>
            <a:r>
              <a:rPr lang="pt-BR" sz="2000" dirty="0" err="1"/>
              <a:t>stemming</a:t>
            </a:r>
            <a:r>
              <a:rPr lang="pt-BR" sz="2000" dirty="0"/>
              <a:t> trabalha </a:t>
            </a:r>
            <a:r>
              <a:rPr lang="pt-BR" sz="2000" b="1" dirty="0"/>
              <a:t>apenas</a:t>
            </a:r>
            <a:r>
              <a:rPr lang="pt-BR" sz="2000" dirty="0"/>
              <a:t> com a </a:t>
            </a:r>
            <a:r>
              <a:rPr lang="pt-BR" sz="2000" b="1" dirty="0"/>
              <a:t>remoção dos sufixos</a:t>
            </a:r>
            <a:r>
              <a:rPr lang="pt-BR" sz="2000" dirty="0"/>
              <a:t>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Isso porque, a remoção de prefixos nem sempre é vantajosa, pois, muitas vezes, os prefixos mudam o significado de uma palavra.</a:t>
            </a:r>
            <a:br>
              <a:rPr lang="pt-BR" sz="2000" dirty="0"/>
            </a:b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Ex.</a:t>
            </a:r>
            <a:r>
              <a:rPr lang="pt-BR" sz="2000" dirty="0"/>
              <a:t>: “</a:t>
            </a:r>
            <a:r>
              <a:rPr lang="pt-BR" sz="2000" dirty="0">
                <a:solidFill>
                  <a:srgbClr val="C00000"/>
                </a:solidFill>
              </a:rPr>
              <a:t>aplic</a:t>
            </a:r>
            <a:r>
              <a:rPr lang="pt-BR" sz="2000" b="1" dirty="0">
                <a:solidFill>
                  <a:srgbClr val="C00000"/>
                </a:solidFill>
              </a:rPr>
              <a:t>ável</a:t>
            </a:r>
            <a:r>
              <a:rPr lang="pt-BR" sz="2000" dirty="0"/>
              <a:t>” e “</a:t>
            </a:r>
            <a:r>
              <a:rPr lang="pt-BR" sz="2000" b="1" dirty="0">
                <a:solidFill>
                  <a:srgbClr val="C00000"/>
                </a:solidFill>
              </a:rPr>
              <a:t>in</a:t>
            </a:r>
            <a:r>
              <a:rPr lang="pt-BR" sz="2000" dirty="0">
                <a:solidFill>
                  <a:srgbClr val="C00000"/>
                </a:solidFill>
              </a:rPr>
              <a:t>aplic</a:t>
            </a:r>
            <a:r>
              <a:rPr lang="pt-BR" sz="2000" b="1" dirty="0">
                <a:solidFill>
                  <a:srgbClr val="C00000"/>
                </a:solidFill>
              </a:rPr>
              <a:t>ável</a:t>
            </a:r>
            <a:r>
              <a:rPr lang="pt-BR" sz="2000" dirty="0"/>
              <a:t>”.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41A8C48-A8D5-C91B-54CA-8C65B32B9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857232" cy="1158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 err="1">
                <a:solidFill>
                  <a:schemeClr val="tx1"/>
                </a:solidFill>
              </a:rPr>
              <a:t>Stemmers</a:t>
            </a:r>
            <a:r>
              <a:rPr lang="pt-BR" b="1" dirty="0">
                <a:solidFill>
                  <a:schemeClr val="tx1"/>
                </a:solidFill>
              </a:rPr>
              <a:t> – prefixos e sufixos </a:t>
            </a:r>
            <a:endParaRPr lang="pt-BR" sz="28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 </a:t>
            </a:r>
            <a:r>
              <a:rPr lang="pt-BR" sz="2000" dirty="0" err="1"/>
              <a:t>stem</a:t>
            </a:r>
            <a:r>
              <a:rPr lang="pt-BR" sz="2000" dirty="0"/>
              <a:t> de uma palavra pode ser obtido através da </a:t>
            </a:r>
            <a:r>
              <a:rPr lang="pt-BR" sz="2000" b="1" dirty="0"/>
              <a:t>remoção</a:t>
            </a:r>
            <a:r>
              <a:rPr lang="pt-BR" sz="2000" dirty="0"/>
              <a:t> de </a:t>
            </a:r>
            <a:r>
              <a:rPr lang="pt-BR" sz="2000" b="1" dirty="0">
                <a:solidFill>
                  <a:srgbClr val="C00000"/>
                </a:solidFill>
              </a:rPr>
              <a:t>sufixos</a:t>
            </a:r>
            <a:r>
              <a:rPr lang="pt-BR" sz="2000" dirty="0"/>
              <a:t> e/ou </a:t>
            </a:r>
            <a:r>
              <a:rPr lang="pt-BR" sz="2000" b="1" dirty="0">
                <a:solidFill>
                  <a:srgbClr val="C00000"/>
                </a:solidFill>
              </a:rPr>
              <a:t>prefixos</a:t>
            </a:r>
            <a:r>
              <a:rPr lang="pt-BR" sz="2000" dirty="0"/>
              <a:t> que estejam presentes nesta palavra.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0821814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7699BE3-3A00-A965-E124-DF935761D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857232" cy="176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 err="1">
                <a:solidFill>
                  <a:schemeClr val="tx1"/>
                </a:solidFill>
              </a:rPr>
              <a:t>Stemmers</a:t>
            </a:r>
            <a:r>
              <a:rPr lang="pt-BR" b="1" dirty="0">
                <a:solidFill>
                  <a:schemeClr val="tx1"/>
                </a:solidFill>
              </a:rPr>
              <a:t> podem cometer 2</a:t>
            </a:r>
            <a:r>
              <a:rPr lang="pt-BR" dirty="0"/>
              <a:t> </a:t>
            </a:r>
            <a:r>
              <a:rPr lang="pt-BR" b="1" dirty="0"/>
              <a:t>tipos de </a:t>
            </a:r>
            <a:r>
              <a:rPr lang="pt-BR" b="1" u="sng" dirty="0"/>
              <a:t>erros</a:t>
            </a:r>
            <a:r>
              <a:rPr lang="pt-BR" dirty="0"/>
              <a:t>:</a:t>
            </a: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 err="1">
                <a:solidFill>
                  <a:srgbClr val="C00000"/>
                </a:solidFill>
              </a:rPr>
              <a:t>Overstemming</a:t>
            </a:r>
            <a:r>
              <a:rPr lang="pt-BR" sz="2000" dirty="0"/>
              <a:t>: quando muitas letras são removidas e, por isso, palavras que possuem significados diferentes passam a pertencer ao mesmo </a:t>
            </a:r>
            <a:r>
              <a:rPr lang="pt-BR" sz="2000" dirty="0" err="1"/>
              <a:t>stem</a:t>
            </a:r>
            <a:r>
              <a:rPr lang="pt-BR" sz="2000" dirty="0"/>
              <a:t>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 err="1">
                <a:solidFill>
                  <a:srgbClr val="C00000"/>
                </a:solidFill>
              </a:rPr>
              <a:t>Understemming</a:t>
            </a:r>
            <a:r>
              <a:rPr lang="pt-BR" sz="2000" dirty="0"/>
              <a:t>: quando letras demais são mantidas no </a:t>
            </a:r>
            <a:r>
              <a:rPr lang="pt-BR" sz="2000" dirty="0" err="1"/>
              <a:t>stem</a:t>
            </a:r>
            <a:r>
              <a:rPr lang="pt-BR" sz="2000" dirty="0"/>
              <a:t>, fazendo com que palavras que tenham o mesmo significado ou significado similar passem a pertencer a </a:t>
            </a:r>
            <a:r>
              <a:rPr lang="pt-BR" sz="2000" dirty="0" err="1"/>
              <a:t>stems</a:t>
            </a:r>
            <a:r>
              <a:rPr lang="pt-BR" sz="2000" dirty="0"/>
              <a:t> diferentes.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(4/10)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D24E811-3923-CAFB-BD49-5506A9422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74" y="2539677"/>
            <a:ext cx="3952875" cy="1600200"/>
          </a:xfrm>
          <a:prstGeom prst="rect">
            <a:avLst/>
          </a:prstGeom>
          <a:solidFill>
            <a:srgbClr val="F9FEC8">
              <a:alpha val="50195"/>
            </a:srgbClr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sz="2000" b="1" dirty="0">
                <a:solidFill>
                  <a:srgbClr val="990000"/>
                </a:solidFill>
                <a:latin typeface="Arial" panose="020B0604020202020204" pitchFamily="34" charset="0"/>
              </a:rPr>
              <a:t>Palavra 				</a:t>
            </a:r>
            <a:r>
              <a:rPr lang="pt-BR" altLang="pt-BR" sz="2000" b="1" dirty="0" err="1">
                <a:solidFill>
                  <a:srgbClr val="990000"/>
                </a:solidFill>
                <a:latin typeface="Arial" panose="020B0604020202020204" pitchFamily="34" charset="0"/>
              </a:rPr>
              <a:t>Stem</a:t>
            </a:r>
            <a:br>
              <a:rPr lang="pt-BR" altLang="pt-BR" sz="2000" b="1" dirty="0">
                <a:solidFill>
                  <a:srgbClr val="990000"/>
                </a:solidFill>
                <a:latin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</a:rPr>
              <a:t>Computador			</a:t>
            </a:r>
            <a:r>
              <a:rPr lang="pt-BR" altLang="pt-BR" sz="2000" b="1" dirty="0" err="1">
                <a:latin typeface="Arial" panose="020B0604020202020204" pitchFamily="34" charset="0"/>
              </a:rPr>
              <a:t>comp</a:t>
            </a:r>
            <a:br>
              <a:rPr lang="pt-BR" altLang="pt-BR" sz="2000" b="1" dirty="0">
                <a:latin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</a:rPr>
              <a:t>Computadores			</a:t>
            </a:r>
            <a:r>
              <a:rPr lang="pt-BR" altLang="pt-BR" sz="2000" b="1" dirty="0" err="1">
                <a:latin typeface="Arial" panose="020B0604020202020204" pitchFamily="34" charset="0"/>
              </a:rPr>
              <a:t>comp</a:t>
            </a:r>
            <a:br>
              <a:rPr lang="pt-BR" altLang="pt-BR" sz="2000" b="1" dirty="0">
                <a:latin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</a:rPr>
              <a:t>Comparar				</a:t>
            </a:r>
            <a:r>
              <a:rPr lang="pt-BR" altLang="pt-BR" sz="2000" b="1" dirty="0" err="1">
                <a:latin typeface="Arial" panose="020B0604020202020204" pitchFamily="34" charset="0"/>
              </a:rPr>
              <a:t>comp</a:t>
            </a:r>
            <a:br>
              <a:rPr lang="pt-BR" altLang="pt-BR" sz="2000" b="1" dirty="0">
                <a:latin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</a:rPr>
              <a:t>Comparou				</a:t>
            </a:r>
            <a:r>
              <a:rPr lang="pt-BR" altLang="pt-BR" sz="2000" b="1" dirty="0" err="1">
                <a:latin typeface="Arial" panose="020B0604020202020204" pitchFamily="34" charset="0"/>
              </a:rPr>
              <a:t>comp</a:t>
            </a:r>
            <a:endParaRPr lang="pt-BR" altLang="pt-BR" sz="2000" b="1" dirty="0">
              <a:solidFill>
                <a:srgbClr val="0033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2B0DD790-29DA-464E-4D3C-DCE12B79E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74" y="5652045"/>
            <a:ext cx="3952875" cy="1160139"/>
          </a:xfrm>
          <a:prstGeom prst="rect">
            <a:avLst/>
          </a:prstGeom>
          <a:solidFill>
            <a:srgbClr val="F9FEC8">
              <a:alpha val="50195"/>
            </a:srgbClr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sz="2000" b="1" dirty="0">
                <a:solidFill>
                  <a:srgbClr val="990000"/>
                </a:solidFill>
                <a:latin typeface="Arial" panose="020B0604020202020204" pitchFamily="34" charset="0"/>
              </a:rPr>
              <a:t>Palavra 			</a:t>
            </a:r>
            <a:r>
              <a:rPr lang="pt-BR" altLang="pt-BR" sz="2000" b="1" dirty="0" err="1">
                <a:solidFill>
                  <a:srgbClr val="990000"/>
                </a:solidFill>
                <a:latin typeface="Arial" panose="020B0604020202020204" pitchFamily="34" charset="0"/>
              </a:rPr>
              <a:t>Stem</a:t>
            </a:r>
            <a:br>
              <a:rPr lang="pt-BR" altLang="pt-BR" sz="2000" b="1" dirty="0">
                <a:solidFill>
                  <a:srgbClr val="990000"/>
                </a:solidFill>
                <a:latin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</a:rPr>
              <a:t>Movimento			</a:t>
            </a:r>
            <a:r>
              <a:rPr lang="pt-BR" altLang="pt-BR" sz="2000" b="1" dirty="0" err="1">
                <a:latin typeface="Arial" panose="020B0604020202020204" pitchFamily="34" charset="0"/>
              </a:rPr>
              <a:t>moviment</a:t>
            </a:r>
            <a:br>
              <a:rPr lang="pt-BR" altLang="pt-BR" sz="2000" b="1" dirty="0">
                <a:latin typeface="Arial" panose="020B0604020202020204" pitchFamily="34" charset="0"/>
              </a:rPr>
            </a:br>
            <a:r>
              <a:rPr lang="pt-BR" altLang="pt-BR" sz="2000" b="1" dirty="0">
                <a:latin typeface="Arial" panose="020B0604020202020204" pitchFamily="34" charset="0"/>
              </a:rPr>
              <a:t>Movimentação		</a:t>
            </a:r>
            <a:r>
              <a:rPr lang="pt-BR" altLang="pt-BR" sz="2000" b="1" dirty="0" err="1">
                <a:latin typeface="Arial" panose="020B0604020202020204" pitchFamily="34" charset="0"/>
              </a:rPr>
              <a:t>movimentaç</a:t>
            </a:r>
            <a:endParaRPr lang="pt-BR" altLang="pt-BR" sz="2000" b="1" dirty="0">
              <a:solidFill>
                <a:srgbClr val="0033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9608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(5/10)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B2DD57C-0CB7-A46F-D722-036615259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857232" cy="622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 err="1">
                <a:solidFill>
                  <a:schemeClr val="tx1"/>
                </a:solidFill>
              </a:rPr>
              <a:t>Stemmers</a:t>
            </a:r>
            <a:r>
              <a:rPr lang="pt-BR" b="1" dirty="0">
                <a:solidFill>
                  <a:schemeClr val="tx1"/>
                </a:solidFill>
              </a:rPr>
              <a:t> Conhecidos</a:t>
            </a:r>
            <a:endParaRPr lang="pt-BR" sz="28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 algoritmo mais tradicional para a obtenção de </a:t>
            </a:r>
            <a:r>
              <a:rPr lang="pt-BR" sz="2000" dirty="0" err="1"/>
              <a:t>stems</a:t>
            </a:r>
            <a:r>
              <a:rPr lang="pt-BR" sz="2000" dirty="0"/>
              <a:t> é o </a:t>
            </a:r>
            <a:r>
              <a:rPr lang="pt-BR" sz="2000" b="1" dirty="0"/>
              <a:t>Algoritmo de Porter</a:t>
            </a:r>
            <a:r>
              <a:rPr lang="pt-BR" sz="2000" dirty="0"/>
              <a:t>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Este algoritmo foi projetado originalmente para a língua Inglesa, mas foi adaptado para diversas linguagens.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Infelizmente, ele não funciona bem para a Língua Portuguesa.</a:t>
            </a:r>
            <a:br>
              <a:rPr lang="pt-BR" sz="2000" dirty="0"/>
            </a:b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Por este motivo, algoritmos específicos para </a:t>
            </a:r>
            <a:r>
              <a:rPr lang="pt-BR" sz="2000" dirty="0" err="1"/>
              <a:t>stemming</a:t>
            </a:r>
            <a:r>
              <a:rPr lang="pt-BR" sz="2000" dirty="0"/>
              <a:t> em Português foram propostos, como:</a:t>
            </a:r>
            <a:br>
              <a:rPr lang="pt-BR" sz="2000" dirty="0"/>
            </a:br>
            <a:endParaRPr lang="pt-BR" sz="2000" dirty="0"/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solidFill>
                  <a:srgbClr val="C00000"/>
                </a:solidFill>
              </a:rPr>
              <a:t>RSLP</a:t>
            </a:r>
            <a:r>
              <a:rPr lang="pt-BR" sz="2000" dirty="0"/>
              <a:t> </a:t>
            </a:r>
            <a:r>
              <a:rPr lang="pt-BR" sz="1800" dirty="0"/>
              <a:t>(ORENGO; HUYCK, 2001)</a:t>
            </a:r>
            <a:r>
              <a:rPr lang="pt-BR" sz="2000" dirty="0"/>
              <a:t>, implementado na biblioteca NLTK.</a:t>
            </a:r>
            <a:br>
              <a:rPr lang="pt-BR" sz="2000" dirty="0"/>
            </a:br>
            <a:endParaRPr lang="pt-BR" sz="2000" dirty="0"/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b="1" dirty="0" err="1">
                <a:solidFill>
                  <a:srgbClr val="C00000"/>
                </a:solidFill>
              </a:rPr>
              <a:t>StemBR</a:t>
            </a:r>
            <a:r>
              <a:rPr lang="pt-BR" sz="2000" dirty="0"/>
              <a:t> </a:t>
            </a:r>
            <a:r>
              <a:rPr lang="pt-BR" sz="1800" dirty="0"/>
              <a:t>(ÁLVARES; GARCIA; FERRAZ, 2005) </a:t>
            </a:r>
          </a:p>
        </p:txBody>
      </p:sp>
    </p:spTree>
    <p:extLst>
      <p:ext uri="{BB962C8B-B14F-4D97-AF65-F5344CB8AC3E}">
        <p14:creationId xmlns:p14="http://schemas.microsoft.com/office/powerpoint/2010/main" val="41127831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(6/10)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92E014D-85F2-FBB5-D41F-ED638214B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312" y="1547589"/>
            <a:ext cx="48768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5F18EC6-72EB-ACB0-D8C5-106B39E30FCB}"/>
              </a:ext>
            </a:extLst>
          </p:cNvPr>
          <p:cNvSpPr txBox="1"/>
          <p:nvPr/>
        </p:nvSpPr>
        <p:spPr>
          <a:xfrm>
            <a:off x="5073130" y="5580037"/>
            <a:ext cx="50400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Fonte</a:t>
            </a:r>
            <a:r>
              <a:rPr lang="pt-BR" sz="1600" dirty="0"/>
              <a:t>: ÁLVARES; GARCIA; FERRAZ (2005).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122B39-2E05-2AC8-4E4D-22E80E8C6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3960688" cy="5291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tx1"/>
                </a:solidFill>
              </a:rPr>
              <a:t>Algoritmo </a:t>
            </a:r>
            <a:r>
              <a:rPr lang="pt-BR" b="1" dirty="0" err="1">
                <a:solidFill>
                  <a:schemeClr val="tx1"/>
                </a:solidFill>
              </a:rPr>
              <a:t>StemBR</a:t>
            </a:r>
            <a:endParaRPr lang="pt-BR" sz="28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 algoritmo STEMBR é baseado num estudo estatístico realizado com 130.000 palavras em Português.</a:t>
            </a:r>
            <a:br>
              <a:rPr lang="pt-BR" sz="2000" dirty="0"/>
            </a:b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 partir deste estudo, foi obtida uma lista que apresenta a frequência da última letra das palavras.</a:t>
            </a:r>
            <a:br>
              <a:rPr lang="pt-BR" sz="2000" dirty="0"/>
            </a:b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As nove letras mais comuns da lista representam aproximadamente 85% das ocorrências. 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0866670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(7/10)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4D27632-EE61-4177-D6A3-D5B3B1174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848" y="971525"/>
            <a:ext cx="8929240" cy="2915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tx1"/>
                </a:solidFill>
              </a:rPr>
              <a:t>Algoritmo </a:t>
            </a:r>
            <a:r>
              <a:rPr lang="pt-BR" b="1" dirty="0" err="1">
                <a:solidFill>
                  <a:schemeClr val="tx1"/>
                </a:solidFill>
              </a:rPr>
              <a:t>StemBR</a:t>
            </a:r>
            <a:endParaRPr lang="pt-BR" sz="28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 </a:t>
            </a:r>
            <a:r>
              <a:rPr lang="pt-BR" sz="2000" dirty="0" err="1"/>
              <a:t>StemBR</a:t>
            </a:r>
            <a:r>
              <a:rPr lang="pt-BR" sz="2000" dirty="0"/>
              <a:t> funciona de uma forma muito simples: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 sistema mantém 9 listas de sufixos em memória: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Lista de sufixos que terminam com ‘</a:t>
            </a:r>
            <a:r>
              <a:rPr lang="pt-BR" sz="2000" dirty="0">
                <a:solidFill>
                  <a:srgbClr val="C00000"/>
                </a:solidFill>
              </a:rPr>
              <a:t>s</a:t>
            </a:r>
            <a:r>
              <a:rPr lang="pt-BR" sz="2000" dirty="0"/>
              <a:t>’, ‘</a:t>
            </a:r>
            <a:r>
              <a:rPr lang="pt-BR" sz="2000" dirty="0">
                <a:solidFill>
                  <a:srgbClr val="C00000"/>
                </a:solidFill>
              </a:rPr>
              <a:t>a</a:t>
            </a:r>
            <a:r>
              <a:rPr lang="pt-BR" sz="2000" dirty="0"/>
              <a:t>’, ‘</a:t>
            </a:r>
            <a:r>
              <a:rPr lang="pt-BR" sz="2000" dirty="0">
                <a:solidFill>
                  <a:srgbClr val="C00000"/>
                </a:solidFill>
              </a:rPr>
              <a:t>o</a:t>
            </a:r>
            <a:r>
              <a:rPr lang="pt-BR" sz="2000" dirty="0"/>
              <a:t>’, ‘</a:t>
            </a:r>
            <a:r>
              <a:rPr lang="pt-BR" sz="2000" dirty="0">
                <a:solidFill>
                  <a:srgbClr val="C00000"/>
                </a:solidFill>
              </a:rPr>
              <a:t>e</a:t>
            </a:r>
            <a:r>
              <a:rPr lang="pt-BR" sz="2000" dirty="0"/>
              <a:t>’, ‘</a:t>
            </a:r>
            <a:r>
              <a:rPr lang="pt-BR" sz="2000" dirty="0">
                <a:solidFill>
                  <a:srgbClr val="C00000"/>
                </a:solidFill>
              </a:rPr>
              <a:t>r</a:t>
            </a:r>
            <a:r>
              <a:rPr lang="pt-BR" sz="2000" dirty="0"/>
              <a:t>’, ‘</a:t>
            </a:r>
            <a:r>
              <a:rPr lang="pt-BR" sz="2000" dirty="0">
                <a:solidFill>
                  <a:srgbClr val="C00000"/>
                </a:solidFill>
              </a:rPr>
              <a:t>m</a:t>
            </a:r>
            <a:r>
              <a:rPr lang="pt-BR" sz="2000" dirty="0"/>
              <a:t>’, ‘</a:t>
            </a:r>
            <a:r>
              <a:rPr lang="pt-BR" sz="2000" dirty="0">
                <a:solidFill>
                  <a:srgbClr val="C00000"/>
                </a:solidFill>
              </a:rPr>
              <a:t>i</a:t>
            </a:r>
            <a:r>
              <a:rPr lang="pt-BR" sz="2000" dirty="0"/>
              <a:t>’, ‘</a:t>
            </a:r>
            <a:r>
              <a:rPr lang="pt-BR" sz="2000" dirty="0">
                <a:solidFill>
                  <a:srgbClr val="C00000"/>
                </a:solidFill>
              </a:rPr>
              <a:t>l</a:t>
            </a:r>
            <a:r>
              <a:rPr lang="pt-BR" sz="2000" dirty="0"/>
              <a:t>’, ‘</a:t>
            </a:r>
            <a:r>
              <a:rPr lang="pt-BR" sz="2000" dirty="0">
                <a:solidFill>
                  <a:srgbClr val="C00000"/>
                </a:solidFill>
              </a:rPr>
              <a:t>u</a:t>
            </a:r>
            <a:r>
              <a:rPr lang="pt-BR" sz="2000" dirty="0"/>
              <a:t>’.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Para cada palavra a ser analisada, o algoritmo observa a última letra e consulta a lista de sufixos adequada.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A lista de sufixos é ordenada por tamanho, de maneira decrescente, para permitir a </a:t>
            </a:r>
            <a:r>
              <a:rPr lang="pt-BR" sz="2000" b="1" dirty="0">
                <a:solidFill>
                  <a:srgbClr val="C00000"/>
                </a:solidFill>
              </a:rPr>
              <a:t>remoção do maior sufixo </a:t>
            </a:r>
            <a:r>
              <a:rPr lang="pt-BR" sz="2000" dirty="0"/>
              <a:t>da palavra.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  <a:p>
            <a:pPr lvl="2" eaLnBrk="1">
              <a:buFont typeface="Arial" panose="020B0604020202020204" pitchFamily="34" charset="0"/>
              <a:buChar char="•"/>
              <a:defRPr/>
            </a:pPr>
            <a:endParaRPr lang="pt-BR" sz="2000" dirty="0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CD6E7E08-5A4C-E4EB-FD37-A2C24E4A5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632" y="4802013"/>
            <a:ext cx="1828800" cy="685800"/>
          </a:xfrm>
          <a:prstGeom prst="rect">
            <a:avLst/>
          </a:prstGeom>
          <a:solidFill>
            <a:srgbClr val="F9FEC8">
              <a:alpha val="50195"/>
            </a:srgbClr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b="1" dirty="0">
                <a:solidFill>
                  <a:srgbClr val="990000"/>
                </a:solidFill>
                <a:latin typeface="Arial" panose="020B0604020202020204" pitchFamily="34" charset="0"/>
              </a:rPr>
              <a:t>Palavra:</a:t>
            </a:r>
            <a:br>
              <a:rPr lang="pt-BR" altLang="pt-BR" b="1" dirty="0">
                <a:solidFill>
                  <a:srgbClr val="990000"/>
                </a:solidFill>
                <a:latin typeface="Arial" panose="020B0604020202020204" pitchFamily="34" charset="0"/>
              </a:rPr>
            </a:br>
            <a:r>
              <a:rPr lang="pt-BR" altLang="pt-BR" b="1" dirty="0">
                <a:latin typeface="Arial" panose="020B0604020202020204" pitchFamily="34" charset="0"/>
              </a:rPr>
              <a:t>irritadíssima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05B313E5-9BEB-03F5-88F3-CA45A66CA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232" y="4802013"/>
            <a:ext cx="1828800" cy="2362200"/>
          </a:xfrm>
          <a:prstGeom prst="rect">
            <a:avLst/>
          </a:prstGeom>
          <a:solidFill>
            <a:srgbClr val="F9FEC8">
              <a:alpha val="50195"/>
            </a:srgbClr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b="1" dirty="0">
                <a:solidFill>
                  <a:srgbClr val="990000"/>
                </a:solidFill>
                <a:latin typeface="Arial" panose="020B0604020202020204" pitchFamily="34" charset="0"/>
              </a:rPr>
              <a:t>Sufixos ‘a’</a:t>
            </a:r>
            <a:br>
              <a:rPr lang="pt-BR" altLang="pt-BR" b="1" dirty="0">
                <a:solidFill>
                  <a:srgbClr val="990000"/>
                </a:solidFill>
                <a:latin typeface="Arial" panose="020B0604020202020204" pitchFamily="34" charset="0"/>
              </a:rPr>
            </a:br>
            <a:r>
              <a:rPr lang="pt-BR" altLang="pt-BR" b="1" dirty="0" err="1">
                <a:latin typeface="Arial" panose="020B0604020202020204" pitchFamily="34" charset="0"/>
              </a:rPr>
              <a:t>abilíssima</a:t>
            </a:r>
            <a:br>
              <a:rPr lang="pt-BR" altLang="pt-BR" b="1" dirty="0">
                <a:latin typeface="Arial" panose="020B0604020202020204" pitchFamily="34" charset="0"/>
              </a:rPr>
            </a:br>
            <a:r>
              <a:rPr lang="pt-BR" altLang="pt-BR" b="1" dirty="0" err="1">
                <a:solidFill>
                  <a:srgbClr val="0070C0"/>
                </a:solidFill>
                <a:latin typeface="Arial" panose="020B0604020202020204" pitchFamily="34" charset="0"/>
              </a:rPr>
              <a:t>adíssima</a:t>
            </a:r>
            <a:br>
              <a:rPr lang="pt-BR" altLang="pt-BR" b="1" dirty="0">
                <a:solidFill>
                  <a:srgbClr val="003300"/>
                </a:solidFill>
                <a:latin typeface="Arial" panose="020B0604020202020204" pitchFamily="34" charset="0"/>
              </a:rPr>
            </a:br>
            <a:r>
              <a:rPr lang="pt-BR" altLang="pt-BR" b="1" dirty="0">
                <a:latin typeface="Arial" panose="020B0604020202020204" pitchFamily="34" charset="0"/>
              </a:rPr>
              <a:t>alista</a:t>
            </a:r>
            <a:br>
              <a:rPr lang="pt-BR" altLang="pt-BR" b="1" dirty="0">
                <a:latin typeface="Arial" panose="020B0604020202020204" pitchFamily="34" charset="0"/>
              </a:rPr>
            </a:br>
            <a:r>
              <a:rPr lang="pt-BR" altLang="pt-BR" b="1" dirty="0">
                <a:latin typeface="Arial" panose="020B0604020202020204" pitchFamily="34" charset="0"/>
              </a:rPr>
              <a:t>cava</a:t>
            </a:r>
            <a:br>
              <a:rPr lang="pt-BR" altLang="pt-BR" b="1" dirty="0">
                <a:latin typeface="Arial" panose="020B0604020202020204" pitchFamily="34" charset="0"/>
              </a:rPr>
            </a:br>
            <a:r>
              <a:rPr lang="pt-BR" altLang="pt-BR" b="1" dirty="0">
                <a:latin typeface="Arial" panose="020B0604020202020204" pitchFamily="34" charset="0"/>
              </a:rPr>
              <a:t>ima</a:t>
            </a:r>
            <a:br>
              <a:rPr lang="pt-BR" altLang="pt-BR" b="1" dirty="0">
                <a:latin typeface="Arial" panose="020B0604020202020204" pitchFamily="34" charset="0"/>
              </a:rPr>
            </a:br>
            <a:r>
              <a:rPr lang="pt-BR" altLang="pt-BR" b="1" dirty="0" err="1">
                <a:latin typeface="Arial" panose="020B0604020202020204" pitchFamily="34" charset="0"/>
              </a:rPr>
              <a:t>za</a:t>
            </a:r>
            <a:br>
              <a:rPr lang="pt-BR" altLang="pt-BR" b="1" dirty="0">
                <a:latin typeface="Arial" panose="020B0604020202020204" pitchFamily="34" charset="0"/>
              </a:rPr>
            </a:br>
            <a:r>
              <a:rPr lang="pt-BR" altLang="pt-BR" b="1" dirty="0">
                <a:latin typeface="Arial" panose="020B0604020202020204" pitchFamily="34" charset="0"/>
              </a:rPr>
              <a:t>a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endParaRPr lang="pt-BR" altLang="pt-BR" b="1" dirty="0">
              <a:latin typeface="Arial" panose="020B0604020202020204" pitchFamily="34" charset="0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1C1A8DAA-2B99-DAAE-AFA4-D84A51161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832" y="4802013"/>
            <a:ext cx="1828800" cy="685800"/>
          </a:xfrm>
          <a:prstGeom prst="rect">
            <a:avLst/>
          </a:prstGeom>
          <a:solidFill>
            <a:srgbClr val="F9FEC8">
              <a:alpha val="50195"/>
            </a:srgbClr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b="1" dirty="0" err="1">
                <a:solidFill>
                  <a:srgbClr val="990000"/>
                </a:solidFill>
                <a:latin typeface="Arial" panose="020B0604020202020204" pitchFamily="34" charset="0"/>
              </a:rPr>
              <a:t>Stem</a:t>
            </a:r>
            <a:r>
              <a:rPr lang="pt-BR" altLang="pt-BR" b="1" dirty="0">
                <a:solidFill>
                  <a:srgbClr val="990000"/>
                </a:solidFill>
                <a:latin typeface="Arial" panose="020B0604020202020204" pitchFamily="34" charset="0"/>
              </a:rPr>
              <a:t>:</a:t>
            </a:r>
            <a:br>
              <a:rPr lang="pt-BR" altLang="pt-BR" b="1" dirty="0">
                <a:solidFill>
                  <a:srgbClr val="990000"/>
                </a:solidFill>
                <a:latin typeface="Arial" panose="020B0604020202020204" pitchFamily="34" charset="0"/>
              </a:rPr>
            </a:br>
            <a:r>
              <a:rPr lang="pt-BR" altLang="pt-BR" b="1" dirty="0" err="1">
                <a:latin typeface="Arial" panose="020B0604020202020204" pitchFamily="34" charset="0"/>
              </a:rPr>
              <a:t>irrit</a:t>
            </a:r>
            <a:endParaRPr lang="pt-BR" altLang="pt-BR" b="1" dirty="0">
              <a:latin typeface="Arial" panose="020B0604020202020204" pitchFamily="34" charset="0"/>
            </a:endParaRPr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FA106527-6E90-D1B7-A8D5-592E2CFF5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032" y="5030613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endParaRPr lang="en-GB" altLang="pt-BR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ECEA4CD3-3412-89F3-260C-31C4C3E39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7632" y="5030613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bg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1838233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(8/10)</a:t>
            </a:r>
          </a:p>
        </p:txBody>
      </p:sp>
      <p:sp>
        <p:nvSpPr>
          <p:cNvPr id="3" name="Text Box 21">
            <a:extLst>
              <a:ext uri="{FF2B5EF4-FFF2-40B4-BE49-F238E27FC236}">
                <a16:creationId xmlns:a16="http://schemas.microsoft.com/office/drawing/2014/main" id="{A0FA7FAD-F535-0C12-7F8C-339162C1C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8024" y="2987749"/>
            <a:ext cx="5979492" cy="3672408"/>
          </a:xfrm>
          <a:prstGeom prst="rect">
            <a:avLst/>
          </a:prstGeom>
          <a:solidFill>
            <a:srgbClr val="F9FEC8">
              <a:alpha val="50195"/>
            </a:srgbClr>
          </a:solidFill>
          <a:ln w="12700">
            <a:solidFill>
              <a:srgbClr val="000066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Char char="-"/>
            </a:pP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&lt;sufixo&gt;</a:t>
            </a:r>
            <a:b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	&lt;</a:t>
            </a:r>
            <a:r>
              <a:rPr lang="pt-BR" altLang="pt-B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descricao</a:t>
            </a: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&gt;iremos&lt;/</a:t>
            </a:r>
            <a:r>
              <a:rPr lang="pt-BR" altLang="pt-B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descricao</a:t>
            </a: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&gt; </a:t>
            </a:r>
            <a:b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&lt;/sufixo&gt;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Char char="-"/>
            </a:pPr>
            <a:r>
              <a:rPr lang="pt-BR" altLang="pt-BR" sz="2000" dirty="0">
                <a:solidFill>
                  <a:srgbClr val="990000"/>
                </a:solidFill>
                <a:latin typeface="Arial" panose="020B0604020202020204" pitchFamily="34" charset="0"/>
              </a:rPr>
              <a:t>&lt;sufixo&gt;</a:t>
            </a:r>
            <a:br>
              <a:rPr lang="pt-BR" altLang="pt-BR" sz="2000" dirty="0">
                <a:solidFill>
                  <a:srgbClr val="990000"/>
                </a:solidFill>
                <a:latin typeface="Arial" panose="020B0604020202020204" pitchFamily="34" charset="0"/>
              </a:rPr>
            </a:br>
            <a:r>
              <a:rPr lang="pt-BR" altLang="pt-BR" sz="2000" dirty="0">
                <a:solidFill>
                  <a:srgbClr val="990000"/>
                </a:solidFill>
                <a:latin typeface="Arial" panose="020B0604020202020204" pitchFamily="34" charset="0"/>
              </a:rPr>
              <a:t>	&lt;</a:t>
            </a:r>
            <a:r>
              <a:rPr lang="pt-BR" altLang="pt-BR" sz="2000" dirty="0" err="1">
                <a:solidFill>
                  <a:srgbClr val="990000"/>
                </a:solidFill>
                <a:latin typeface="Arial" panose="020B0604020202020204" pitchFamily="34" charset="0"/>
              </a:rPr>
              <a:t>descricao</a:t>
            </a:r>
            <a:r>
              <a:rPr lang="pt-BR" altLang="pt-BR" sz="2000" dirty="0">
                <a:solidFill>
                  <a:srgbClr val="990000"/>
                </a:solidFill>
                <a:latin typeface="Arial" panose="020B0604020202020204" pitchFamily="34" charset="0"/>
              </a:rPr>
              <a:t>&gt;eremos&lt;/</a:t>
            </a:r>
            <a:r>
              <a:rPr lang="pt-BR" altLang="pt-BR" sz="2000" dirty="0" err="1">
                <a:solidFill>
                  <a:srgbClr val="990000"/>
                </a:solidFill>
                <a:latin typeface="Arial" panose="020B0604020202020204" pitchFamily="34" charset="0"/>
              </a:rPr>
              <a:t>descricao</a:t>
            </a:r>
            <a:r>
              <a:rPr lang="pt-BR" altLang="pt-BR" sz="2000" dirty="0">
                <a:solidFill>
                  <a:srgbClr val="990000"/>
                </a:solidFill>
                <a:latin typeface="Arial" panose="020B0604020202020204" pitchFamily="34" charset="0"/>
              </a:rPr>
              <a:t>&gt;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sz="2000" dirty="0">
                <a:solidFill>
                  <a:srgbClr val="990000"/>
                </a:solidFill>
                <a:latin typeface="Arial" panose="020B0604020202020204" pitchFamily="34" charset="0"/>
              </a:rPr>
              <a:t>  	</a:t>
            </a:r>
            <a:r>
              <a:rPr lang="pt-BR" altLang="pt-BR" sz="2000" b="1" dirty="0">
                <a:solidFill>
                  <a:srgbClr val="990000"/>
                </a:solidFill>
                <a:latin typeface="Arial" panose="020B0604020202020204" pitchFamily="34" charset="0"/>
              </a:rPr>
              <a:t>&lt;</a:t>
            </a:r>
            <a:r>
              <a:rPr lang="pt-BR" altLang="pt-BR" sz="2000" b="1" dirty="0" err="1">
                <a:solidFill>
                  <a:srgbClr val="990000"/>
                </a:solidFill>
                <a:latin typeface="Arial" panose="020B0604020202020204" pitchFamily="34" charset="0"/>
              </a:rPr>
              <a:t>excecao</a:t>
            </a:r>
            <a:r>
              <a:rPr lang="pt-BR" altLang="pt-BR" sz="2000" b="1" dirty="0">
                <a:solidFill>
                  <a:srgbClr val="990000"/>
                </a:solidFill>
                <a:latin typeface="Arial" panose="020B0604020202020204" pitchFamily="34" charset="0"/>
              </a:rPr>
              <a:t>&gt;aceleremos&lt;/</a:t>
            </a:r>
            <a:r>
              <a:rPr lang="pt-BR" altLang="pt-BR" sz="2000" b="1" dirty="0" err="1">
                <a:solidFill>
                  <a:srgbClr val="990000"/>
                </a:solidFill>
                <a:latin typeface="Arial" panose="020B0604020202020204" pitchFamily="34" charset="0"/>
              </a:rPr>
              <a:t>excecao</a:t>
            </a:r>
            <a:r>
              <a:rPr lang="pt-BR" altLang="pt-BR" sz="2000" b="1" dirty="0">
                <a:solidFill>
                  <a:srgbClr val="990000"/>
                </a:solidFill>
                <a:latin typeface="Arial" panose="020B0604020202020204" pitchFamily="34" charset="0"/>
              </a:rPr>
              <a:t>&gt;</a:t>
            </a:r>
            <a:r>
              <a:rPr lang="pt-BR" altLang="pt-BR" sz="2000" dirty="0">
                <a:solidFill>
                  <a:srgbClr val="990000"/>
                </a:solidFill>
                <a:latin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r>
              <a:rPr lang="pt-BR" altLang="pt-BR" sz="2000" dirty="0">
                <a:solidFill>
                  <a:srgbClr val="990000"/>
                </a:solidFill>
                <a:latin typeface="Arial" panose="020B0604020202020204" pitchFamily="34" charset="0"/>
              </a:rPr>
              <a:t>  &lt;/sufixo&gt;</a:t>
            </a:r>
            <a:br>
              <a:rPr lang="pt-BR" altLang="pt-BR" sz="2000" dirty="0">
                <a:solidFill>
                  <a:srgbClr val="990000"/>
                </a:solidFill>
                <a:latin typeface="Arial" panose="020B0604020202020204" pitchFamily="34" charset="0"/>
              </a:rPr>
            </a:b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&lt;sufixo&gt;</a:t>
            </a:r>
            <a:b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	&lt;</a:t>
            </a:r>
            <a:r>
              <a:rPr lang="pt-BR" altLang="pt-B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descricao</a:t>
            </a: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&gt;emos&lt;/</a:t>
            </a:r>
            <a:r>
              <a:rPr lang="pt-BR" altLang="pt-BR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descricao</a:t>
            </a: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&gt; </a:t>
            </a:r>
            <a:b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pt-BR" altLang="pt-BR" sz="2000" dirty="0">
                <a:solidFill>
                  <a:srgbClr val="000000"/>
                </a:solidFill>
                <a:latin typeface="Arial" panose="020B0604020202020204" pitchFamily="34" charset="0"/>
              </a:rPr>
              <a:t>&lt;/sufixo&gt;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SzTx/>
              <a:buFontTx/>
              <a:buNone/>
            </a:pPr>
            <a:endParaRPr lang="pt-BR" altLang="pt-BR" sz="1600" dirty="0">
              <a:solidFill>
                <a:srgbClr val="99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1045027-2AD0-E449-1EA6-0E21A64AC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971525"/>
            <a:ext cx="8929240" cy="104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b="1" dirty="0">
                <a:solidFill>
                  <a:schemeClr val="tx1"/>
                </a:solidFill>
              </a:rPr>
              <a:t>Algoritmo </a:t>
            </a:r>
            <a:r>
              <a:rPr lang="pt-BR" b="1" dirty="0" err="1">
                <a:solidFill>
                  <a:schemeClr val="tx1"/>
                </a:solidFill>
              </a:rPr>
              <a:t>StemBR</a:t>
            </a:r>
            <a:endParaRPr lang="pt-BR" sz="2800" dirty="0">
              <a:solidFill>
                <a:schemeClr val="tx1"/>
              </a:solidFill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Para cada sufixo, pode existir uma </a:t>
            </a:r>
            <a:r>
              <a:rPr lang="pt-BR" sz="2000" b="1" dirty="0">
                <a:solidFill>
                  <a:srgbClr val="C00000"/>
                </a:solidFill>
              </a:rPr>
              <a:t>lista de exceções </a:t>
            </a:r>
            <a:r>
              <a:rPr lang="pt-BR" sz="2000" dirty="0"/>
              <a:t>associada.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No exemplo abaixo: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2000" dirty="0"/>
              <a:t>O </a:t>
            </a:r>
            <a:r>
              <a:rPr lang="pt-BR" sz="2000" dirty="0" err="1"/>
              <a:t>stem</a:t>
            </a:r>
            <a:r>
              <a:rPr lang="pt-BR" sz="2000" dirty="0"/>
              <a:t> de “</a:t>
            </a:r>
            <a:r>
              <a:rPr lang="pt-BR" sz="2000" dirty="0">
                <a:solidFill>
                  <a:srgbClr val="0070C0"/>
                </a:solidFill>
              </a:rPr>
              <a:t>aceleremos</a:t>
            </a:r>
            <a:r>
              <a:rPr lang="pt-BR" sz="2000" dirty="0"/>
              <a:t>” é “</a:t>
            </a:r>
            <a:r>
              <a:rPr lang="pt-BR" sz="2000" b="1" dirty="0" err="1">
                <a:solidFill>
                  <a:srgbClr val="C00000"/>
                </a:solidFill>
              </a:rPr>
              <a:t>aceler</a:t>
            </a:r>
            <a:r>
              <a:rPr lang="pt-BR" sz="2000" dirty="0"/>
              <a:t>” (sufixo = “</a:t>
            </a:r>
            <a:r>
              <a:rPr lang="pt-BR" sz="2000" dirty="0">
                <a:solidFill>
                  <a:srgbClr val="C00000"/>
                </a:solidFill>
              </a:rPr>
              <a:t>emos</a:t>
            </a:r>
            <a:r>
              <a:rPr lang="pt-BR" sz="2000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40821269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895C1-B42C-7F8E-EB6A-1A795120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107A69A-32B5-8989-DB77-6C671AC814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3216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(9/10)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02A9C0D0-E188-47A7-F763-CB87818380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1872208"/>
          </a:xfrm>
        </p:spPr>
        <p:txBody>
          <a:bodyPr/>
          <a:lstStyle/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 NLTK possui a implementação do algoritmo RSLP, que funciona de </a:t>
            </a:r>
            <a:r>
              <a:rPr lang="pt-BR" sz="2000">
                <a:latin typeface="+mj-lt"/>
                <a:sym typeface="Symbol" panose="05050102010706020507" pitchFamily="18" charset="2"/>
              </a:rPr>
              <a:t>forma muito similar 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ao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StemBR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(porém é um pouco mais simples).</a:t>
            </a:r>
          </a:p>
          <a:p>
            <a:pPr lvl="2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Detalhes sobre o RSLP em: </a:t>
            </a: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https://www.inf.ufrgs.br/~viviane/rslp/index.htm</a:t>
            </a:r>
            <a:endParaRPr lang="pt-BR" sz="1600" dirty="0">
              <a:solidFill>
                <a:srgbClr val="FF0000"/>
              </a:solidFill>
              <a:latin typeface="+mj-lt"/>
              <a:sym typeface="Symbol" panose="05050102010706020507" pitchFamily="18" charset="2"/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FF0000"/>
                </a:solidFill>
                <a:latin typeface="+mj-lt"/>
                <a:sym typeface="Symbol" panose="05050102010706020507" pitchFamily="18" charset="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https://www.researchgate.net/publication/3940125_A_Stemming_Algorithmm_for_the_Portuguese_Language</a:t>
            </a:r>
            <a:endParaRPr lang="pt-BR" sz="1600" dirty="0">
              <a:solidFill>
                <a:srgbClr val="FF0000"/>
              </a:solidFill>
              <a:latin typeface="+mj-lt"/>
              <a:sym typeface="Symbol" panose="05050102010706020507" pitchFamily="18" charset="2"/>
            </a:endParaRPr>
          </a:p>
          <a:p>
            <a:pPr lvl="3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Antes de usar 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stemmer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RSLP no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Colab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é sempre preciso fazer o download do módulo... 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dirty="0">
                <a:latin typeface="+mj-lt"/>
                <a:sym typeface="Symbol" panose="05050102010706020507" pitchFamily="18" charset="2"/>
              </a:rPr>
              <a:t>... mas no </a:t>
            </a:r>
            <a:r>
              <a:rPr lang="pt-BR" sz="2000" dirty="0" err="1">
                <a:latin typeface="+mj-lt"/>
                <a:sym typeface="Symbol" panose="05050102010706020507" pitchFamily="18" charset="2"/>
              </a:rPr>
              <a:t>python</a:t>
            </a:r>
            <a:r>
              <a:rPr lang="pt-BR" sz="2000" dirty="0">
                <a:latin typeface="+mj-lt"/>
                <a:sym typeface="Symbol" panose="05050102010706020507" pitchFamily="18" charset="2"/>
              </a:rPr>
              <a:t> da sua máquina, só no momento da instalação da NLTK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CC8A96-07E3-F19D-7979-EE0AE3F09A0F}"/>
              </a:ext>
            </a:extLst>
          </p:cNvPr>
          <p:cNvSpPr txBox="1"/>
          <p:nvPr/>
        </p:nvSpPr>
        <p:spPr>
          <a:xfrm>
            <a:off x="1263808" y="5219997"/>
            <a:ext cx="8496944" cy="7335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endParaRPr lang="pt-BR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nltk.download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20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rslp</a:t>
            </a:r>
            <a:r>
              <a:rPr lang="pt-BR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pt-BR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575"/>
              </a:lnSpc>
            </a:pPr>
            <a:endParaRPr lang="pt-BR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7092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D80FD-2E49-1CE8-94ED-996D9A7F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6F3FE252-6170-4B28-DA60-51914EB0C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NLTK – Normalização – </a:t>
            </a:r>
            <a:r>
              <a:rPr lang="pt-BR" altLang="pt-BR" dirty="0" err="1"/>
              <a:t>Stemming</a:t>
            </a:r>
            <a:r>
              <a:rPr lang="pt-BR" altLang="pt-BR" dirty="0"/>
              <a:t> (10/10)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A7BA20C1-C7C4-8A0F-F115-D51E8137B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8929240" cy="432048"/>
          </a:xfrm>
        </p:spPr>
        <p:txBody>
          <a:bodyPr/>
          <a:lstStyle/>
          <a:p>
            <a:pPr lvl="1" eaLnBrk="1">
              <a:buFont typeface="Arial" panose="020B0604020202020204" pitchFamily="34" charset="0"/>
              <a:buChar char="•"/>
              <a:defRPr/>
            </a:pPr>
            <a:r>
              <a:rPr lang="pt-BR" sz="2000" b="1" dirty="0">
                <a:latin typeface="+mj-lt"/>
                <a:sym typeface="Symbol" panose="05050102010706020507" pitchFamily="18" charset="2"/>
              </a:rPr>
              <a:t>Exemplo:</a:t>
            </a:r>
          </a:p>
          <a:p>
            <a:pPr lvl="1" eaLnBrk="1">
              <a:buFont typeface="Arial" panose="020B0604020202020204" pitchFamily="34" charset="0"/>
              <a:buChar char="•"/>
              <a:defRPr/>
            </a:pPr>
            <a:endParaRPr lang="pt-BR" sz="2000" dirty="0">
              <a:latin typeface="+mj-lt"/>
              <a:sym typeface="Symbol" panose="05050102010706020507" pitchFamily="18" charset="2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8C18ED-2686-5BD6-CEF1-77CC7ACA0F99}"/>
              </a:ext>
            </a:extLst>
          </p:cNvPr>
          <p:cNvSpPr txBox="1"/>
          <p:nvPr/>
        </p:nvSpPr>
        <p:spPr>
          <a:xfrm>
            <a:off x="1078856" y="1403573"/>
            <a:ext cx="8496944" cy="2580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Exemplo: uso do </a:t>
            </a:r>
            <a:r>
              <a:rPr lang="pt-BR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stemmer</a:t>
            </a: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RSLP da NLTK </a:t>
            </a:r>
          </a:p>
          <a:p>
            <a:pPr>
              <a:lnSpc>
                <a:spcPts val="1575"/>
              </a:lnSpc>
            </a:pPr>
            <a:r>
              <a:rPr lang="pt-BR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(veja que ocorrerá </a:t>
            </a:r>
            <a:r>
              <a:rPr lang="pt-BR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understemming</a:t>
            </a:r>
            <a:r>
              <a:rPr lang="pt-BR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r>
              <a:rPr lang="pt-BR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nltk.stem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0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RSLPStemmer</a:t>
            </a:r>
            <a:endParaRPr lang="pt-BR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b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lst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'acidentada'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'acidentado'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'acidentados'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'acidentais'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'acidentalmente'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'acidente'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'acidentes'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ts val="1575"/>
              </a:lnSpc>
            </a:pPr>
            <a:b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stemmer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nltk.RSLPStemmer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palavra </a:t>
            </a:r>
            <a:r>
              <a:rPr lang="pt-BR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lst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575"/>
              </a:lnSpc>
            </a:pP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pt-BR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(palavra, </a:t>
            </a:r>
            <a:r>
              <a:rPr lang="pt-BR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'---&gt;'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pt-BR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stemmer.stem</a:t>
            </a:r>
            <a:r>
              <a:rPr lang="pt-BR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(palavra))</a:t>
            </a:r>
            <a:endParaRPr lang="pt-BR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575"/>
              </a:lnSpc>
            </a:pPr>
            <a:endParaRPr lang="pt-BR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C372E30-9B0D-4EF3-5125-76D81173EEF7}"/>
              </a:ext>
            </a:extLst>
          </p:cNvPr>
          <p:cNvSpPr txBox="1"/>
          <p:nvPr/>
        </p:nvSpPr>
        <p:spPr>
          <a:xfrm>
            <a:off x="948332" y="4415790"/>
            <a:ext cx="88571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acidentada ---&gt; </a:t>
            </a:r>
            <a:r>
              <a:rPr lang="pt-BR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acidentado ---&gt; </a:t>
            </a:r>
            <a:r>
              <a:rPr lang="pt-BR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acidentados ---&gt; </a:t>
            </a:r>
            <a:r>
              <a:rPr lang="pt-BR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acidentais ---&gt; </a:t>
            </a:r>
            <a:r>
              <a:rPr lang="pt-BR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acidentalmente ---&gt; </a:t>
            </a:r>
            <a:r>
              <a:rPr lang="pt-BR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acidente ---&gt; </a:t>
            </a:r>
            <a:r>
              <a:rPr lang="pt-BR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</a:t>
            </a:r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pt-BR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acidentes ---&gt; </a:t>
            </a:r>
            <a:r>
              <a:rPr lang="pt-BR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acid</a:t>
            </a:r>
            <a:endParaRPr lang="pt-BR" b="0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618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C4AAC56-8796-AF9F-8FA0-CBDA11F24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A Nossa Tabela de Técnicas !!!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37E3FAB-CBF4-46FB-56D1-B4DFB5A3A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1152526"/>
            <a:ext cx="9073256" cy="395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522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Tabela: propriedades das técnicas apresentadas em nosso curso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BFE264F-FB40-254F-0ED7-43B902609C83}"/>
              </a:ext>
            </a:extLst>
          </p:cNvPr>
          <p:cNvSpPr txBox="1"/>
          <p:nvPr/>
        </p:nvSpPr>
        <p:spPr>
          <a:xfrm>
            <a:off x="89631" y="6300117"/>
            <a:ext cx="99013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eaLnBrk="1">
              <a:defRPr/>
            </a:pPr>
            <a:r>
              <a:rPr lang="pt-BR" sz="1400" dirty="0">
                <a:latin typeface="+mj-lt"/>
                <a:sym typeface="Symbol" panose="05050102010706020507" pitchFamily="18" charset="2"/>
              </a:rPr>
              <a:t>* A </a:t>
            </a:r>
            <a:r>
              <a:rPr lang="pt-BR" sz="1400" dirty="0" err="1">
                <a:latin typeface="+mj-lt"/>
                <a:sym typeface="Symbol" panose="05050102010706020507" pitchFamily="18" charset="2"/>
              </a:rPr>
              <a:t>BoW</a:t>
            </a:r>
            <a:r>
              <a:rPr lang="pt-BR" sz="1400" dirty="0">
                <a:latin typeface="+mj-lt"/>
                <a:sym typeface="Symbol" panose="05050102010706020507" pitchFamily="18" charset="2"/>
              </a:rPr>
              <a:t> para um documento é gerada de acordo com uma regra pré-definida e não depende dos demais documentos da mesma base.</a:t>
            </a:r>
            <a:br>
              <a:rPr lang="pt-BR" sz="1400" dirty="0">
                <a:latin typeface="+mj-lt"/>
                <a:sym typeface="Symbol" panose="05050102010706020507" pitchFamily="18" charset="2"/>
              </a:rPr>
            </a:br>
            <a:endParaRPr lang="pt-BR" sz="1400" dirty="0">
              <a:latin typeface="+mj-lt"/>
              <a:sym typeface="Symbol" panose="05050102010706020507" pitchFamily="18" charset="2"/>
            </a:endParaRPr>
          </a:p>
          <a:p>
            <a:pPr marL="457200" lvl="1" indent="0" eaLnBrk="1">
              <a:defRPr/>
            </a:pPr>
            <a:r>
              <a:rPr lang="pt-BR" sz="1400" dirty="0">
                <a:latin typeface="+mj-lt"/>
                <a:sym typeface="Symbol" panose="05050102010706020507" pitchFamily="18" charset="2"/>
              </a:rPr>
              <a:t>** Depende das </a:t>
            </a:r>
            <a:r>
              <a:rPr lang="pt-BR" sz="1400" i="1" dirty="0">
                <a:latin typeface="+mj-lt"/>
                <a:sym typeface="Symbol" panose="05050102010706020507" pitchFamily="18" charset="2"/>
              </a:rPr>
              <a:t>features</a:t>
            </a:r>
            <a:r>
              <a:rPr lang="pt-BR" sz="1400" dirty="0">
                <a:latin typeface="+mj-lt"/>
                <a:sym typeface="Symbol" panose="05050102010706020507" pitchFamily="18" charset="2"/>
              </a:rPr>
              <a:t> utilizadas. 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27684D1-64CF-484D-7F82-313AC1E78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286381"/>
              </p:ext>
            </p:extLst>
          </p:nvPr>
        </p:nvGraphicFramePr>
        <p:xfrm>
          <a:off x="626015" y="1801549"/>
          <a:ext cx="9166825" cy="2534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0130">
                  <a:extLst>
                    <a:ext uri="{9D8B030D-6E8A-4147-A177-3AD203B41FA5}">
                      <a16:colId xmlns:a16="http://schemas.microsoft.com/office/drawing/2014/main" val="3823026223"/>
                    </a:ext>
                  </a:extLst>
                </a:gridCol>
                <a:gridCol w="4048383">
                  <a:extLst>
                    <a:ext uri="{9D8B030D-6E8A-4147-A177-3AD203B41FA5}">
                      <a16:colId xmlns:a16="http://schemas.microsoft.com/office/drawing/2014/main" val="48263045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04342721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913543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Técnica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Principais Aplicações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Dimensão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tx1"/>
                          </a:solidFill>
                        </a:rPr>
                        <a:t>Paradigma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480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-Gramas de Caracteres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400" i="1" dirty="0"/>
                        <a:t>features</a:t>
                      </a:r>
                      <a:r>
                        <a:rPr lang="pt-BR" sz="1400" i="0" dirty="0"/>
                        <a:t> para modelos de </a:t>
                      </a:r>
                      <a:r>
                        <a:rPr lang="pt-BR" sz="1400" dirty="0" err="1"/>
                        <a:t>identif</a:t>
                      </a:r>
                      <a:r>
                        <a:rPr lang="pt-BR" sz="1400" dirty="0"/>
                        <a:t>. de plágio, detecção de idioma, atribuição de autor etc.; comparação de strings.</a:t>
                      </a:r>
                      <a:endParaRPr lang="pt-BR" sz="140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Morfológica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Simbólico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86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Bag </a:t>
                      </a:r>
                      <a:r>
                        <a:rPr lang="pt-BR" sz="1400" b="1" dirty="0" err="1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 Words (</a:t>
                      </a:r>
                      <a:r>
                        <a:rPr lang="pt-BR" sz="1400" b="1" dirty="0" err="1">
                          <a:solidFill>
                            <a:schemeClr val="tx1"/>
                          </a:solidFill>
                        </a:rPr>
                        <a:t>BoW</a:t>
                      </a:r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400" i="1" dirty="0"/>
                        <a:t>features</a:t>
                      </a:r>
                      <a:r>
                        <a:rPr lang="pt-BR" sz="1400" dirty="0"/>
                        <a:t> para </a:t>
                      </a:r>
                      <a:r>
                        <a:rPr lang="pt-BR" sz="1400" dirty="0" err="1"/>
                        <a:t>Naive</a:t>
                      </a:r>
                      <a:r>
                        <a:rPr lang="pt-BR" sz="1400" dirty="0"/>
                        <a:t> </a:t>
                      </a:r>
                      <a:r>
                        <a:rPr lang="pt-BR" sz="1400" dirty="0" err="1"/>
                        <a:t>Bayes</a:t>
                      </a:r>
                      <a:r>
                        <a:rPr lang="pt-BR" sz="1400" dirty="0"/>
                        <a:t> e outros algoritmos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Morfológica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Simbólico*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92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Naïve Bayes </a:t>
                      </a:r>
                      <a:r>
                        <a:rPr lang="pt-BR" sz="1400" b="1" dirty="0" err="1">
                          <a:solidFill>
                            <a:schemeClr val="tx1"/>
                          </a:solidFill>
                        </a:rPr>
                        <a:t>Multinomial</a:t>
                      </a:r>
                      <a:endParaRPr lang="pt-B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400" dirty="0"/>
                        <a:t>análise de sentimentos, classificação </a:t>
                      </a:r>
                      <a:r>
                        <a:rPr lang="pt-BR" sz="1400"/>
                        <a:t>de texto</a:t>
                      </a:r>
                      <a:endParaRPr lang="pt-B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Morfológica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Estatístico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896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Perceptron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400" dirty="0"/>
                        <a:t>classificação binária de texto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Fonética a</a:t>
                      </a:r>
                      <a:br>
                        <a:rPr lang="pt-BR" sz="1400" dirty="0"/>
                      </a:br>
                      <a:r>
                        <a:rPr lang="pt-BR" sz="1400" dirty="0"/>
                        <a:t>Semântica**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Estatístico,  Neural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29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400" b="1" dirty="0" err="1">
                          <a:solidFill>
                            <a:schemeClr val="tx1"/>
                          </a:solidFill>
                        </a:rPr>
                        <a:t>StemBR</a:t>
                      </a:r>
                      <a:r>
                        <a:rPr lang="pt-BR" sz="1400" b="1" dirty="0">
                          <a:solidFill>
                            <a:schemeClr val="tx1"/>
                          </a:solidFill>
                        </a:rPr>
                        <a:t>, RSLP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pt-BR" sz="1400" dirty="0" err="1"/>
                        <a:t>stemming</a:t>
                      </a:r>
                      <a:endParaRPr lang="pt-B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Morfológica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Simbólico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545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3322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E2AC8F1-8320-4AB0-9C98-D7646A428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360363"/>
            <a:ext cx="8712200" cy="611187"/>
          </a:xfrm>
        </p:spPr>
        <p:txBody>
          <a:bodyPr tIns="28224"/>
          <a:lstStyle/>
          <a:p>
            <a:pPr eaLnBrk="1"/>
            <a:r>
              <a:rPr lang="pt-BR" altLang="pt-BR" dirty="0"/>
              <a:t>Referências</a:t>
            </a: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4C9A9031-9073-4A7B-8047-2D982417E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3600" y="971525"/>
            <a:ext cx="9073256" cy="6552728"/>
          </a:xfrm>
        </p:spPr>
        <p:txBody>
          <a:bodyPr/>
          <a:lstStyle/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chemeClr val="tx1"/>
                </a:solidFill>
              </a:rPr>
              <a:t>ALVARES, R. V.; GARCIA, A. C. B.; FERRAZ, I. N.. STEMBR: a </a:t>
            </a:r>
            <a:r>
              <a:rPr lang="pt-BR" sz="1600" dirty="0" err="1">
                <a:solidFill>
                  <a:schemeClr val="tx1"/>
                </a:solidFill>
              </a:rPr>
              <a:t>stemming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 err="1">
                <a:solidFill>
                  <a:schemeClr val="tx1"/>
                </a:solidFill>
              </a:rPr>
              <a:t>algorithm</a:t>
            </a:r>
            <a:r>
              <a:rPr lang="pt-BR" sz="1600" dirty="0">
                <a:solidFill>
                  <a:schemeClr val="tx1"/>
                </a:solidFill>
              </a:rPr>
              <a:t> for </a:t>
            </a:r>
            <a:r>
              <a:rPr lang="pt-BR" sz="1600" dirty="0" err="1">
                <a:solidFill>
                  <a:schemeClr val="tx1"/>
                </a:solidFill>
              </a:rPr>
              <a:t>the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 err="1">
                <a:solidFill>
                  <a:schemeClr val="tx1"/>
                </a:solidFill>
              </a:rPr>
              <a:t>brazilian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 err="1">
                <a:solidFill>
                  <a:schemeClr val="tx1"/>
                </a:solidFill>
              </a:rPr>
              <a:t>portuguese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 err="1">
                <a:solidFill>
                  <a:schemeClr val="tx1"/>
                </a:solidFill>
              </a:rPr>
              <a:t>language</a:t>
            </a:r>
            <a:r>
              <a:rPr lang="pt-BR" sz="1600" dirty="0">
                <a:solidFill>
                  <a:schemeClr val="tx1"/>
                </a:solidFill>
              </a:rPr>
              <a:t>. </a:t>
            </a:r>
            <a:r>
              <a:rPr lang="pt-BR" sz="1600" i="1" dirty="0">
                <a:solidFill>
                  <a:schemeClr val="tx1"/>
                </a:solidFill>
              </a:rPr>
              <a:t>In</a:t>
            </a:r>
            <a:r>
              <a:rPr lang="pt-BR" sz="1600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Portuguese Conf. on Artificial Intelligence</a:t>
            </a:r>
            <a:r>
              <a:rPr lang="pt-BR" sz="1600" dirty="0">
                <a:solidFill>
                  <a:schemeClr val="tx1"/>
                </a:solidFill>
              </a:rPr>
              <a:t>, 12., 2005, </a:t>
            </a:r>
            <a:r>
              <a:rPr lang="pt-BR" sz="1600" dirty="0" err="1">
                <a:solidFill>
                  <a:schemeClr val="tx1"/>
                </a:solidFill>
              </a:rPr>
              <a:t>Covilha</a:t>
            </a:r>
            <a:r>
              <a:rPr lang="pt-BR" sz="1600" dirty="0">
                <a:solidFill>
                  <a:schemeClr val="tx1"/>
                </a:solidFill>
              </a:rPr>
              <a:t>. </a:t>
            </a:r>
            <a:r>
              <a:rPr lang="pt-BR" sz="1600" b="1" dirty="0">
                <a:solidFill>
                  <a:schemeClr val="tx1"/>
                </a:solidFill>
              </a:rPr>
              <a:t>Anais</a:t>
            </a:r>
            <a:r>
              <a:rPr lang="pt-BR" sz="1600" dirty="0">
                <a:solidFill>
                  <a:schemeClr val="tx1"/>
                </a:solidFill>
              </a:rPr>
              <a:t> [...] Heidelberg : Springer Berlin, 2005. p. 693 - 701. </a:t>
            </a:r>
            <a:endParaRPr lang="en-US" sz="1600" dirty="0">
              <a:solidFill>
                <a:schemeClr val="tx1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chemeClr val="tx1"/>
                </a:solidFill>
              </a:rPr>
              <a:t>FINATTO, M. J. B. et al. Sequência de Caracteres e Palavras.</a:t>
            </a:r>
            <a:r>
              <a:rPr lang="pt-BR" sz="1600" dirty="0"/>
              <a:t> In: CASELI, H. M.; NUNES, M. G. V. (org.). </a:t>
            </a:r>
            <a:r>
              <a:rPr lang="pt-BR" sz="1600" b="1" dirty="0"/>
              <a:t>Processamento de Linguagem Natural: Conceitos, Técnicas e Aplicações em Português</a:t>
            </a:r>
            <a:r>
              <a:rPr lang="pt-BR" sz="1600" dirty="0"/>
              <a:t>. 3. ed. [</a:t>
            </a:r>
            <a:r>
              <a:rPr lang="pt-BR" sz="1600" dirty="0" err="1"/>
              <a:t>s.l</a:t>
            </a:r>
            <a:r>
              <a:rPr lang="pt-BR" sz="1600" dirty="0"/>
              <a:t>.] : BPLN, 2024. Disponível em: </a:t>
            </a:r>
            <a:r>
              <a:rPr lang="pt-BR" sz="16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https://brasileiraspln.com/livro-</a:t>
            </a:r>
            <a:r>
              <a:rPr lang="pt-BR" sz="1600" dirty="0" err="1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pln</a:t>
            </a:r>
            <a:r>
              <a:rPr lang="pt-BR" sz="16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/3a-edicao/parte-palavras/cap-caracteres-palavras/cap-caracteres-palavras.html</a:t>
            </a:r>
            <a:r>
              <a:rPr lang="pt-BR" sz="1600" dirty="0"/>
              <a:t>. Acesso em: 11 jan. 2025.</a:t>
            </a: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chemeClr val="tx1"/>
                </a:solidFill>
              </a:rPr>
              <a:t>FREITAS, C. </a:t>
            </a:r>
            <a:r>
              <a:rPr lang="pt-BR" sz="1600" dirty="0" err="1">
                <a:solidFill>
                  <a:schemeClr val="tx1"/>
                </a:solidFill>
              </a:rPr>
              <a:t>Dataset</a:t>
            </a:r>
            <a:r>
              <a:rPr lang="pt-BR" sz="1600" dirty="0">
                <a:solidFill>
                  <a:schemeClr val="tx1"/>
                </a:solidFill>
              </a:rPr>
              <a:t> e Corpus.</a:t>
            </a:r>
            <a:r>
              <a:rPr lang="pt-BR" sz="1600" dirty="0"/>
              <a:t> In: CASELI, H. M.; NUNES, M. G. V. (org.). </a:t>
            </a:r>
            <a:r>
              <a:rPr lang="pt-BR" sz="1600" b="1" dirty="0"/>
              <a:t>Processamento de Linguagem Natural: Conceitos, Técnicas e Aplicações em Português</a:t>
            </a:r>
            <a:r>
              <a:rPr lang="pt-BR" sz="1600" dirty="0"/>
              <a:t>. 3. ed. [</a:t>
            </a:r>
            <a:r>
              <a:rPr lang="pt-BR" sz="1600" dirty="0" err="1"/>
              <a:t>s.l</a:t>
            </a:r>
            <a:r>
              <a:rPr lang="pt-BR" sz="1600" dirty="0"/>
              <a:t>.] : BPLN, 2024. Disponível em: </a:t>
            </a:r>
            <a:r>
              <a:rPr lang="pt-BR" sz="1600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https://brasileiraspln.com/livro-</a:t>
            </a:r>
            <a:r>
              <a:rPr lang="pt-BR" sz="1600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pln</a:t>
            </a:r>
            <a:r>
              <a:rPr lang="pt-BR" sz="1600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/3a-edicao/parte-dados-</a:t>
            </a:r>
            <a:r>
              <a:rPr lang="pt-BR" sz="1600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avaliacao</a:t>
            </a:r>
            <a:r>
              <a:rPr lang="pt-BR" sz="1600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/cap-</a:t>
            </a:r>
            <a:r>
              <a:rPr lang="pt-BR" sz="1600" dirty="0" err="1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</a:t>
            </a:r>
            <a:r>
              <a:rPr lang="pt-BR" sz="1600" dirty="0">
                <a:solidFill>
                  <a:srgbClr val="FF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-corpus/cap-dataset-corpus.html</a:t>
            </a:r>
            <a:r>
              <a:rPr lang="pt-BR" sz="1600" dirty="0"/>
              <a:t>. Acesso em: 27 mar. 2025.</a:t>
            </a: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JURAFSKY, D.; MARTIN, J. H. Regular Expressions, Text Normalization, Edit Distance. </a:t>
            </a:r>
            <a:r>
              <a:rPr lang="en-US" sz="1600" i="1" dirty="0"/>
              <a:t>In</a:t>
            </a:r>
            <a:r>
              <a:rPr lang="en-US" sz="1600" dirty="0"/>
              <a:t>: JURAFSKY, D.; MARTIN, J. H. </a:t>
            </a:r>
            <a:r>
              <a:rPr lang="en-US" sz="1600" b="1" dirty="0"/>
              <a:t>Speech and Language Processing</a:t>
            </a:r>
            <a:r>
              <a:rPr lang="en-US" sz="1600" dirty="0"/>
              <a:t>. 3. ed. (Jan. 6, 2026 draft). </a:t>
            </a:r>
            <a:r>
              <a:rPr lang="pt-BR" sz="1600" dirty="0"/>
              <a:t>[</a:t>
            </a:r>
            <a:r>
              <a:rPr lang="pt-BR" sz="1600" i="1" dirty="0" err="1"/>
              <a:t>s.l</a:t>
            </a:r>
            <a:r>
              <a:rPr lang="pt-BR" sz="1600" i="1" dirty="0"/>
              <a:t>.</a:t>
            </a:r>
            <a:r>
              <a:rPr lang="pt-BR" sz="1600" dirty="0"/>
              <a:t>]</a:t>
            </a:r>
            <a:r>
              <a:rPr lang="en-US" sz="1600" dirty="0"/>
              <a:t>: </a:t>
            </a:r>
            <a:r>
              <a:rPr lang="pt-BR" sz="1600" dirty="0"/>
              <a:t>[</a:t>
            </a:r>
            <a:r>
              <a:rPr lang="pt-BR" sz="1600" i="1" dirty="0"/>
              <a:t>s.n.</a:t>
            </a:r>
            <a:r>
              <a:rPr lang="pt-BR" sz="1600" dirty="0"/>
              <a:t>]</a:t>
            </a:r>
            <a:r>
              <a:rPr lang="en-US" sz="1600" dirty="0"/>
              <a:t>, 2026. cap 2, p. 1</a:t>
            </a:r>
            <a:r>
              <a:rPr lang="pt-BR" sz="1600" dirty="0">
                <a:solidFill>
                  <a:schemeClr val="tx1"/>
                </a:solidFill>
              </a:rPr>
              <a:t> – </a:t>
            </a:r>
            <a:r>
              <a:rPr lang="en-US" sz="1600" dirty="0"/>
              <a:t>25. </a:t>
            </a:r>
            <a:r>
              <a:rPr lang="en-US" sz="1600" dirty="0" err="1"/>
              <a:t>Disponível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: </a:t>
            </a:r>
            <a:r>
              <a:rPr lang="pt-BR" sz="1600" dirty="0">
                <a:solidFill>
                  <a:schemeClr val="tx1"/>
                </a:solidFill>
              </a:rPr>
              <a:t>&lt; </a:t>
            </a:r>
            <a:r>
              <a:rPr lang="en-US" sz="1600" dirty="0">
                <a:solidFill>
                  <a:srgbClr val="FF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https://web.stanford.edu/~jurafsky/slp3/</a:t>
            </a:r>
            <a:r>
              <a:rPr lang="pt-BR" sz="1600" dirty="0">
                <a:solidFill>
                  <a:schemeClr val="tx1"/>
                </a:solidFill>
              </a:rPr>
              <a:t> &gt;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pt-BR" sz="1600" dirty="0">
                <a:solidFill>
                  <a:schemeClr val="tx1"/>
                </a:solidFill>
              </a:rPr>
              <a:t>Acesso em: 18 mar. 2026.</a:t>
            </a:r>
            <a:endParaRPr lang="en-US" sz="1600" dirty="0">
              <a:solidFill>
                <a:schemeClr val="tx1"/>
              </a:solidFill>
            </a:endParaRP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ORENGO, V.; HUYCK, C. A Stemming </a:t>
            </a:r>
            <a:r>
              <a:rPr lang="en-US" sz="1600" dirty="0" err="1"/>
              <a:t>algorithmm</a:t>
            </a:r>
            <a:r>
              <a:rPr lang="en-US" sz="1600" dirty="0"/>
              <a:t> for the </a:t>
            </a:r>
            <a:r>
              <a:rPr lang="en-US" sz="1600" dirty="0" err="1"/>
              <a:t>portuguese</a:t>
            </a:r>
            <a:r>
              <a:rPr lang="en-US" sz="1600" dirty="0"/>
              <a:t> language", </a:t>
            </a:r>
            <a:r>
              <a:rPr lang="pt-BR" sz="1600" i="1" dirty="0">
                <a:solidFill>
                  <a:schemeClr val="tx1"/>
                </a:solidFill>
              </a:rPr>
              <a:t>In</a:t>
            </a:r>
            <a:r>
              <a:rPr lang="pt-BR" sz="1600" dirty="0">
                <a:solidFill>
                  <a:schemeClr val="tx1"/>
                </a:solidFill>
              </a:rPr>
              <a:t>: </a:t>
            </a:r>
            <a:r>
              <a:rPr lang="en-US" sz="1600" dirty="0"/>
              <a:t>String Processing and Information Retrieval, International Symposium, 2001, Laguna de San Rafael. </a:t>
            </a:r>
            <a:r>
              <a:rPr lang="pt-BR" sz="1600" b="1" dirty="0">
                <a:solidFill>
                  <a:schemeClr val="tx1"/>
                </a:solidFill>
              </a:rPr>
              <a:t>Anais</a:t>
            </a:r>
            <a:r>
              <a:rPr lang="pt-BR" sz="1600" dirty="0">
                <a:solidFill>
                  <a:schemeClr val="tx1"/>
                </a:solidFill>
              </a:rPr>
              <a:t> [...] [</a:t>
            </a:r>
            <a:r>
              <a:rPr lang="pt-BR" sz="1600" i="1" dirty="0" err="1">
                <a:solidFill>
                  <a:schemeClr val="tx1"/>
                </a:solidFill>
              </a:rPr>
              <a:t>s.l</a:t>
            </a:r>
            <a:r>
              <a:rPr lang="pt-BR" sz="1600" i="1" dirty="0">
                <a:solidFill>
                  <a:schemeClr val="tx1"/>
                </a:solidFill>
              </a:rPr>
              <a:t>.</a:t>
            </a:r>
            <a:r>
              <a:rPr lang="pt-BR" sz="1600" dirty="0">
                <a:solidFill>
                  <a:schemeClr val="tx1"/>
                </a:solidFill>
              </a:rPr>
              <a:t>] : IEEE, 2001. p. 186 - 193. </a:t>
            </a:r>
          </a:p>
          <a:p>
            <a:pPr eaLnBrk="1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PARDO, T. A. S.; SANTOS, R. L. S.; SOUSA, R. F. </a:t>
            </a:r>
            <a:r>
              <a:rPr lang="pt-BR" sz="1600" dirty="0"/>
              <a:t>Python para Processamento de Linguagem Natural: Edição Comemorativa dos 50 anos do ICMC. </a:t>
            </a:r>
            <a:r>
              <a:rPr lang="en-US" sz="1600" b="1" dirty="0"/>
              <a:t>ICMC-USP</a:t>
            </a:r>
            <a:r>
              <a:rPr lang="en-US" sz="1600" dirty="0"/>
              <a:t>. São Carlos, 01 set 2021. </a:t>
            </a:r>
            <a:r>
              <a:rPr lang="en-US" sz="1600" dirty="0" err="1"/>
              <a:t>Disponível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FF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https://cursosextensao.usp.br/course/view.php?id=2721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en-US" sz="1600" dirty="0" err="1">
                <a:solidFill>
                  <a:schemeClr val="tx1"/>
                </a:solidFill>
              </a:rPr>
              <a:t>Acesso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em</a:t>
            </a:r>
            <a:r>
              <a:rPr lang="en-US" sz="1600" dirty="0">
                <a:solidFill>
                  <a:schemeClr val="tx1"/>
                </a:solidFill>
              </a:rPr>
              <a:t>: 05 </a:t>
            </a:r>
            <a:r>
              <a:rPr lang="en-US" sz="1600" dirty="0" err="1">
                <a:solidFill>
                  <a:schemeClr val="tx1"/>
                </a:solidFill>
              </a:rPr>
              <a:t>jan.</a:t>
            </a:r>
            <a:r>
              <a:rPr lang="en-US" sz="1600" dirty="0">
                <a:solidFill>
                  <a:schemeClr val="tx1"/>
                </a:solidFill>
              </a:rPr>
              <a:t> 2024.</a:t>
            </a:r>
            <a:r>
              <a:rPr lang="en-US" sz="1800" dirty="0">
                <a:solidFill>
                  <a:schemeClr val="tx1"/>
                </a:solidFill>
              </a:rPr>
              <a:t>	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3815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pt-BR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9395</TotalTime>
  <Words>7108</Words>
  <Application>Microsoft Office PowerPoint</Application>
  <PresentationFormat>Personalizar</PresentationFormat>
  <Paragraphs>669</Paragraphs>
  <Slides>54</Slides>
  <Notes>51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1" baseType="lpstr">
      <vt:lpstr>Arial</vt:lpstr>
      <vt:lpstr>Courier New</vt:lpstr>
      <vt:lpstr>Symbol</vt:lpstr>
      <vt:lpstr>Times New Roman</vt:lpstr>
      <vt:lpstr>Tema do Office</vt:lpstr>
      <vt:lpstr>Tema do Office</vt:lpstr>
      <vt:lpstr>Worksheet</vt:lpstr>
      <vt:lpstr>Apresentação do PowerPoint</vt:lpstr>
      <vt:lpstr>Sumário</vt:lpstr>
      <vt:lpstr>Introdução (1/3)</vt:lpstr>
      <vt:lpstr>Introdução (2/3)</vt:lpstr>
      <vt:lpstr>Introdução (3/3)</vt:lpstr>
      <vt:lpstr>Link para notebooks com o exemplos da aula:</vt:lpstr>
      <vt:lpstr>Conceitos Preliminares (1/11)</vt:lpstr>
      <vt:lpstr>Conceitos Preliminares (2/11)</vt:lpstr>
      <vt:lpstr>Conceitos Preliminares (3/11)</vt:lpstr>
      <vt:lpstr>Conceitos Preliminares (4/11)</vt:lpstr>
      <vt:lpstr>Conceitos Preliminares (5/11)</vt:lpstr>
      <vt:lpstr>Conceitos Preliminares (6/11)</vt:lpstr>
      <vt:lpstr>Conceitos Preliminares (7/11)</vt:lpstr>
      <vt:lpstr>Conceitos Preliminares (8/11)</vt:lpstr>
      <vt:lpstr>Conceitos Preliminares (9/11)</vt:lpstr>
      <vt:lpstr>Conceitos Preliminares (10/11)</vt:lpstr>
      <vt:lpstr>Conceitos Preliminares (11/11)</vt:lpstr>
      <vt:lpstr>NLTK – Instalação (1/5)</vt:lpstr>
      <vt:lpstr>NLTK – Instalação (2/5)</vt:lpstr>
      <vt:lpstr>NLTK – Instalação (3/5)</vt:lpstr>
      <vt:lpstr>NLTK – Instalação (4/5)</vt:lpstr>
      <vt:lpstr>NLTK – Instalação (5/5)</vt:lpstr>
      <vt:lpstr>Pré-processamento básico com a NLTK </vt:lpstr>
      <vt:lpstr>Tokenização com a NLTK (1/7)</vt:lpstr>
      <vt:lpstr>Tokenização com a NLTK (2/7)</vt:lpstr>
      <vt:lpstr>Tokenização com a NLTK (3/7)</vt:lpstr>
      <vt:lpstr> Tokenização com a NLTK (4/7)</vt:lpstr>
      <vt:lpstr>Tokenização com a NLTK (5/7)</vt:lpstr>
      <vt:lpstr>Tokenização com a NLTK (6/7)</vt:lpstr>
      <vt:lpstr>Tokenização com a NLTK (7/7)</vt:lpstr>
      <vt:lpstr>NLTK – Frequências de Palavras (1/2)</vt:lpstr>
      <vt:lpstr>NLTK – Frequências de Palavras (2/2)</vt:lpstr>
      <vt:lpstr>NLTK – n-Gramas (1/4)</vt:lpstr>
      <vt:lpstr>NLTK – n-Gramas (2/4)</vt:lpstr>
      <vt:lpstr>NLTK – n-Gramas (3/4)</vt:lpstr>
      <vt:lpstr>NLTK – n-Gramas (4/4)</vt:lpstr>
      <vt:lpstr>NLTK – Normalização – Stop Words (1/5)</vt:lpstr>
      <vt:lpstr>NLTK – Normalização – Stop Words (2/5)</vt:lpstr>
      <vt:lpstr>NLTK – Normalização – Stop Words (3/5)</vt:lpstr>
      <vt:lpstr>NLTK – Normalização – Stop Words (4/5)</vt:lpstr>
      <vt:lpstr>NLTK – Normalização – Stop Words (5/5)</vt:lpstr>
      <vt:lpstr>NLTK – Normalização – Lematização</vt:lpstr>
      <vt:lpstr>NLTK – Normalização – Stemming (1/10)</vt:lpstr>
      <vt:lpstr>NLTK – Normalização – Stemming (2/10)</vt:lpstr>
      <vt:lpstr>NLTK – Normalização – Stemming (3/10)</vt:lpstr>
      <vt:lpstr>NLTK – Normalização – Stemming (4/10)</vt:lpstr>
      <vt:lpstr>NLTK – Normalização – Stemming (5/10)</vt:lpstr>
      <vt:lpstr>NLTK – Normalização – Stemming (6/10)</vt:lpstr>
      <vt:lpstr>NLTK – Normalização – Stemming (7/10)</vt:lpstr>
      <vt:lpstr>NLTK – Normalização – Stemming (8/10)</vt:lpstr>
      <vt:lpstr>NLTK – Normalização – Stemming (9/10)</vt:lpstr>
      <vt:lpstr>NLTK – Normalização – Stemming (10/10)</vt:lpstr>
      <vt:lpstr>A Nossa Tabela de Técnicas !!!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PLN</dc:title>
  <dc:subject/>
  <dc:creator/>
  <cp:keywords/>
  <dc:description/>
  <cp:lastModifiedBy>Eduardo Correa Goncalves</cp:lastModifiedBy>
  <cp:revision>728</cp:revision>
  <cp:lastPrinted>1601-01-01T00:00:00Z</cp:lastPrinted>
  <dcterms:created xsi:type="dcterms:W3CDTF">2017-05-04T17:21:05Z</dcterms:created>
  <dcterms:modified xsi:type="dcterms:W3CDTF">2026-03-19T19:39:26Z</dcterms:modified>
</cp:coreProperties>
</file>